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notesSlides/notesSlide2.xml" ContentType="application/vnd.openxmlformats-officedocument.presentationml.notesSlid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31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2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33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notesSlides/notesSlide3.xml" ContentType="application/vnd.openxmlformats-officedocument.presentationml.notesSlide+xml"/>
  <Override PartName="/ppt/charts/chart34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charts/chart35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charts/chart36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charts/chart37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charts/chart38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charts/chart39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charts/chart40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charts/chart41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charts/chart42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charts/chart43.xml" ContentType="application/vnd.openxmlformats-officedocument.drawingml.chart+xml"/>
  <Override PartName="/ppt/charts/style43.xml" ContentType="application/vnd.ms-office.chartstyle+xml"/>
  <Override PartName="/ppt/charts/colors43.xml" ContentType="application/vnd.ms-office.chartcolorstyle+xml"/>
  <Override PartName="/ppt/notesSlides/notesSlide4.xml" ContentType="application/vnd.openxmlformats-officedocument.presentationml.notesSlide+xml"/>
  <Override PartName="/ppt/charts/chart44.xml" ContentType="application/vnd.openxmlformats-officedocument.drawingml.chart+xml"/>
  <Override PartName="/ppt/charts/style44.xml" ContentType="application/vnd.ms-office.chartstyle+xml"/>
  <Override PartName="/ppt/charts/colors44.xml" ContentType="application/vnd.ms-office.chartcolorstyle+xml"/>
  <Override PartName="/ppt/charts/chart45.xml" ContentType="application/vnd.openxmlformats-officedocument.drawingml.chart+xml"/>
  <Override PartName="/ppt/charts/style45.xml" ContentType="application/vnd.ms-office.chartstyle+xml"/>
  <Override PartName="/ppt/charts/colors45.xml" ContentType="application/vnd.ms-office.chartcolorstyle+xml"/>
  <Override PartName="/ppt/charts/chart46.xml" ContentType="application/vnd.openxmlformats-officedocument.drawingml.chart+xml"/>
  <Override PartName="/ppt/charts/style46.xml" ContentType="application/vnd.ms-office.chartstyle+xml"/>
  <Override PartName="/ppt/charts/colors46.xml" ContentType="application/vnd.ms-office.chartcolorstyle+xml"/>
  <Override PartName="/ppt/charts/chart47.xml" ContentType="application/vnd.openxmlformats-officedocument.drawingml.chart+xml"/>
  <Override PartName="/ppt/charts/style47.xml" ContentType="application/vnd.ms-office.chartstyle+xml"/>
  <Override PartName="/ppt/charts/colors47.xml" ContentType="application/vnd.ms-office.chartcolorstyle+xml"/>
  <Override PartName="/ppt/charts/chart48.xml" ContentType="application/vnd.openxmlformats-officedocument.drawingml.chart+xml"/>
  <Override PartName="/ppt/charts/style48.xml" ContentType="application/vnd.ms-office.chartstyle+xml"/>
  <Override PartName="/ppt/charts/colors48.xml" ContentType="application/vnd.ms-office.chartcolorstyle+xml"/>
  <Override PartName="/ppt/charts/chart49.xml" ContentType="application/vnd.openxmlformats-officedocument.drawingml.chart+xml"/>
  <Override PartName="/ppt/charts/style49.xml" ContentType="application/vnd.ms-office.chartstyle+xml"/>
  <Override PartName="/ppt/charts/colors49.xml" ContentType="application/vnd.ms-office.chartcolorstyle+xml"/>
  <Override PartName="/ppt/charts/chart50.xml" ContentType="application/vnd.openxmlformats-officedocument.drawingml.chart+xml"/>
  <Override PartName="/ppt/charts/style50.xml" ContentType="application/vnd.ms-office.chartstyle+xml"/>
  <Override PartName="/ppt/charts/colors5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84" r:id="rId6"/>
    <p:sldId id="268" r:id="rId7"/>
    <p:sldId id="264" r:id="rId8"/>
    <p:sldId id="266" r:id="rId9"/>
    <p:sldId id="265" r:id="rId10"/>
    <p:sldId id="269" r:id="rId11"/>
    <p:sldId id="270" r:id="rId12"/>
    <p:sldId id="280" r:id="rId13"/>
    <p:sldId id="295" r:id="rId14"/>
    <p:sldId id="271" r:id="rId15"/>
    <p:sldId id="296" r:id="rId16"/>
    <p:sldId id="279" r:id="rId17"/>
    <p:sldId id="278" r:id="rId18"/>
    <p:sldId id="272" r:id="rId19"/>
    <p:sldId id="273" r:id="rId20"/>
    <p:sldId id="274" r:id="rId21"/>
    <p:sldId id="290" r:id="rId22"/>
    <p:sldId id="291" r:id="rId23"/>
    <p:sldId id="292" r:id="rId24"/>
    <p:sldId id="293" r:id="rId25"/>
    <p:sldId id="297" r:id="rId26"/>
    <p:sldId id="288" r:id="rId27"/>
    <p:sldId id="289" r:id="rId28"/>
    <p:sldId id="282" r:id="rId29"/>
    <p:sldId id="283" r:id="rId30"/>
    <p:sldId id="287" r:id="rId31"/>
    <p:sldId id="285" r:id="rId32"/>
    <p:sldId id="281" r:id="rId33"/>
    <p:sldId id="260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535FFF"/>
    <a:srgbClr val="3E14C4"/>
    <a:srgbClr val="3366FF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557" autoAdjust="0"/>
  </p:normalViewPr>
  <p:slideViewPr>
    <p:cSldViewPr snapToGrid="0">
      <p:cViewPr varScale="1">
        <p:scale>
          <a:sx n="57" d="100"/>
          <a:sy n="57" d="100"/>
        </p:scale>
        <p:origin x="9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2025-04-20.xlsx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2025-04-20.xlsx" TargetMode="External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39.xml"/><Relationship Id="rId1" Type="http://schemas.microsoft.com/office/2011/relationships/chartStyle" Target="style39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41.xml"/><Relationship Id="rId1" Type="http://schemas.microsoft.com/office/2011/relationships/chartStyle" Target="style41.xm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42.xml"/><Relationship Id="rId1" Type="http://schemas.microsoft.com/office/2011/relationships/chartStyle" Target="style42.xml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ALabs_Internship_Retail\RFM_Gender_Analysis.xlsx" TargetMode="External"/><Relationship Id="rId2" Type="http://schemas.microsoft.com/office/2011/relationships/chartColorStyle" Target="colors43.xml"/><Relationship Id="rId1" Type="http://schemas.microsoft.com/office/2011/relationships/chartStyle" Target="style43.xml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4.xml"/><Relationship Id="rId1" Type="http://schemas.microsoft.com/office/2011/relationships/chartStyle" Target="style44.xml"/></Relationships>
</file>

<file path=ppt/charts/_rels/chart45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5.xml"/><Relationship Id="rId1" Type="http://schemas.microsoft.com/office/2011/relationships/chartStyle" Target="style45.xml"/></Relationships>
</file>

<file path=ppt/charts/_rels/chart46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6.xml"/><Relationship Id="rId1" Type="http://schemas.microsoft.com/office/2011/relationships/chartStyle" Target="style46.xml"/></Relationships>
</file>

<file path=ppt/charts/_rels/chart47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7.xml"/><Relationship Id="rId1" Type="http://schemas.microsoft.com/office/2011/relationships/chartStyle" Target="style47.xml"/></Relationships>
</file>

<file path=ppt/charts/_rels/chart48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8.xml"/><Relationship Id="rId1" Type="http://schemas.microsoft.com/office/2011/relationships/chartStyle" Target="style48.xml"/></Relationships>
</file>

<file path=ppt/charts/_rels/chart49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9.xml"/><Relationship Id="rId1" Type="http://schemas.microsoft.com/office/2011/relationships/chartStyle" Target="style49.xml"/></Relationships>
</file>

<file path=ppt/charts/_rels/chart50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50.xml"/><Relationship Id="rId1" Type="http://schemas.microsoft.com/office/2011/relationships/chartStyle" Target="style5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[RFM_Gender_Analysis.xlsx]YoY_Growth!PivotTable4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/>
              <a:t>YoY Total Profits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YoY_Growth!$H$6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0.0070 M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247394719602573"/>
                      <c:h val="0.2071638833924891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2-EF2F-4211-AD39-5EA1ED28EBE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0.9339 M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744335091867756"/>
                      <c:h val="0.2071638833924891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EF2F-4211-AD39-5EA1ED28EBE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1.241 M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EF2F-4211-AD39-5EA1ED28EBE5}"/>
                </c:ext>
              </c:extLst>
            </c:dLbl>
            <c:numFmt formatCode="0.00\ 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YoY_Growth!$G$7:$G$10</c:f>
              <c:strCach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strCache>
            </c:strRef>
          </c:cat>
          <c:val>
            <c:numRef>
              <c:f>YoY_Growth!$H$7:$H$10</c:f>
              <c:numCache>
                <c:formatCode>General</c:formatCode>
                <c:ptCount val="3"/>
                <c:pt idx="0">
                  <c:v>7000.61</c:v>
                </c:pt>
                <c:pt idx="1">
                  <c:v>933994.61</c:v>
                </c:pt>
                <c:pt idx="2">
                  <c:v>1242109.1399999999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F2F-4211-AD39-5EA1ED28EBE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60347904"/>
        <c:axId val="1160364704"/>
      </c:lineChart>
      <c:catAx>
        <c:axId val="1160347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364704"/>
        <c:crosses val="autoZero"/>
        <c:auto val="1"/>
        <c:lblAlgn val="ctr"/>
        <c:lblOffset val="100"/>
        <c:noMultiLvlLbl val="0"/>
      </c:catAx>
      <c:valAx>
        <c:axId val="11603647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347904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[RFM_Gender_Analysis.xlsx]YoY_Growth!PivotTable3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YoY Total Products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YoY_Growth!$F$6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numFmt formatCode="0.00\ 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YoY_Growth!$E$7:$E$10</c:f>
              <c:strCach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strCache>
            </c:strRef>
          </c:cat>
          <c:val>
            <c:numRef>
              <c:f>YoY_Growth!$F$7:$F$10</c:f>
              <c:numCache>
                <c:formatCode>General</c:formatCode>
                <c:ptCount val="3"/>
                <c:pt idx="0">
                  <c:v>258</c:v>
                </c:pt>
                <c:pt idx="1">
                  <c:v>16251</c:v>
                </c:pt>
                <c:pt idx="2">
                  <c:v>20078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E16-49D5-A515-28FED8DCF51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60367104"/>
        <c:axId val="1160372864"/>
      </c:lineChart>
      <c:catAx>
        <c:axId val="1160367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372864"/>
        <c:crosses val="autoZero"/>
        <c:auto val="1"/>
        <c:lblAlgn val="ctr"/>
        <c:lblOffset val="100"/>
        <c:noMultiLvlLbl val="0"/>
      </c:catAx>
      <c:valAx>
        <c:axId val="11603728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367104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[RFM_Gender_Analysis.xlsx]YoY_Growth!PivotTable2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YoY Total Orders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YoY_Growth!$D$6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numFmt formatCode="0.00\ 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YoY_Growth!$C$7:$C$10</c:f>
              <c:strCach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strCache>
            </c:strRef>
          </c:cat>
          <c:val>
            <c:numRef>
              <c:f>YoY_Growth!$D$7:$D$10</c:f>
              <c:numCache>
                <c:formatCode>General</c:formatCode>
                <c:ptCount val="3"/>
                <c:pt idx="0">
                  <c:v>301</c:v>
                </c:pt>
                <c:pt idx="1">
                  <c:v>42710</c:v>
                </c:pt>
                <c:pt idx="2">
                  <c:v>53883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1C-4627-BF01-3E22C3A673D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60358944"/>
        <c:axId val="1160357024"/>
      </c:lineChart>
      <c:catAx>
        <c:axId val="1160358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357024"/>
        <c:crosses val="autoZero"/>
        <c:auto val="1"/>
        <c:lblAlgn val="ctr"/>
        <c:lblOffset val="100"/>
        <c:noMultiLvlLbl val="0"/>
      </c:catAx>
      <c:valAx>
        <c:axId val="11603570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358944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[RFM_Gender_Analysis.xlsx]YoY_Growth!PivotTable1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YoY Total Customers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YoY_Growth!$B$6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numFmt formatCode="0.00\ 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YoY_Growth!$A$7:$A$10</c:f>
              <c:strCach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strCache>
            </c:strRef>
          </c:cat>
          <c:val>
            <c:numRef>
              <c:f>YoY_Growth!$B$7:$B$10</c:f>
              <c:numCache>
                <c:formatCode>General</c:formatCode>
                <c:ptCount val="3"/>
                <c:pt idx="0">
                  <c:v>301</c:v>
                </c:pt>
                <c:pt idx="1">
                  <c:v>42693</c:v>
                </c:pt>
                <c:pt idx="2">
                  <c:v>53830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539-4839-A4F6-AF49FA1BC4E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883335136"/>
        <c:axId val="883357216"/>
      </c:lineChart>
      <c:catAx>
        <c:axId val="883335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357216"/>
        <c:crosses val="autoZero"/>
        <c:auto val="1"/>
        <c:lblAlgn val="ctr"/>
        <c:lblOffset val="100"/>
        <c:noMultiLvlLbl val="0"/>
      </c:catAx>
      <c:valAx>
        <c:axId val="8833572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335136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[RFM_Gender_Analysis.xlsx]YoY_S2_Avgs!PivotTable6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YoY </a:t>
            </a:r>
            <a:r>
              <a:rPr lang="en-US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Total Average Transactions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YoY_S2_Avgs!$B$6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1.0003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3EC-4AFF-9193-8C9494FA4FF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1.0009</a:t>
                    </a:r>
                    <a:endParaRPr lang="en-US" dirty="0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3EC-4AFF-9193-8C9494FA4FF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YoY_S2_Avgs!$A$7:$A$10</c:f>
              <c:strCach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strCache>
            </c:strRef>
          </c:cat>
          <c:val>
            <c:numRef>
              <c:f>YoY_S2_Avgs!$B$7:$B$10</c:f>
              <c:numCache>
                <c:formatCode>0.0000</c:formatCode>
                <c:ptCount val="3"/>
                <c:pt idx="0">
                  <c:v>1</c:v>
                </c:pt>
                <c:pt idx="1">
                  <c:v>1.0003981917410001</c:v>
                </c:pt>
                <c:pt idx="2">
                  <c:v>1.000984581088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3EC-4AFF-9193-8C9494FA4FF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60381024"/>
        <c:axId val="1160381504"/>
      </c:lineChart>
      <c:catAx>
        <c:axId val="11603810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381504"/>
        <c:crosses val="autoZero"/>
        <c:auto val="1"/>
        <c:lblAlgn val="ctr"/>
        <c:lblOffset val="100"/>
        <c:noMultiLvlLbl val="0"/>
      </c:catAx>
      <c:valAx>
        <c:axId val="1160381504"/>
        <c:scaling>
          <c:orientation val="minMax"/>
        </c:scaling>
        <c:delete val="0"/>
        <c:axPos val="l"/>
        <c:numFmt formatCode="0.00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3810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[RFM_Gender_Analysis.xlsx]YoY_S2_Avgs!PivotTable7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dirty="0"/>
              <a:t>YoY </a:t>
            </a:r>
            <a:r>
              <a:rPr lang="en-US" sz="1400" b="1" dirty="0"/>
              <a:t>Average Customers Spend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YoY_S2_Avgs!$D$6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numFmt formatCode="0.00\ 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YoY_S2_Avgs!$C$7:$C$10</c:f>
              <c:strCach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strCache>
            </c:strRef>
          </c:cat>
          <c:val>
            <c:numRef>
              <c:f>YoY_S2_Avgs!$D$7:$D$10</c:f>
              <c:numCache>
                <c:formatCode>0.00</c:formatCode>
                <c:ptCount val="3"/>
                <c:pt idx="0">
                  <c:v>184.26966774814801</c:v>
                </c:pt>
                <c:pt idx="1">
                  <c:v>159.68849573789799</c:v>
                </c:pt>
                <c:pt idx="2">
                  <c:v>159.26257386553999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B4-41F1-9C3C-21345B20FC0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60337344"/>
        <c:axId val="1160331104"/>
      </c:lineChart>
      <c:catAx>
        <c:axId val="1160337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331104"/>
        <c:crosses val="autoZero"/>
        <c:auto val="1"/>
        <c:lblAlgn val="ctr"/>
        <c:lblOffset val="100"/>
        <c:noMultiLvlLbl val="0"/>
      </c:catAx>
      <c:valAx>
        <c:axId val="1160331104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337344"/>
        <c:crosses val="autoZero"/>
        <c:crossBetween val="between"/>
        <c:dispUnits>
          <c:builtInUnit val="hundre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[RFM_Gender_Analysis.xlsx]YoY_S2_Avgs!PivotTable8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dirty="0"/>
              <a:t>YoY Average Profit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YoY_S2_Avgs!$F$6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-9.8792498244320612E-2"/>
                  <c:y val="5.293544019768421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11-48E3-9C3F-E6AD8615D53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YoY_S2_Avgs!$E$7:$E$10</c:f>
              <c:strCach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strCache>
            </c:strRef>
          </c:cat>
          <c:val>
            <c:numRef>
              <c:f>YoY_S2_Avgs!$F$7:$F$10</c:f>
              <c:numCache>
                <c:formatCode>0.000</c:formatCode>
                <c:ptCount val="3"/>
                <c:pt idx="0">
                  <c:v>23.257841255128898</c:v>
                </c:pt>
                <c:pt idx="1">
                  <c:v>21.876996450106301</c:v>
                </c:pt>
                <c:pt idx="2">
                  <c:v>23.0746635503079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311-48E3-9C3F-E6AD8615D533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60325344"/>
        <c:axId val="1160342144"/>
      </c:lineChart>
      <c:catAx>
        <c:axId val="1160325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342144"/>
        <c:crosses val="autoZero"/>
        <c:auto val="1"/>
        <c:lblAlgn val="ctr"/>
        <c:lblOffset val="100"/>
        <c:noMultiLvlLbl val="0"/>
      </c:catAx>
      <c:valAx>
        <c:axId val="1160342144"/>
        <c:scaling>
          <c:orientation val="minMax"/>
        </c:scaling>
        <c:delete val="0"/>
        <c:axPos val="l"/>
        <c:numFmt formatCode="0.0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3253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[RFM_Gender_Analysis.xlsx]YoY_S2_Avgs!PivotTable9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dirty="0"/>
              <a:t>YoY </a:t>
            </a:r>
            <a:r>
              <a:rPr lang="en-US" sz="1400" b="1" dirty="0"/>
              <a:t>Average Review Per Order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YoY_S2_Avgs!$H$6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YoY_S2_Avgs!$G$7:$G$10</c:f>
              <c:strCach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strCache>
            </c:strRef>
          </c:cat>
          <c:val>
            <c:numRef>
              <c:f>YoY_S2_Avgs!$H$7:$H$10</c:f>
              <c:numCache>
                <c:formatCode>0.00</c:formatCode>
                <c:ptCount val="3"/>
                <c:pt idx="0">
                  <c:v>3.71</c:v>
                </c:pt>
                <c:pt idx="1">
                  <c:v>4.1399999999999997</c:v>
                </c:pt>
                <c:pt idx="2">
                  <c:v>4.1399999999999997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031-4B66-9A19-9C5C96851EC7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60336384"/>
        <c:axId val="1160321024"/>
      </c:lineChart>
      <c:catAx>
        <c:axId val="1160336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321024"/>
        <c:crosses val="autoZero"/>
        <c:auto val="1"/>
        <c:lblAlgn val="ctr"/>
        <c:lblOffset val="100"/>
        <c:noMultiLvlLbl val="0"/>
      </c:catAx>
      <c:valAx>
        <c:axId val="1160321024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3363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[RFM_Gender_Analysis.xlsx]Regional!PivotTable15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/>
              <a:t>Total Stores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Regional!$B$62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5251A3B0-DB17-45E6-8C7D-76CE46F54F84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baseline="0" dirty="0"/>
                      <a:t>67.6%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299E-49FE-85DC-E368941A410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30D2AF52-4C62-47B9-8F27-A9ABCEEBC12B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baseline="0" dirty="0"/>
                      <a:t>21.6%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299E-49FE-85DC-E368941A410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C60DFEF5-15B2-40E3-B5D5-FBD9E9C62B39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8.1%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299E-49FE-85DC-E368941A410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B7595166-E7A5-409A-AFFC-408F8524F56C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2.7%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299E-49FE-85DC-E368941A410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Regional!$A$63:$A$67</c:f>
              <c:strCache>
                <c:ptCount val="4"/>
                <c:pt idx="0">
                  <c:v>South</c:v>
                </c:pt>
                <c:pt idx="1">
                  <c:v>North</c:v>
                </c:pt>
                <c:pt idx="2">
                  <c:v>West</c:v>
                </c:pt>
                <c:pt idx="3">
                  <c:v>East</c:v>
                </c:pt>
              </c:strCache>
            </c:strRef>
          </c:cat>
          <c:val>
            <c:numRef>
              <c:f>Regional!$B$63:$B$67</c:f>
              <c:numCache>
                <c:formatCode>General</c:formatCode>
                <c:ptCount val="4"/>
                <c:pt idx="0">
                  <c:v>25</c:v>
                </c:pt>
                <c:pt idx="1">
                  <c:v>8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A0-4787-91A2-096E5084507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3376656"/>
        <c:axId val="1163371856"/>
      </c:barChart>
      <c:catAx>
        <c:axId val="1163376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371856"/>
        <c:crosses val="autoZero"/>
        <c:auto val="1"/>
        <c:lblAlgn val="ctr"/>
        <c:lblOffset val="100"/>
        <c:noMultiLvlLbl val="0"/>
      </c:catAx>
      <c:valAx>
        <c:axId val="11633718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376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[RFM_Gender_Analysis.xlsx]Regional!PivotTable16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 err="1"/>
              <a:t>Avg</a:t>
            </a:r>
            <a:r>
              <a:rPr lang="en-IN" b="1" dirty="0"/>
              <a:t> Customers Per Store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Regional!$D$62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4.6468877560727657E-3"/>
                  <c:y val="3.734064073011243E-2"/>
                </c:manualLayout>
              </c:layout>
              <c:tx>
                <c:rich>
                  <a:bodyPr/>
                  <a:lstStyle/>
                  <a:p>
                    <a:fld id="{C4EFA977-8356-489D-8399-25D06E9D3D54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baseline="0" dirty="0"/>
                      <a:t>36.7%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F873-4837-9C3F-64D4BFF7B18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B566598C-825C-4DB7-9CE4-881F5D9D1F8E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31.2%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F873-4837-9C3F-64D4BFF7B18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14E54DB5-444E-4948-8EF9-9AB7975C7240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baseline="0" dirty="0"/>
                      <a:t>19.1%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F873-4837-9C3F-64D4BFF7B18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9F497BDA-E429-4176-BD1A-C168A1D69D85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13.1%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F873-4837-9C3F-64D4BFF7B18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Regional!$C$63:$C$67</c:f>
              <c:strCache>
                <c:ptCount val="4"/>
                <c:pt idx="0">
                  <c:v>West</c:v>
                </c:pt>
                <c:pt idx="1">
                  <c:v>South</c:v>
                </c:pt>
                <c:pt idx="2">
                  <c:v>East</c:v>
                </c:pt>
                <c:pt idx="3">
                  <c:v>North</c:v>
                </c:pt>
              </c:strCache>
            </c:strRef>
          </c:cat>
          <c:val>
            <c:numRef>
              <c:f>Regional!$D$63:$D$67</c:f>
              <c:numCache>
                <c:formatCode>General</c:formatCode>
                <c:ptCount val="4"/>
                <c:pt idx="0">
                  <c:v>3526</c:v>
                </c:pt>
                <c:pt idx="1">
                  <c:v>2991</c:v>
                </c:pt>
                <c:pt idx="2">
                  <c:v>1829</c:v>
                </c:pt>
                <c:pt idx="3">
                  <c:v>1254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2E-4C3A-A4D7-AF7BA2D85C8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3388656"/>
        <c:axId val="1163387216"/>
      </c:barChart>
      <c:catAx>
        <c:axId val="1163388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387216"/>
        <c:crosses val="autoZero"/>
        <c:auto val="1"/>
        <c:lblAlgn val="ctr"/>
        <c:lblOffset val="100"/>
        <c:noMultiLvlLbl val="0"/>
      </c:catAx>
      <c:valAx>
        <c:axId val="11633872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388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[RFM_Gender_Analysis.xlsx]Regional!PivotTable17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Avg Orders Per Store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Regional!$F$62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3940668369062546E-2"/>
                  <c:y val="3.1117200608427001E-2"/>
                </c:manualLayout>
              </c:layout>
              <c:tx>
                <c:rich>
                  <a:bodyPr/>
                  <a:lstStyle/>
                  <a:p>
                    <a:fld id="{D9309E86-D5A3-4CA0-A510-7DEC7C985960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baseline="0" dirty="0"/>
                      <a:t>36.7%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6CD1-48A8-9A07-3FED8064C57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0227C9A-AEC6-42C3-ACB4-3FA5E89AB99F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baseline="0" dirty="0"/>
                      <a:t>31.2%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6CD1-48A8-9A07-3FED8064C57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2FA18C53-32ED-4788-9132-C7F3505A4BBD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19.1%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6CD1-48A8-9A07-3FED8064C57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F6014862-DDD0-45E9-85AF-499C14492A9B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13.1%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6CD1-48A8-9A07-3FED8064C57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Regional!$E$63:$E$67</c:f>
              <c:strCache>
                <c:ptCount val="4"/>
                <c:pt idx="0">
                  <c:v>West</c:v>
                </c:pt>
                <c:pt idx="1">
                  <c:v>South</c:v>
                </c:pt>
                <c:pt idx="2">
                  <c:v>East</c:v>
                </c:pt>
                <c:pt idx="3">
                  <c:v>North</c:v>
                </c:pt>
              </c:strCache>
            </c:strRef>
          </c:cat>
          <c:val>
            <c:numRef>
              <c:f>Regional!$F$63:$F$67</c:f>
              <c:numCache>
                <c:formatCode>General</c:formatCode>
                <c:ptCount val="4"/>
                <c:pt idx="0">
                  <c:v>3527</c:v>
                </c:pt>
                <c:pt idx="1">
                  <c:v>2994</c:v>
                </c:pt>
                <c:pt idx="2">
                  <c:v>1829</c:v>
                </c:pt>
                <c:pt idx="3">
                  <c:v>1254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26-481D-B8FD-F5B8AE89380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3398256"/>
        <c:axId val="1163406416"/>
      </c:barChart>
      <c:catAx>
        <c:axId val="1163398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406416"/>
        <c:crosses val="autoZero"/>
        <c:auto val="1"/>
        <c:lblAlgn val="ctr"/>
        <c:lblOffset val="100"/>
        <c:noMultiLvlLbl val="0"/>
      </c:catAx>
      <c:valAx>
        <c:axId val="11634064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3982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[RFM_Gender_Analysis.xlsx]Regional!PivotTable18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Avg Quantity Per Store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Regional!$H$62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4CD4E751-AE6A-441A-8A64-C5EE707D1899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baseline="0" dirty="0"/>
                      <a:t>36.9%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5260-4A05-8210-A491C235942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97BCC93D-AE1D-4E1D-ABBE-6C7F2661B280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31.4%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5260-4A05-8210-A491C235942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262867C8-90C3-446A-91F0-DA57F4768D15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baseline="0" dirty="0"/>
                      <a:t>18.7%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5260-4A05-8210-A491C235942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EC14FC6B-3C45-4FE1-9523-ABDBF7D28140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13.0%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5260-4A05-8210-A491C235942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Regional!$G$63:$G$67</c:f>
              <c:strCache>
                <c:ptCount val="4"/>
                <c:pt idx="0">
                  <c:v>West</c:v>
                </c:pt>
                <c:pt idx="1">
                  <c:v>South</c:v>
                </c:pt>
                <c:pt idx="2">
                  <c:v>East</c:v>
                </c:pt>
                <c:pt idx="3">
                  <c:v>North</c:v>
                </c:pt>
              </c:strCache>
            </c:strRef>
          </c:cat>
          <c:val>
            <c:numRef>
              <c:f>Regional!$H$63:$H$67</c:f>
              <c:numCache>
                <c:formatCode>General</c:formatCode>
                <c:ptCount val="4"/>
                <c:pt idx="0">
                  <c:v>3936</c:v>
                </c:pt>
                <c:pt idx="1">
                  <c:v>3357</c:v>
                </c:pt>
                <c:pt idx="2">
                  <c:v>1995</c:v>
                </c:pt>
                <c:pt idx="3">
                  <c:v>1386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52-4CE9-84AD-70955745A4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3388176"/>
        <c:axId val="1163396336"/>
      </c:barChart>
      <c:catAx>
        <c:axId val="1163388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396336"/>
        <c:crosses val="autoZero"/>
        <c:auto val="1"/>
        <c:lblAlgn val="ctr"/>
        <c:lblOffset val="100"/>
        <c:noMultiLvlLbl val="0"/>
      </c:catAx>
      <c:valAx>
        <c:axId val="11633963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3881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[RFM_Gender_Analysis.xlsx]Regional!PivotTable19</c:name>
    <c:fmtId val="2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Avg Profit Per Store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Regional!$J$62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196501C9-C8E6-462E-8D0D-26358EA1C6B4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baseline="0" dirty="0"/>
                      <a:t>33.6%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E3ED-48EF-A810-1136566E8E8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1FCD38D-F18C-4F9A-B466-6AE3BBB7CB7C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28.5%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E3ED-48EF-A810-1136566E8E8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3E445830-B2DC-4FEC-B9DB-3562B05F5409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24.0%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E3ED-48EF-A810-1136566E8E8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2B78B932-7F5F-4D86-B379-2F075B14ECE8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baseline="0" dirty="0"/>
                      <a:t>13.9%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E3ED-48EF-A810-1136566E8E8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Regional!$I$63:$I$67</c:f>
              <c:strCache>
                <c:ptCount val="4"/>
                <c:pt idx="0">
                  <c:v>West</c:v>
                </c:pt>
                <c:pt idx="1">
                  <c:v>South</c:v>
                </c:pt>
                <c:pt idx="2">
                  <c:v>East</c:v>
                </c:pt>
                <c:pt idx="3">
                  <c:v>North</c:v>
                </c:pt>
              </c:strCache>
            </c:strRef>
          </c:cat>
          <c:val>
            <c:numRef>
              <c:f>Regional!$J$63:$J$67</c:f>
              <c:numCache>
                <c:formatCode>0.00</c:formatCode>
                <c:ptCount val="4"/>
                <c:pt idx="0">
                  <c:v>77442.423333333296</c:v>
                </c:pt>
                <c:pt idx="1">
                  <c:v>65581.180399999997</c:v>
                </c:pt>
                <c:pt idx="2">
                  <c:v>55310.55</c:v>
                </c:pt>
                <c:pt idx="3">
                  <c:v>31992.12875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5E-4B81-A077-DDC1E1E3760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3423696"/>
        <c:axId val="1163426576"/>
      </c:barChart>
      <c:catAx>
        <c:axId val="1163423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426576"/>
        <c:crosses val="autoZero"/>
        <c:auto val="1"/>
        <c:lblAlgn val="ctr"/>
        <c:lblOffset val="100"/>
        <c:noMultiLvlLbl val="0"/>
      </c:catAx>
      <c:valAx>
        <c:axId val="1163426576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4236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[RFM_Gender_Analysis.xlsx]Regional!PivotTable10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Total No of Customers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Regional!$B$7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0371475328374154E-17"/>
                  <c:y val="5.4081574375221694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9EAC2A45-EFBC-4EC2-A23E-A72F1C03F8E0}" type="VALUE">
                      <a:rPr lang="en-US" smtClean="0"/>
                      <a:pPr>
                        <a:defRPr/>
                      </a:pPr>
                      <a:t>[VALUE]</a:t>
                    </a:fld>
                    <a:endParaRPr lang="en-US" dirty="0"/>
                  </a:p>
                  <a:p>
                    <a:pPr>
                      <a:defRPr/>
                    </a:pPr>
                    <a:r>
                      <a:rPr lang="en-US" sz="900" b="0" i="0" u="none" strike="noStrike" baseline="0" dirty="0"/>
                      <a:t>76.9%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990484763302011"/>
                      <c:h val="0.1833675005059947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3DB7-4E0B-A644-F390EC19E06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2D8AC4E-7198-4F58-98B8-A7E3143CAE54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dirty="0"/>
                      <a:t>10.9%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3DB7-4E0B-A644-F390EC19E06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4CD183A2-8C90-434E-BC01-E6061B40A5DE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dirty="0"/>
                      <a:t>10.3%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3DB7-4E0B-A644-F390EC19E06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33DEB9C2-B904-4155-80F1-A46832C74012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dirty="0"/>
                      <a:t>1.9%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3DB7-4E0B-A644-F390EC19E06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Regional!$A$8:$A$12</c:f>
              <c:strCache>
                <c:ptCount val="4"/>
                <c:pt idx="0">
                  <c:v>South</c:v>
                </c:pt>
                <c:pt idx="1">
                  <c:v>West</c:v>
                </c:pt>
                <c:pt idx="2">
                  <c:v>North</c:v>
                </c:pt>
                <c:pt idx="3">
                  <c:v>East</c:v>
                </c:pt>
              </c:strCache>
            </c:strRef>
          </c:cat>
          <c:val>
            <c:numRef>
              <c:f>Regional!$B$8:$B$12</c:f>
              <c:numCache>
                <c:formatCode>_ * #,##0_ ;_ * \-#,##0_ ;_ * "-"??_ ;_ @_ </c:formatCode>
                <c:ptCount val="4"/>
                <c:pt idx="0">
                  <c:v>74788</c:v>
                </c:pt>
                <c:pt idx="1">
                  <c:v>10580</c:v>
                </c:pt>
                <c:pt idx="2">
                  <c:v>10037</c:v>
                </c:pt>
                <c:pt idx="3">
                  <c:v>1829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EC-4C75-9C7D-34C762A67D7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0320064"/>
        <c:axId val="1160332544"/>
      </c:barChart>
      <c:catAx>
        <c:axId val="11603200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332544"/>
        <c:crosses val="autoZero"/>
        <c:auto val="1"/>
        <c:lblAlgn val="ctr"/>
        <c:lblOffset val="100"/>
        <c:noMultiLvlLbl val="0"/>
      </c:catAx>
      <c:valAx>
        <c:axId val="1160332544"/>
        <c:scaling>
          <c:orientation val="minMax"/>
        </c:scaling>
        <c:delete val="0"/>
        <c:axPos val="l"/>
        <c:numFmt formatCode="_ * #,##0_ ;_ * \-#,##0_ ;_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3200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[RFM_Gender_Analysis.xlsx]Regional!PivotTable11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Total Average Transactions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8866772095466811"/>
          <c:y val="0.24705621251380211"/>
          <c:w val="0.76160775716778806"/>
          <c:h val="0.619501439830707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Regional!$B$37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3.1812543460443231E-2"/>
                </c:manualLayout>
              </c:layout>
              <c:tx>
                <c:rich>
                  <a:bodyPr/>
                  <a:lstStyle/>
                  <a:p>
                    <a:fld id="{7A465791-7053-4CE2-A603-83C1897D4280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dirty="0"/>
                      <a:t>25.0%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F7A1-48C0-ABE8-8217DB1387F4}"/>
                </c:ext>
              </c:extLst>
            </c:dLbl>
            <c:dLbl>
              <c:idx val="1"/>
              <c:layout>
                <c:manualLayout>
                  <c:x val="0"/>
                  <c:y val="1.2725017384177292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900" b="0" i="0" u="none" strike="noStrike" kern="1200" baseline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F6944B04-B128-43DA-A1D8-2FF74A38D6BC}" type="VALUE">
                      <a:rPr lang="en-US" smtClean="0"/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900" b="0" i="0" u="none" strike="noStrike" kern="1200" baseline="0"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[VALUE]</a:t>
                    </a:fld>
                    <a:endParaRPr lang="en-US" dirty="0"/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900" b="0" i="0" u="none" strike="noStrike" kern="1200" baseline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900" b="0" i="0" u="none" strike="noStrike" kern="1200" baseline="0" dirty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</a:rPr>
                      <a:t>25.0%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900" b="0" i="0" u="none" strike="noStrike" kern="1200" baseline="0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F7A1-48C0-ABE8-8217DB1387F4}"/>
                </c:ext>
              </c:extLst>
            </c:dLbl>
            <c:dLbl>
              <c:idx val="2"/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900" b="0" i="0" u="none" strike="noStrike" kern="1200" baseline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8DFF724A-1B73-410C-A3BD-9E42648927D8}" type="VALUE">
                      <a:rPr lang="en-US" smtClean="0"/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900" b="0" i="0" u="none" strike="noStrike" kern="1200" baseline="0"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[VALUE]</a:t>
                    </a:fld>
                    <a:endParaRPr lang="en-US" dirty="0"/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900" b="0" i="0" u="none" strike="noStrike" kern="1200" baseline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900" b="0" i="0" u="none" strike="noStrike" kern="1200" baseline="0" dirty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</a:rPr>
                      <a:t>25.0%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900" b="0" i="0" u="none" strike="noStrike" kern="1200" baseline="0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F7A1-48C0-ABE8-8217DB1387F4}"/>
                </c:ext>
              </c:extLst>
            </c:dLbl>
            <c:dLbl>
              <c:idx val="3"/>
              <c:layout>
                <c:manualLayout>
                  <c:x val="0"/>
                  <c:y val="1.9087526076265939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900" b="0" i="0" u="none" strike="noStrike" kern="1200" baseline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855FF594-EF6B-4843-A77F-14F631DC4982}" type="VALUE">
                      <a:rPr lang="en-US" smtClean="0"/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900" b="0" i="0" u="none" strike="noStrike" kern="1200" baseline="0"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[VALUE]</a:t>
                    </a:fld>
                    <a:endParaRPr lang="en-US" dirty="0"/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900" b="0" i="0" u="none" strike="noStrike" kern="1200" baseline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900" b="0" i="0" u="none" strike="noStrike" kern="1200" baseline="0" dirty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</a:rPr>
                      <a:t>25.0%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900" b="0" i="0" u="none" strike="noStrike" kern="1200" baseline="0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F7A1-48C0-ABE8-8217DB1387F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Regional!$A$38:$A$42</c:f>
              <c:strCache>
                <c:ptCount val="4"/>
                <c:pt idx="0">
                  <c:v>South</c:v>
                </c:pt>
                <c:pt idx="1">
                  <c:v>West</c:v>
                </c:pt>
                <c:pt idx="2">
                  <c:v>North</c:v>
                </c:pt>
                <c:pt idx="3">
                  <c:v>East</c:v>
                </c:pt>
              </c:strCache>
            </c:strRef>
          </c:cat>
          <c:val>
            <c:numRef>
              <c:f>Regional!$B$38:$B$42</c:f>
              <c:numCache>
                <c:formatCode>0.0000</c:formatCode>
                <c:ptCount val="4"/>
                <c:pt idx="0">
                  <c:v>1.000935979034</c:v>
                </c:pt>
                <c:pt idx="1">
                  <c:v>1.0002835538749999</c:v>
                </c:pt>
                <c:pt idx="2">
                  <c:v>1.000099631363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FC-4809-8CE2-811D0EE01F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30541472"/>
        <c:axId val="530539072"/>
      </c:barChart>
      <c:catAx>
        <c:axId val="530541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0539072"/>
        <c:crosses val="autoZero"/>
        <c:auto val="1"/>
        <c:lblAlgn val="ctr"/>
        <c:lblOffset val="100"/>
        <c:noMultiLvlLbl val="0"/>
      </c:catAx>
      <c:valAx>
        <c:axId val="530539072"/>
        <c:scaling>
          <c:orientation val="minMax"/>
        </c:scaling>
        <c:delete val="0"/>
        <c:axPos val="l"/>
        <c:numFmt formatCode="0.00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0541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[RFM_Gender_Analysis.xlsx]Regional!PivotTable12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Total Average Customer Spend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Regional!$D$37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6424266A-58BA-4758-991A-A155D4225D55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baseline="0" dirty="0"/>
                      <a:t>30.8%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CD16-467C-A661-FC760B1A0D4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B9D37680-7676-442A-AB2C-5C67F23F14EF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23.7%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CD16-467C-A661-FC760B1A0D4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CF9AEDBB-4494-4B1B-A8D1-C3C4B337E9AB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23.6%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CD16-467C-A661-FC760B1A0D49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9ED6277A-4BEA-4331-A765-AD5CD3F89D05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21.8%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CD16-467C-A661-FC760B1A0D4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Regional!$C$38:$C$42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  <c:pt idx="3">
                  <c:v>East</c:v>
                </c:pt>
              </c:strCache>
            </c:strRef>
          </c:cat>
          <c:val>
            <c:numRef>
              <c:f>Regional!$D$38:$D$42</c:f>
              <c:numCache>
                <c:formatCode>0.00</c:formatCode>
                <c:ptCount val="4"/>
                <c:pt idx="0">
                  <c:v>200.65110690266999</c:v>
                </c:pt>
                <c:pt idx="1">
                  <c:v>154.390629761947</c:v>
                </c:pt>
                <c:pt idx="2">
                  <c:v>153.687985895823</c:v>
                </c:pt>
                <c:pt idx="3">
                  <c:v>141.951886449368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28-4B90-969C-4CF9E051E23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0335904"/>
        <c:axId val="1160338784"/>
      </c:barChart>
      <c:catAx>
        <c:axId val="1160335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338784"/>
        <c:crosses val="autoZero"/>
        <c:auto val="1"/>
        <c:lblAlgn val="ctr"/>
        <c:lblOffset val="100"/>
        <c:noMultiLvlLbl val="0"/>
      </c:catAx>
      <c:valAx>
        <c:axId val="1160338784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0335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[RFM_Gender_Analysis.xlsx]Regional!PivotTable13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Total Average Profit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Regional!$F$37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8117E5B4-AFE5-4580-B93C-980FAB9AFCDB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baseline="0" dirty="0"/>
                      <a:t>30.4%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7123-491B-8B9A-2A1D42F90F8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19AA2DC1-5442-454B-B689-057B0B8F5205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25.6%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7123-491B-8B9A-2A1D42F90F8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5BA0FDBF-8E10-434C-9EA9-E7E113F513A2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22.0%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7123-491B-8B9A-2A1D42F90F8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0BBB6A4F-7B92-433F-9720-7C1C8044332C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22.0%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7123-491B-8B9A-2A1D42F90F8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Regional!$E$38:$E$42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Regional!$F$38:$F$42</c:f>
              <c:numCache>
                <c:formatCode>0.00</c:formatCode>
                <c:ptCount val="4"/>
                <c:pt idx="0">
                  <c:v>30.240869258641901</c:v>
                </c:pt>
                <c:pt idx="1">
                  <c:v>25.4993554785454</c:v>
                </c:pt>
                <c:pt idx="2">
                  <c:v>21.922360641264</c:v>
                </c:pt>
                <c:pt idx="3">
                  <c:v>21.959099255593099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07-4DFF-9611-FC330108408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30514112"/>
        <c:axId val="530534272"/>
      </c:barChart>
      <c:catAx>
        <c:axId val="530514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0534272"/>
        <c:crosses val="autoZero"/>
        <c:auto val="1"/>
        <c:lblAlgn val="ctr"/>
        <c:lblOffset val="100"/>
        <c:noMultiLvlLbl val="0"/>
      </c:catAx>
      <c:valAx>
        <c:axId val="530534272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05141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[RFM_Gender_Analysis.xlsx]Regional!PivotTable14</c:name>
    <c:fmtId val="2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Average Review Per Order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Regional!$H$37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7.7126075931532694E-3"/>
                  <c:y val="1.1616606258789632E-2"/>
                </c:manualLayout>
              </c:layout>
              <c:tx>
                <c:rich>
                  <a:bodyPr/>
                  <a:lstStyle/>
                  <a:p>
                    <a:fld id="{1D07F968-5A10-41FD-A411-1873EBD50C12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baseline="0" dirty="0"/>
                      <a:t>25.4%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BF3E-47E4-8DD2-96751AEAEB2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C53954E7-995E-44DE-9613-97D310DC03C5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baseline="0" dirty="0"/>
                      <a:t>25.2%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BF3E-47E4-8DD2-96751AEAEB2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4B164E6-8DE7-49EA-8137-A4F0543F2A03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25.0%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BF3E-47E4-8DD2-96751AEAEB2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DC7AC613-853D-4994-A25D-6A09E2144828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24.4%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BF3E-47E4-8DD2-96751AEAEB2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Regional!$G$38:$G$42</c:f>
              <c:strCache>
                <c:ptCount val="4"/>
                <c:pt idx="0">
                  <c:v>East</c:v>
                </c:pt>
                <c:pt idx="1">
                  <c:v>South</c:v>
                </c:pt>
                <c:pt idx="2">
                  <c:v>North</c:v>
                </c:pt>
                <c:pt idx="3">
                  <c:v>West</c:v>
                </c:pt>
              </c:strCache>
            </c:strRef>
          </c:cat>
          <c:val>
            <c:numRef>
              <c:f>Regional!$H$38:$H$42</c:f>
              <c:numCache>
                <c:formatCode>0.00</c:formatCode>
                <c:ptCount val="4"/>
                <c:pt idx="0">
                  <c:v>4.173318753417</c:v>
                </c:pt>
                <c:pt idx="1">
                  <c:v>4.1360442437679996</c:v>
                </c:pt>
                <c:pt idx="2">
                  <c:v>4.1091850966320003</c:v>
                </c:pt>
                <c:pt idx="3">
                  <c:v>4.0009449116500004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6C-4734-917B-5A559D9EF3E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83357696"/>
        <c:axId val="883355776"/>
      </c:barChart>
      <c:catAx>
        <c:axId val="883357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355776"/>
        <c:crosses val="autoZero"/>
        <c:auto val="1"/>
        <c:lblAlgn val="ctr"/>
        <c:lblOffset val="100"/>
        <c:noMultiLvlLbl val="0"/>
      </c:catAx>
      <c:valAx>
        <c:axId val="883355776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3576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Total</a:t>
            </a:r>
            <a:r>
              <a:rPr lang="en-US" b="1" baseline="0"/>
              <a:t> </a:t>
            </a:r>
            <a:r>
              <a:rPr lang="en-US" b="1"/>
              <a:t>Customers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Sheet2!$B$8</c:f>
              <c:strCache>
                <c:ptCount val="1"/>
                <c:pt idx="0">
                  <c:v>Total_Customer</c:v>
                </c:pt>
              </c:strCache>
            </c:strRef>
          </c:tx>
          <c:dPt>
            <c:idx val="0"/>
            <c:bubble3D val="0"/>
            <c:spPr>
              <a:solidFill>
                <a:srgbClr val="535FFF"/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8DE-4A04-A5F6-3723EDE2E76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8DE-4A04-A5F6-3723EDE2E761}"/>
              </c:ext>
            </c:extLst>
          </c:dPt>
          <c:dLbls>
            <c:dLbl>
              <c:idx val="0"/>
              <c:layout>
                <c:manualLayout>
                  <c:x val="-0.16094566531471804"/>
                  <c:y val="-0.17222161512403017"/>
                </c:manualLayout>
              </c:layout>
              <c:tx>
                <c:rich>
                  <a:bodyPr/>
                  <a:lstStyle/>
                  <a:p>
                    <a:r>
                      <a:rPr lang="en-US" sz="900" b="0" i="0" u="none" strike="noStrike" baseline="0" dirty="0">
                        <a:effectLst/>
                      </a:rPr>
                      <a:t> 76,986</a:t>
                    </a:r>
                  </a:p>
                  <a:p>
                    <a:r>
                      <a:rPr lang="en-US" sz="900" b="0" i="0" u="none" strike="noStrike" baseline="0" dirty="0"/>
                      <a:t>79.03%</a:t>
                    </a:r>
                    <a:r>
                      <a:rPr lang="en-US" sz="900" b="0" i="0" u="none" strike="noStrike" baseline="0" dirty="0">
                        <a:effectLst/>
                      </a:rPr>
                      <a:t> </a:t>
                    </a:r>
                    <a:endParaRPr lang="en-US" dirty="0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8DE-4A04-A5F6-3723EDE2E761}"/>
                </c:ext>
              </c:extLst>
            </c:dLbl>
            <c:dLbl>
              <c:idx val="1"/>
              <c:layout>
                <c:manualLayout>
                  <c:x val="9.5883188470088143E-2"/>
                  <c:y val="0.1618843391371376"/>
                </c:manualLayout>
              </c:layout>
              <c:tx>
                <c:rich>
                  <a:bodyPr/>
                  <a:lstStyle/>
                  <a:p>
                    <a:r>
                      <a:rPr lang="en-US" sz="900" b="0" i="0" u="none" strike="noStrike" baseline="0" dirty="0">
                        <a:effectLst/>
                      </a:rPr>
                      <a:t> 20,418</a:t>
                    </a:r>
                  </a:p>
                  <a:p>
                    <a:r>
                      <a:rPr lang="en-US" sz="900" b="0" i="0" u="none" strike="noStrike" baseline="0" dirty="0">
                        <a:effectLst/>
                      </a:rPr>
                      <a:t>20.97% </a:t>
                    </a:r>
                    <a:endParaRPr lang="en-US" dirty="0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8DE-4A04-A5F6-3723EDE2E76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Sheet2!$A$9:$A$10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Sheet2!$B$9:$B$10</c:f>
              <c:numCache>
                <c:formatCode>_ * #,##0_ ;_ * \-#,##0_ ;_ * "-"??_ ;_ @_ </c:formatCode>
                <c:ptCount val="2"/>
                <c:pt idx="0">
                  <c:v>77972</c:v>
                </c:pt>
                <c:pt idx="1">
                  <c:v>20735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8DE-4A04-A5F6-3723EDE2E761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Total Orders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Sheet6!$B$1</c:f>
              <c:strCache>
                <c:ptCount val="1"/>
                <c:pt idx="0">
                  <c:v>Orders</c:v>
                </c:pt>
              </c:strCache>
            </c:strRef>
          </c:tx>
          <c:spPr>
            <a:ln>
              <a:solidFill>
                <a:schemeClr val="tx1"/>
              </a:solidFill>
            </a:ln>
          </c:spPr>
          <c:dPt>
            <c:idx val="0"/>
            <c:bubble3D val="0"/>
            <c:spPr>
              <a:solidFill>
                <a:schemeClr val="accent4"/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A6D-4BF3-834F-7897FE5F376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A6D-4BF3-834F-7897FE5F3761}"/>
              </c:ext>
            </c:extLst>
          </c:dPt>
          <c:dLbls>
            <c:dLbl>
              <c:idx val="0"/>
              <c:layout>
                <c:manualLayout>
                  <c:x val="-0.10418682605685983"/>
                  <c:y val="-0.21335461389453375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900" b="0" i="0" u="none" strike="noStrike" kern="1200" baseline="0">
                        <a:solidFill>
                          <a:prstClr val="white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900" b="0" i="0" u="none" strike="noStrike" baseline="0" dirty="0">
                        <a:effectLst/>
                      </a:rPr>
                      <a:t> 76,996</a:t>
                    </a: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>
                        <a:solidFill>
                          <a:prstClr val="white"/>
                        </a:solidFill>
                      </a:defRPr>
                    </a:pPr>
                    <a:r>
                      <a:rPr lang="en-US" sz="900" b="0" i="0" u="none" strike="noStrike" kern="1200" baseline="0" dirty="0">
                        <a:solidFill>
                          <a:prstClr val="white"/>
                        </a:solidFill>
                      </a:rPr>
                      <a:t>79.03%</a:t>
                    </a:r>
                    <a:r>
                      <a:rPr lang="en-US" sz="900" b="0" i="0" u="none" strike="noStrike" kern="1200" baseline="0" dirty="0">
                        <a:solidFill>
                          <a:prstClr val="white"/>
                        </a:solidFill>
                        <a:effectLst/>
                      </a:rPr>
                      <a:t> </a:t>
                    </a:r>
                    <a:r>
                      <a:rPr lang="en-US" sz="900" b="0" i="0" u="none" strike="noStrike" baseline="0" dirty="0">
                        <a:effectLst/>
                      </a:rPr>
                      <a:t> </a:t>
                    </a:r>
                    <a:endParaRPr lang="en-US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900" b="0" i="0" u="none" strike="noStrike" kern="1200" baseline="0"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EA6D-4BF3-834F-7897FE5F3761}"/>
                </c:ext>
              </c:extLst>
            </c:dLbl>
            <c:dLbl>
              <c:idx val="1"/>
              <c:layout>
                <c:manualLayout>
                  <c:x val="0.10358280604087045"/>
                  <c:y val="0.161933342578649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900" b="0" i="0" u="none" strike="noStrike" baseline="0" dirty="0">
                        <a:effectLst/>
                      </a:rPr>
                      <a:t> 20,419</a:t>
                    </a:r>
                  </a:p>
                  <a:p>
                    <a:pPr>
                      <a:defRPr>
                        <a:solidFill>
                          <a:schemeClr val="bg1"/>
                        </a:solidFill>
                      </a:defRPr>
                    </a:pPr>
                    <a:r>
                      <a:rPr lang="en-US" sz="900" b="0" i="0" u="none" strike="noStrike" baseline="0" dirty="0">
                        <a:effectLst/>
                      </a:rPr>
                      <a:t>20.97% </a:t>
                    </a:r>
                    <a:endParaRPr lang="en-US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EA6D-4BF3-834F-7897FE5F376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Sheet6!$A$2:$A$3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Sheet6!$B$2:$B$3</c:f>
              <c:numCache>
                <c:formatCode>_ * #,##0_ ;_ * \-#,##0_ ;_ * "-"??_ ;_ @_ </c:formatCode>
                <c:ptCount val="2"/>
                <c:pt idx="0">
                  <c:v>78043</c:v>
                </c:pt>
                <c:pt idx="1">
                  <c:v>20741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A6D-4BF3-834F-7897FE5F37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[RFM_Gender_Analysis.xlsx]Weekday and weekend_Chart!PivotTable20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/>
              <a:t>Total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'Weekday and weekend_Chart'!$B$3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F76-4258-985B-9A8459234445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12 M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EF76-4258-985B-9A845923444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3 M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EF76-4258-985B-9A84592344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'Weekday and weekend_Chart'!$A$4:$A$6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'Weekday and weekend_Chart'!$B$4:$B$6</c:f>
              <c:numCache>
                <c:formatCode>_ * #,##0_ ;_ * \-#,##0_ ;_ * "-"??_ ;_ @_ </c:formatCode>
                <c:ptCount val="2"/>
                <c:pt idx="0">
                  <c:v>12242097.87734041</c:v>
                </c:pt>
                <c:pt idx="1">
                  <c:v>3204052.5923718764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76-4258-985B-9A845923444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3433296"/>
        <c:axId val="1163422256"/>
      </c:barChart>
      <c:catAx>
        <c:axId val="1163433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422256"/>
        <c:crosses val="autoZero"/>
        <c:auto val="1"/>
        <c:lblAlgn val="ctr"/>
        <c:lblOffset val="100"/>
        <c:noMultiLvlLbl val="0"/>
      </c:catAx>
      <c:valAx>
        <c:axId val="1163422256"/>
        <c:scaling>
          <c:orientation val="minMax"/>
        </c:scaling>
        <c:delete val="0"/>
        <c:axPos val="l"/>
        <c:numFmt formatCode="_ * #,##0_ ;_ * \-#,##0_ ;_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433296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[RFM_Gender_Analysis.xlsx]Weekday and weekend_Chart!PivotTable21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Total Profit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'Weekday and weekend_Chart'!$D$3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E21-48A5-AE76-AABD7DA2FCA2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1.73 M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E21-48A5-AE76-AABD7DA2FCA2}"/>
                </c:ext>
              </c:extLst>
            </c:dLbl>
            <c:dLbl>
              <c:idx val="1"/>
              <c:layout>
                <c:manualLayout>
                  <c:x val="0"/>
                  <c:y val="1.2116574806492576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0.45M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E21-48A5-AE76-AABD7DA2FCA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'Weekday and weekend_Chart'!$C$4:$C$6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'Weekday and weekend_Chart'!$D$4:$D$6</c:f>
              <c:numCache>
                <c:formatCode>_(* #,##0.00_);_(* \(#,##0.00\);_(* "-"??_);_(@_)</c:formatCode>
                <c:ptCount val="2"/>
                <c:pt idx="0">
                  <c:v>1728363.5450693064</c:v>
                </c:pt>
                <c:pt idx="1">
                  <c:v>454740.81350594381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21-48A5-AE76-AABD7DA2FCA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3457776"/>
        <c:axId val="1163442896"/>
      </c:barChart>
      <c:catAx>
        <c:axId val="1163457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442896"/>
        <c:crosses val="autoZero"/>
        <c:auto val="1"/>
        <c:lblAlgn val="ctr"/>
        <c:lblOffset val="100"/>
        <c:noMultiLvlLbl val="0"/>
      </c:catAx>
      <c:valAx>
        <c:axId val="1163442896"/>
        <c:scaling>
          <c:orientation val="minMax"/>
        </c:scaling>
        <c:delete val="0"/>
        <c:axPos val="l"/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457776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Total</a:t>
            </a:r>
            <a:r>
              <a:rPr lang="en-US" b="1" baseline="0"/>
              <a:t> </a:t>
            </a:r>
            <a:r>
              <a:rPr lang="en-US" b="1"/>
              <a:t>Transactions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Sheet2!$I$5</c:f>
              <c:strCache>
                <c:ptCount val="1"/>
                <c:pt idx="0">
                  <c:v>Total_Transactions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0" i="0" u="none" strike="noStrike" baseline="0" dirty="0">
                        <a:effectLst/>
                      </a:rPr>
                      <a:t> 76,996</a:t>
                    </a:r>
                  </a:p>
                  <a:p>
                    <a:r>
                      <a:rPr lang="en-US" sz="900" b="0" i="0" u="none" strike="noStrike" baseline="0" dirty="0"/>
                      <a:t>79.0%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095A-4F3E-8D41-99C43436825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00" b="0" i="0" u="none" strike="noStrike" baseline="0" dirty="0">
                        <a:effectLst/>
                      </a:rPr>
                      <a:t> 20,419</a:t>
                    </a:r>
                  </a:p>
                  <a:p>
                    <a:r>
                      <a:rPr lang="en-US" sz="900" b="0" i="0" u="none" strike="noStrike" baseline="0" dirty="0">
                        <a:effectLst/>
                      </a:rPr>
                      <a:t>21.0%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95A-4F3E-8D41-99C43436825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Sheet2!$H$6:$H$7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Sheet2!$I$6:$I$7</c:f>
              <c:numCache>
                <c:formatCode>_ * #,##0_ ;_ * \-#,##0_ ;_ * "-"??_ ;_ @_ </c:formatCode>
                <c:ptCount val="2"/>
                <c:pt idx="0">
                  <c:v>78043</c:v>
                </c:pt>
                <c:pt idx="1">
                  <c:v>20741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FF-4729-9436-EDE255E2D77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83761424"/>
        <c:axId val="1083743664"/>
      </c:barChart>
      <c:catAx>
        <c:axId val="1083761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3743664"/>
        <c:crosses val="autoZero"/>
        <c:auto val="1"/>
        <c:lblAlgn val="ctr"/>
        <c:lblOffset val="100"/>
        <c:noMultiLvlLbl val="0"/>
      </c:catAx>
      <c:valAx>
        <c:axId val="1083743664"/>
        <c:scaling>
          <c:orientation val="minMax"/>
        </c:scaling>
        <c:delete val="0"/>
        <c:axPos val="l"/>
        <c:numFmt formatCode="_ * #,##0_ ;_ * \-#,##0_ ;_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37614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[RFM_Gender_Analysis.xlsx]Weekday and weekend(S1)!PivotTable24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Total Average Transactions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'Weekday and weekend(S1)'!$Q$1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7775ADAA-6252-4692-87A0-136BEEEFD33F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dirty="0"/>
                      <a:t>50.00%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FFAD-489E-923D-2E47488A67EE}"/>
                </c:ext>
              </c:extLst>
            </c:dLbl>
            <c:dLbl>
              <c:idx val="1"/>
              <c:layout>
                <c:manualLayout>
                  <c:x val="2.7777777777777779E-3"/>
                  <c:y val="0"/>
                </c:manualLayout>
              </c:layout>
              <c:tx>
                <c:rich>
                  <a:bodyPr/>
                  <a:lstStyle/>
                  <a:p>
                    <a:fld id="{29D0B603-7EDA-4C9A-A81A-C657EF159BFB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kern="1200" baseline="0" dirty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</a:rPr>
                      <a:t>50.</a:t>
                    </a:r>
                    <a:r>
                      <a:rPr lang="en-US" sz="800" b="0" i="0" u="none" strike="noStrike" kern="1200" baseline="0" dirty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</a:rPr>
                      <a:t> 00</a:t>
                    </a:r>
                    <a:r>
                      <a:rPr lang="en-US" sz="900" b="0" i="0" u="none" strike="noStrike" kern="1200" baseline="0" dirty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</a:rPr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FFAD-489E-923D-2E47488A67E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'Weekday and weekend(S1)'!$P$2:$P$4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'Weekday and weekend(S1)'!$Q$2:$Q$4</c:f>
              <c:numCache>
                <c:formatCode>General</c:formatCode>
                <c:ptCount val="2"/>
                <c:pt idx="0">
                  <c:v>42.001569892052004</c:v>
                </c:pt>
                <c:pt idx="1">
                  <c:v>42.000372300819002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91-4E98-8326-DE6E35D2E53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3384336"/>
        <c:axId val="1163407856"/>
      </c:barChart>
      <c:catAx>
        <c:axId val="1163384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407856"/>
        <c:crosses val="autoZero"/>
        <c:auto val="1"/>
        <c:lblAlgn val="ctr"/>
        <c:lblOffset val="100"/>
        <c:noMultiLvlLbl val="0"/>
      </c:catAx>
      <c:valAx>
        <c:axId val="11634078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384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[RFM_Gender_Analysis.xlsx]Weekday and weekend_Channel!PivotTable26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Total Customers by Channel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'Weekday and weekend_Channel'!$B$24:$B$25</c:f>
              <c:strCache>
                <c:ptCount val="1"/>
                <c:pt idx="0">
                  <c:v>Weekday</c:v>
                </c:pt>
              </c:strCache>
            </c:strRef>
          </c:tx>
          <c:spPr>
            <a:solidFill>
              <a:schemeClr val="accent4">
                <a:shade val="76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B226A0CF-9E82-4E05-B748-908585696D63}" type="VALUE">
                      <a:rPr lang="en-US" smtClean="0"/>
                      <a:pPr/>
                      <a:t>[VALUE]</a:t>
                    </a:fld>
                    <a:r>
                      <a:rPr lang="en-US"/>
                      <a:t> 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E1E5-490A-901B-50FEF52F8A2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220562BC-CF4B-4CB9-8B0F-3205B9B54B1B}" type="VALUE">
                      <a:rPr lang="en-US" smtClean="0"/>
                      <a:pPr/>
                      <a:t>[VALUE]</a:t>
                    </a:fld>
                    <a:r>
                      <a:rPr lang="en-US"/>
                      <a:t> 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E1E5-490A-901B-50FEF52F8A2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3F50EF2E-6A7F-4927-A684-6939312F2625}" type="VALUE">
                      <a:rPr lang="en-US" smtClean="0"/>
                      <a:pPr/>
                      <a:t>[VALUE]</a:t>
                    </a:fld>
                    <a:r>
                      <a:rPr lang="en-US"/>
                      <a:t> 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E1E5-490A-901B-50FEF52F8A2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'Weekday and weekend_Channel'!$A$26:$A$29</c:f>
              <c:strCache>
                <c:ptCount val="3"/>
                <c:pt idx="0">
                  <c:v>Instore</c:v>
                </c:pt>
                <c:pt idx="1">
                  <c:v>Online</c:v>
                </c:pt>
                <c:pt idx="2">
                  <c:v>Phone Delivery</c:v>
                </c:pt>
              </c:strCache>
            </c:strRef>
          </c:cat>
          <c:val>
            <c:numRef>
              <c:f>'Weekday and weekend_Channel'!$B$26:$B$29</c:f>
              <c:numCache>
                <c:formatCode>General</c:formatCode>
                <c:ptCount val="3"/>
                <c:pt idx="0">
                  <c:v>67319</c:v>
                </c:pt>
                <c:pt idx="1">
                  <c:v>1241</c:v>
                </c:pt>
                <c:pt idx="2">
                  <c:v>8026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80-4272-88EF-F0EFB27B6A72}"/>
            </c:ext>
          </c:extLst>
        </c:ser>
        <c:ser>
          <c:idx val="1"/>
          <c:order val="1"/>
          <c:tx>
            <c:strRef>
              <c:f>'Weekday and weekend_Channel'!$C$24:$C$25</c:f>
              <c:strCache>
                <c:ptCount val="1"/>
                <c:pt idx="0">
                  <c:v>Weekend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2.7632288219996529E-2"/>
                  <c:y val="6.0153025507724694E-3"/>
                </c:manualLayout>
              </c:layout>
              <c:tx>
                <c:rich>
                  <a:bodyPr/>
                  <a:lstStyle/>
                  <a:p>
                    <a:fld id="{9E67E9BB-2795-4126-9AD9-761AE28A487A}" type="VALUE">
                      <a:rPr lang="en-US" smtClean="0"/>
                      <a:pPr/>
                      <a:t>[VALUE]</a:t>
                    </a:fld>
                    <a:r>
                      <a:rPr lang="en-US"/>
                      <a:t> 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E1E5-490A-901B-50FEF52F8A2F}"/>
                </c:ext>
              </c:extLst>
            </c:dLbl>
            <c:dLbl>
              <c:idx val="1"/>
              <c:layout>
                <c:manualLayout>
                  <c:x val="3.4540360274995532E-2"/>
                  <c:y val="-1.2030605101544939E-2"/>
                </c:manualLayout>
              </c:layout>
              <c:tx>
                <c:rich>
                  <a:bodyPr/>
                  <a:lstStyle/>
                  <a:p>
                    <a:fld id="{906535DE-5699-4CF0-A78C-B3A9B7A6D939}" type="VALUE">
                      <a:rPr lang="en-US" smtClean="0"/>
                      <a:pPr/>
                      <a:t>[VALUE]</a:t>
                    </a:fld>
                    <a:r>
                      <a:rPr lang="en-US" dirty="0"/>
                      <a:t> 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EE80-4272-88EF-F0EFB27B6A72}"/>
                </c:ext>
              </c:extLst>
            </c:dLbl>
            <c:dLbl>
              <c:idx val="2"/>
              <c:layout>
                <c:manualLayout>
                  <c:x val="2.7632288219996404E-2"/>
                  <c:y val="0"/>
                </c:manualLayout>
              </c:layout>
              <c:tx>
                <c:rich>
                  <a:bodyPr/>
                  <a:lstStyle/>
                  <a:p>
                    <a:fld id="{9D1FE3F6-C5D8-48BB-9755-4CE4F80F10F2}" type="VALUE">
                      <a:rPr lang="en-US" smtClean="0"/>
                      <a:pPr/>
                      <a:t>[VALUE]</a:t>
                    </a:fld>
                    <a:r>
                      <a:rPr lang="en-US"/>
                      <a:t> 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E1E5-490A-901B-50FEF52F8A2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'Weekday and weekend_Channel'!$A$26:$A$29</c:f>
              <c:strCache>
                <c:ptCount val="3"/>
                <c:pt idx="0">
                  <c:v>Instore</c:v>
                </c:pt>
                <c:pt idx="1">
                  <c:v>Online</c:v>
                </c:pt>
                <c:pt idx="2">
                  <c:v>Phone Delivery</c:v>
                </c:pt>
              </c:strCache>
            </c:strRef>
          </c:cat>
          <c:val>
            <c:numRef>
              <c:f>'Weekday and weekend_Channel'!$C$26:$C$29</c:f>
              <c:numCache>
                <c:formatCode>General</c:formatCode>
                <c:ptCount val="3"/>
                <c:pt idx="0">
                  <c:v>17937</c:v>
                </c:pt>
                <c:pt idx="1">
                  <c:v>313</c:v>
                </c:pt>
                <c:pt idx="2">
                  <c:v>2086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E80-4272-88EF-F0EFB27B6A7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3356016"/>
        <c:axId val="1163364656"/>
      </c:barChart>
      <c:catAx>
        <c:axId val="1163356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364656"/>
        <c:crosses val="autoZero"/>
        <c:auto val="1"/>
        <c:lblAlgn val="ctr"/>
        <c:lblOffset val="100"/>
        <c:noMultiLvlLbl val="0"/>
      </c:catAx>
      <c:valAx>
        <c:axId val="11633646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356016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[RFM_Gender_Analysis.xlsx]Weekday and weekend_Channel!PivotTable27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Orders by Channel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'Weekday and weekend_Channel'!$B$48:$B$49</c:f>
              <c:strCache>
                <c:ptCount val="1"/>
                <c:pt idx="0">
                  <c:v>Weekday</c:v>
                </c:pt>
              </c:strCache>
            </c:strRef>
          </c:tx>
          <c:spPr>
            <a:solidFill>
              <a:schemeClr val="accent4">
                <a:shade val="76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6667D0C1-8F12-400E-AE3A-716631E767EC}" type="VALUE">
                      <a:rPr lang="en-US" smtClean="0"/>
                      <a:pPr/>
                      <a:t>[VALUE]</a:t>
                    </a:fld>
                    <a:r>
                      <a:rPr lang="en-US"/>
                      <a:t> 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F162-46F8-BA7A-B6ECAFFD9B5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B4B8B4E-5227-4AF3-8CB1-969EDD0F0E21}" type="VALUE">
                      <a:rPr lang="en-US" smtClean="0"/>
                      <a:pPr/>
                      <a:t>[VALUE]</a:t>
                    </a:fld>
                    <a:r>
                      <a:rPr lang="en-US"/>
                      <a:t> 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F162-46F8-BA7A-B6ECAFFD9B5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41A34D4B-8405-4AE1-8A8F-656A275B866C}" type="VALUE">
                      <a:rPr lang="en-US" smtClean="0"/>
                      <a:pPr/>
                      <a:t>[VALUE]</a:t>
                    </a:fld>
                    <a:r>
                      <a:rPr lang="en-US"/>
                      <a:t> 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F162-46F8-BA7A-B6ECAFFD9B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'Weekday and weekend_Channel'!$A$50:$A$53</c:f>
              <c:strCache>
                <c:ptCount val="3"/>
                <c:pt idx="0">
                  <c:v>Instore</c:v>
                </c:pt>
                <c:pt idx="1">
                  <c:v>Online</c:v>
                </c:pt>
                <c:pt idx="2">
                  <c:v>Phone Delivery</c:v>
                </c:pt>
              </c:strCache>
            </c:strRef>
          </c:cat>
          <c:val>
            <c:numRef>
              <c:f>'Weekday and weekend_Channel'!$B$50:$B$53</c:f>
              <c:numCache>
                <c:formatCode>General</c:formatCode>
                <c:ptCount val="3"/>
                <c:pt idx="0">
                  <c:v>67379</c:v>
                </c:pt>
                <c:pt idx="1">
                  <c:v>1241</c:v>
                </c:pt>
                <c:pt idx="2">
                  <c:v>8028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1A-4E68-981C-D0ADFB7E9FF3}"/>
            </c:ext>
          </c:extLst>
        </c:ser>
        <c:ser>
          <c:idx val="1"/>
          <c:order val="1"/>
          <c:tx>
            <c:strRef>
              <c:f>'Weekday and weekend_Channel'!$C$48:$C$49</c:f>
              <c:strCache>
                <c:ptCount val="1"/>
                <c:pt idx="0">
                  <c:v>Weekend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4694547338391687E-2"/>
                  <c:y val="0"/>
                </c:manualLayout>
              </c:layout>
              <c:tx>
                <c:rich>
                  <a:bodyPr/>
                  <a:lstStyle/>
                  <a:p>
                    <a:fld id="{9AC3909D-C98D-4AED-BBC4-758F0271A556}" type="VALUE">
                      <a:rPr lang="en-US" smtClean="0"/>
                      <a:pPr/>
                      <a:t>[VALUE]</a:t>
                    </a:fld>
                    <a:r>
                      <a:rPr lang="en-US"/>
                      <a:t> 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F162-46F8-BA7A-B6ECAFFD9B50}"/>
                </c:ext>
              </c:extLst>
            </c:dLbl>
            <c:dLbl>
              <c:idx val="1"/>
              <c:layout>
                <c:manualLayout>
                  <c:x val="3.8805717246044077E-2"/>
                  <c:y val="6.0153025507723584E-3"/>
                </c:manualLayout>
              </c:layout>
              <c:tx>
                <c:rich>
                  <a:bodyPr/>
                  <a:lstStyle/>
                  <a:p>
                    <a:fld id="{4B972B69-61E9-404E-BB2E-7A8BB3B4F7D4}" type="VALUE">
                      <a:rPr lang="en-US" smtClean="0"/>
                      <a:pPr/>
                      <a:t>[VALUE]</a:t>
                    </a:fld>
                    <a:r>
                      <a:rPr lang="en-US" dirty="0"/>
                      <a:t> 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F61A-4E68-981C-D0ADFB7E9FF3}"/>
                </c:ext>
              </c:extLst>
            </c:dLbl>
            <c:dLbl>
              <c:idx val="2"/>
              <c:layout>
                <c:manualLayout>
                  <c:x val="3.8805717246044077E-2"/>
                  <c:y val="0"/>
                </c:manualLayout>
              </c:layout>
              <c:tx>
                <c:rich>
                  <a:bodyPr/>
                  <a:lstStyle/>
                  <a:p>
                    <a:fld id="{0986B663-07E3-42CB-AA7E-9A5130F7D940}" type="VALUE">
                      <a:rPr lang="en-US" smtClean="0"/>
                      <a:pPr/>
                      <a:t>[VALUE]</a:t>
                    </a:fld>
                    <a:r>
                      <a:rPr lang="en-US" dirty="0"/>
                      <a:t> K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F162-46F8-BA7A-B6ECAFFD9B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'Weekday and weekend_Channel'!$A$50:$A$53</c:f>
              <c:strCache>
                <c:ptCount val="3"/>
                <c:pt idx="0">
                  <c:v>Instore</c:v>
                </c:pt>
                <c:pt idx="1">
                  <c:v>Online</c:v>
                </c:pt>
                <c:pt idx="2">
                  <c:v>Phone Delivery</c:v>
                </c:pt>
              </c:strCache>
            </c:strRef>
          </c:cat>
          <c:val>
            <c:numRef>
              <c:f>'Weekday and weekend_Channel'!$C$50:$C$53</c:f>
              <c:numCache>
                <c:formatCode>General</c:formatCode>
                <c:ptCount val="3"/>
                <c:pt idx="0">
                  <c:v>17941</c:v>
                </c:pt>
                <c:pt idx="1">
                  <c:v>313</c:v>
                </c:pt>
                <c:pt idx="2">
                  <c:v>2086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1A-4E68-981C-D0ADFB7E9FF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3348816"/>
        <c:axId val="1163375696"/>
      </c:barChart>
      <c:catAx>
        <c:axId val="1163348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375696"/>
        <c:crosses val="autoZero"/>
        <c:auto val="1"/>
        <c:lblAlgn val="ctr"/>
        <c:lblOffset val="100"/>
        <c:noMultiLvlLbl val="0"/>
      </c:catAx>
      <c:valAx>
        <c:axId val="11633756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348816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[RFM_Gender_Analysis.xlsx]Weekday and weekend_Channel!PivotTable25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Total Revenue by Channel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'Weekday and weekend_Channel'!$B$9:$B$10</c:f>
              <c:strCache>
                <c:ptCount val="1"/>
                <c:pt idx="0">
                  <c:v>Weekday</c:v>
                </c:pt>
              </c:strCache>
            </c:strRef>
          </c:tx>
          <c:spPr>
            <a:solidFill>
              <a:schemeClr val="accent4">
                <a:shade val="76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10.7 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B07F-49B6-839F-3ED802F5797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0.23 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B07F-49B6-839F-3ED802F5797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1.30 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B07F-49B6-839F-3ED802F5797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'Weekday and weekend_Channel'!$A$11:$A$14</c:f>
              <c:strCache>
                <c:ptCount val="3"/>
                <c:pt idx="0">
                  <c:v>Instore</c:v>
                </c:pt>
                <c:pt idx="1">
                  <c:v>Online</c:v>
                </c:pt>
                <c:pt idx="2">
                  <c:v>Phone Delivery</c:v>
                </c:pt>
              </c:strCache>
            </c:strRef>
          </c:cat>
          <c:val>
            <c:numRef>
              <c:f>'Weekday and weekend_Channel'!$B$11:$B$14</c:f>
              <c:numCache>
                <c:formatCode>General</c:formatCode>
                <c:ptCount val="3"/>
                <c:pt idx="0">
                  <c:v>10709441.6985652</c:v>
                </c:pt>
                <c:pt idx="1">
                  <c:v>231249.139611244</c:v>
                </c:pt>
                <c:pt idx="2">
                  <c:v>1301407.0391639101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7F-49B6-839F-3ED802F5797F}"/>
            </c:ext>
          </c:extLst>
        </c:ser>
        <c:ser>
          <c:idx val="1"/>
          <c:order val="1"/>
          <c:tx>
            <c:strRef>
              <c:f>'Weekday and weekend_Channel'!$C$9:$C$10</c:f>
              <c:strCache>
                <c:ptCount val="1"/>
                <c:pt idx="0">
                  <c:v>Weekend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2.82 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07F-49B6-839F-3ED802F5797F}"/>
                </c:ext>
              </c:extLst>
            </c:dLbl>
            <c:dLbl>
              <c:idx val="1"/>
              <c:layout>
                <c:manualLayout>
                  <c:x val="1.0362108082498761E-2"/>
                  <c:y val="-0.2045830308846666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0.05 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B07F-49B6-839F-3ED802F5797F}"/>
                </c:ext>
              </c:extLst>
            </c:dLbl>
            <c:dLbl>
              <c:idx val="2"/>
              <c:layout>
                <c:manualLayout>
                  <c:x val="-1.2664652464352424E-16"/>
                  <c:y val="-1.1365592641740972E-16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0.32 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B07F-49B6-839F-3ED802F5797F}"/>
                </c:ext>
              </c:extLst>
            </c:dLbl>
            <c:numFmt formatCode="0.00\ 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'Weekday and weekend_Channel'!$A$11:$A$14</c:f>
              <c:strCache>
                <c:ptCount val="3"/>
                <c:pt idx="0">
                  <c:v>Instore</c:v>
                </c:pt>
                <c:pt idx="1">
                  <c:v>Online</c:v>
                </c:pt>
                <c:pt idx="2">
                  <c:v>Phone Delivery</c:v>
                </c:pt>
              </c:strCache>
            </c:strRef>
          </c:cat>
          <c:val>
            <c:numRef>
              <c:f>'Weekday and weekend_Channel'!$C$11:$C$14</c:f>
              <c:numCache>
                <c:formatCode>General</c:formatCode>
                <c:ptCount val="3"/>
                <c:pt idx="0">
                  <c:v>2828469.1221622499</c:v>
                </c:pt>
                <c:pt idx="1">
                  <c:v>50463.540002822898</c:v>
                </c:pt>
                <c:pt idx="2">
                  <c:v>325119.93020680698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07F-49B6-839F-3ED802F5797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3365136"/>
        <c:axId val="1163365616"/>
      </c:barChart>
      <c:catAx>
        <c:axId val="1163365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365616"/>
        <c:crosses val="autoZero"/>
        <c:auto val="1"/>
        <c:lblAlgn val="ctr"/>
        <c:lblOffset val="100"/>
        <c:noMultiLvlLbl val="0"/>
      </c:catAx>
      <c:valAx>
        <c:axId val="11633656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365136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[RFM_Gender_Analysis.xlsx]Weekday and weekend_Channel!PivotTable28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Total Profit by Channel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'Weekday and weekend_Channel'!$F$9:$F$10</c:f>
              <c:strCache>
                <c:ptCount val="1"/>
                <c:pt idx="0">
                  <c:v>Weekday</c:v>
                </c:pt>
              </c:strCache>
            </c:strRef>
          </c:tx>
          <c:spPr>
            <a:solidFill>
              <a:schemeClr val="accent4">
                <a:shade val="76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1.51 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FDCD-4FAB-9DEA-358650E2735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0.02 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FDCD-4FAB-9DEA-358650E2735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0.18 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FDCD-4FAB-9DEA-358650E2735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'Weekday and weekend_Channel'!$E$11:$E$14</c:f>
              <c:strCache>
                <c:ptCount val="3"/>
                <c:pt idx="0">
                  <c:v>Instore</c:v>
                </c:pt>
                <c:pt idx="1">
                  <c:v>Online</c:v>
                </c:pt>
                <c:pt idx="2">
                  <c:v>Phone Delivery</c:v>
                </c:pt>
              </c:strCache>
            </c:strRef>
          </c:cat>
          <c:val>
            <c:numRef>
              <c:f>'Weekday and weekend_Channel'!$F$11:$F$14</c:f>
              <c:numCache>
                <c:formatCode>General</c:formatCode>
                <c:ptCount val="3"/>
                <c:pt idx="0">
                  <c:v>1517609.02680087</c:v>
                </c:pt>
                <c:pt idx="1">
                  <c:v>28699.849630355799</c:v>
                </c:pt>
                <c:pt idx="2">
                  <c:v>182054.66863807099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CD-4FAB-9DEA-358650E2735D}"/>
            </c:ext>
          </c:extLst>
        </c:ser>
        <c:ser>
          <c:idx val="1"/>
          <c:order val="1"/>
          <c:tx>
            <c:strRef>
              <c:f>'Weekday and weekend_Channel'!$G$9:$G$10</c:f>
              <c:strCache>
                <c:ptCount val="1"/>
                <c:pt idx="0">
                  <c:v>Weekend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0.39 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DCD-4FAB-9DEA-358650E2735D}"/>
                </c:ext>
              </c:extLst>
            </c:dLbl>
            <c:dLbl>
              <c:idx val="1"/>
              <c:layout>
                <c:manualLayout>
                  <c:x val="4.2333521482317699E-2"/>
                  <c:y val="-4.9183343499181895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0.007 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DCD-4FAB-9DEA-358650E2735D}"/>
                </c:ext>
              </c:extLst>
            </c:dLbl>
            <c:dLbl>
              <c:idx val="2"/>
              <c:layout>
                <c:manualLayout>
                  <c:x val="3.527793456859795E-2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0.04 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FDCD-4FAB-9DEA-358650E2735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'Weekday and weekend_Channel'!$E$11:$E$14</c:f>
              <c:strCache>
                <c:ptCount val="3"/>
                <c:pt idx="0">
                  <c:v>Instore</c:v>
                </c:pt>
                <c:pt idx="1">
                  <c:v>Online</c:v>
                </c:pt>
                <c:pt idx="2">
                  <c:v>Phone Delivery</c:v>
                </c:pt>
              </c:strCache>
            </c:strRef>
          </c:cat>
          <c:val>
            <c:numRef>
              <c:f>'Weekday and weekend_Channel'!$G$11:$G$14</c:f>
              <c:numCache>
                <c:formatCode>General</c:formatCode>
                <c:ptCount val="3"/>
                <c:pt idx="0">
                  <c:v>399513.99290349497</c:v>
                </c:pt>
                <c:pt idx="1">
                  <c:v>7744.0000438690204</c:v>
                </c:pt>
                <c:pt idx="2">
                  <c:v>47482.820558579799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DCD-4FAB-9DEA-358650E2735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3466416"/>
        <c:axId val="1163462096"/>
      </c:barChart>
      <c:catAx>
        <c:axId val="1163466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462096"/>
        <c:crosses val="autoZero"/>
        <c:auto val="1"/>
        <c:lblAlgn val="ctr"/>
        <c:lblOffset val="100"/>
        <c:noMultiLvlLbl val="0"/>
      </c:catAx>
      <c:valAx>
        <c:axId val="1163462096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466416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Revenue and Profit by Channel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604416512545056"/>
          <c:y val="1.6150426720379973E-2"/>
          <c:w val="0.86833665111238056"/>
          <c:h val="0.7536687939022953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Sheet14!$B$1</c:f>
              <c:strCache>
                <c:ptCount val="1"/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Sheet14!$A$2:$A$4</c:f>
              <c:strCache>
                <c:ptCount val="3"/>
                <c:pt idx="0">
                  <c:v>Instore</c:v>
                </c:pt>
                <c:pt idx="1">
                  <c:v>Phone Delivery</c:v>
                </c:pt>
                <c:pt idx="2">
                  <c:v>Online</c:v>
                </c:pt>
              </c:strCache>
            </c:strRef>
          </c:cat>
          <c:val>
            <c:numRef>
              <c:f>Sheet14!$B$2:$B$4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0-3769-426F-A5BF-E86637AD6BA2}"/>
            </c:ext>
          </c:extLst>
        </c:ser>
        <c:ser>
          <c:idx val="1"/>
          <c:order val="1"/>
          <c:tx>
            <c:strRef>
              <c:f>Sheet14!$C$1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39302270-C1B8-46B8-8F5E-CFEAED0961C8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baseline="0" dirty="0"/>
                      <a:t>87.7%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01EB-4797-8682-C2C14EB6268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9714DAC6-0FEE-4DB4-8930-E974E0017649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10.5%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01EB-4797-8682-C2C14EB6268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43D8C14A-C644-49D8-81D5-03D24397E827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baseline="0" dirty="0"/>
                      <a:t>1.8%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01EB-4797-8682-C2C14EB6268D}"/>
                </c:ext>
              </c:extLst>
            </c:dLbl>
            <c:numFmt formatCode="0.00\ 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Sheet14!$A$2:$A$4</c:f>
              <c:strCache>
                <c:ptCount val="3"/>
                <c:pt idx="0">
                  <c:v>Instore</c:v>
                </c:pt>
                <c:pt idx="1">
                  <c:v>Phone Delivery</c:v>
                </c:pt>
                <c:pt idx="2">
                  <c:v>Online</c:v>
                </c:pt>
              </c:strCache>
            </c:strRef>
          </c:cat>
          <c:val>
            <c:numRef>
              <c:f>Sheet14!$C$2:$C$4</c:f>
              <c:numCache>
                <c:formatCode>_ * #,##0_ ;_ * \-#,##0_ ;_ * "-"??_ ;_ @_ </c:formatCode>
                <c:ptCount val="3"/>
                <c:pt idx="0">
                  <c:v>14342453.00079</c:v>
                </c:pt>
                <c:pt idx="1">
                  <c:v>1722160.37913</c:v>
                </c:pt>
                <c:pt idx="2">
                  <c:v>287865.92966000002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69-426F-A5BF-E86637AD6BA2}"/>
            </c:ext>
          </c:extLst>
        </c:ser>
        <c:ser>
          <c:idx val="2"/>
          <c:order val="2"/>
          <c:tx>
            <c:strRef>
              <c:f>Sheet14!$D$1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6.1111111111111109E-2"/>
                  <c:y val="0"/>
                </c:manualLayout>
              </c:layout>
              <c:tx>
                <c:rich>
                  <a:bodyPr/>
                  <a:lstStyle/>
                  <a:p>
                    <a:fld id="{26E0BF49-B657-42EA-B7E9-E1F1A55F6D22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baseline="0" dirty="0"/>
                      <a:t>87.7%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3769-426F-A5BF-E86637AD6BA2}"/>
                </c:ext>
              </c:extLst>
            </c:dLbl>
            <c:dLbl>
              <c:idx val="1"/>
              <c:layout>
                <c:manualLayout>
                  <c:x val="2.7777777777777776E-2"/>
                  <c:y val="4.6296296296296294E-3"/>
                </c:manualLayout>
              </c:layout>
              <c:tx>
                <c:rich>
                  <a:bodyPr/>
                  <a:lstStyle/>
                  <a:p>
                    <a:fld id="{A808D2C6-3409-467A-84B7-7730EC931A42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sz="900" b="0" i="0" u="none" strike="noStrike" baseline="0" dirty="0"/>
                      <a:t>10.6%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3769-426F-A5BF-E86637AD6BA2}"/>
                </c:ext>
              </c:extLst>
            </c:dLbl>
            <c:dLbl>
              <c:idx val="2"/>
              <c:layout>
                <c:manualLayout>
                  <c:x val="2.7777777777777776E-2"/>
                  <c:y val="1.8518518518518434E-2"/>
                </c:manualLayout>
              </c:layout>
              <c:tx>
                <c:rich>
                  <a:bodyPr/>
                  <a:lstStyle/>
                  <a:p>
                    <a:fld id="{41E98BCD-E35A-4F59-823C-BAC56101F2FC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dirty="0"/>
                      <a:t>1.7%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3769-426F-A5BF-E86637AD6BA2}"/>
                </c:ext>
              </c:extLst>
            </c:dLbl>
            <c:numFmt formatCode="0.00\ 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Sheet14!$A$2:$A$4</c:f>
              <c:strCache>
                <c:ptCount val="3"/>
                <c:pt idx="0">
                  <c:v>Instore</c:v>
                </c:pt>
                <c:pt idx="1">
                  <c:v>Phone Delivery</c:v>
                </c:pt>
                <c:pt idx="2">
                  <c:v>Online</c:v>
                </c:pt>
              </c:strCache>
            </c:strRef>
          </c:cat>
          <c:val>
            <c:numRef>
              <c:f>Sheet14!$D$2:$D$4</c:f>
              <c:numCache>
                <c:formatCode>_ * #,##0_ ;_ * \-#,##0_ ;_ * "-"??_ ;_ @_ </c:formatCode>
                <c:ptCount val="3"/>
                <c:pt idx="0">
                  <c:v>2056159.82831</c:v>
                </c:pt>
                <c:pt idx="1">
                  <c:v>249465.84865999999</c:v>
                </c:pt>
                <c:pt idx="2">
                  <c:v>37705.489679999999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769-426F-A5BF-E86637AD6BA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62968095"/>
        <c:axId val="262963775"/>
      </c:barChart>
      <c:catAx>
        <c:axId val="2629680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2963775"/>
        <c:crosses val="autoZero"/>
        <c:auto val="1"/>
        <c:lblAlgn val="ctr"/>
        <c:lblOffset val="100"/>
        <c:noMultiLvlLbl val="0"/>
      </c:catAx>
      <c:valAx>
        <c:axId val="262963775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2968095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[Book1]Sheet2!PivotTable3</c:name>
    <c:fmtId val="2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Total Revenue by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Sheet2!$D$3:$D$4</c:f>
              <c:strCache>
                <c:ptCount val="1"/>
                <c:pt idx="0">
                  <c:v>Weekday</c:v>
                </c:pt>
              </c:strCache>
            </c:strRef>
          </c:tx>
          <c:spPr>
            <a:solidFill>
              <a:schemeClr val="accent4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Sheet2!$C$5:$C$19</c:f>
              <c:strCache>
                <c:ptCount val="14"/>
                <c:pt idx="0">
                  <c:v>Toys &amp; Gifts</c:v>
                </c:pt>
                <c:pt idx="1">
                  <c:v>Baby</c:v>
                </c:pt>
                <c:pt idx="2">
                  <c:v>Home_Appliances</c:v>
                </c:pt>
                <c:pt idx="3">
                  <c:v>Food &amp; Beverages</c:v>
                </c:pt>
                <c:pt idx="4">
                  <c:v>Luggage_Accessories</c:v>
                </c:pt>
                <c:pt idx="5">
                  <c:v>Furniture</c:v>
                </c:pt>
                <c:pt idx="6">
                  <c:v>Computers &amp; Accessories</c:v>
                </c:pt>
                <c:pt idx="7">
                  <c:v>Construction_Tools</c:v>
                </c:pt>
                <c:pt idx="8">
                  <c:v>Auto</c:v>
                </c:pt>
                <c:pt idx="9">
                  <c:v>Stationery</c:v>
                </c:pt>
                <c:pt idx="10">
                  <c:v>Electronics</c:v>
                </c:pt>
                <c:pt idx="11">
                  <c:v>Pet_Shop</c:v>
                </c:pt>
                <c:pt idx="12">
                  <c:v>Fashion</c:v>
                </c:pt>
                <c:pt idx="13">
                  <c:v>Others</c:v>
                </c:pt>
              </c:strCache>
            </c:strRef>
          </c:cat>
          <c:val>
            <c:numRef>
              <c:f>Sheet2!$D$5:$D$19</c:f>
              <c:numCache>
                <c:formatCode>_ * #,##0.000_ ;_ * \-#,##0.000_ ;_ * "-"??_ ;_ @_ </c:formatCode>
                <c:ptCount val="14"/>
                <c:pt idx="0">
                  <c:v>2145434.9173541102</c:v>
                </c:pt>
                <c:pt idx="1">
                  <c:v>1459746.81989288</c:v>
                </c:pt>
                <c:pt idx="2">
                  <c:v>1464450.53137779</c:v>
                </c:pt>
                <c:pt idx="3">
                  <c:v>1305781.36928558</c:v>
                </c:pt>
                <c:pt idx="4">
                  <c:v>1326993.10976505</c:v>
                </c:pt>
                <c:pt idx="5">
                  <c:v>1148784.03988171</c:v>
                </c:pt>
                <c:pt idx="6">
                  <c:v>1068528.4792728401</c:v>
                </c:pt>
                <c:pt idx="7">
                  <c:v>882285.20983600605</c:v>
                </c:pt>
                <c:pt idx="8">
                  <c:v>551835.89007473004</c:v>
                </c:pt>
                <c:pt idx="9">
                  <c:v>557517.79977130902</c:v>
                </c:pt>
                <c:pt idx="10">
                  <c:v>442098.45014953602</c:v>
                </c:pt>
                <c:pt idx="11">
                  <c:v>212381.09019184101</c:v>
                </c:pt>
                <c:pt idx="12">
                  <c:v>205479.24991607701</c:v>
                </c:pt>
                <c:pt idx="13">
                  <c:v>176342.93037986799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C3-4639-B29D-A24B1BDD9467}"/>
            </c:ext>
          </c:extLst>
        </c:ser>
        <c:ser>
          <c:idx val="1"/>
          <c:order val="1"/>
          <c:tx>
            <c:strRef>
              <c:f>Sheet2!$E$3:$E$4</c:f>
              <c:strCache>
                <c:ptCount val="1"/>
                <c:pt idx="0">
                  <c:v>Weekend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Sheet2!$C$5:$C$19</c:f>
              <c:strCache>
                <c:ptCount val="14"/>
                <c:pt idx="0">
                  <c:v>Toys &amp; Gifts</c:v>
                </c:pt>
                <c:pt idx="1">
                  <c:v>Baby</c:v>
                </c:pt>
                <c:pt idx="2">
                  <c:v>Home_Appliances</c:v>
                </c:pt>
                <c:pt idx="3">
                  <c:v>Food &amp; Beverages</c:v>
                </c:pt>
                <c:pt idx="4">
                  <c:v>Luggage_Accessories</c:v>
                </c:pt>
                <c:pt idx="5">
                  <c:v>Furniture</c:v>
                </c:pt>
                <c:pt idx="6">
                  <c:v>Computers &amp; Accessories</c:v>
                </c:pt>
                <c:pt idx="7">
                  <c:v>Construction_Tools</c:v>
                </c:pt>
                <c:pt idx="8">
                  <c:v>Auto</c:v>
                </c:pt>
                <c:pt idx="9">
                  <c:v>Stationery</c:v>
                </c:pt>
                <c:pt idx="10">
                  <c:v>Electronics</c:v>
                </c:pt>
                <c:pt idx="11">
                  <c:v>Pet_Shop</c:v>
                </c:pt>
                <c:pt idx="12">
                  <c:v>Fashion</c:v>
                </c:pt>
                <c:pt idx="13">
                  <c:v>Others</c:v>
                </c:pt>
              </c:strCache>
            </c:strRef>
          </c:cat>
          <c:val>
            <c:numRef>
              <c:f>Sheet2!$E$5:$E$19</c:f>
              <c:numCache>
                <c:formatCode>_ * #,##0.000_ ;_ * \-#,##0.000_ ;_ * "-"??_ ;_ @_ </c:formatCode>
                <c:ptCount val="14"/>
                <c:pt idx="0">
                  <c:v>546143.58973789203</c:v>
                </c:pt>
                <c:pt idx="1">
                  <c:v>391640.68030071299</c:v>
                </c:pt>
                <c:pt idx="2">
                  <c:v>383496.76012706797</c:v>
                </c:pt>
                <c:pt idx="3">
                  <c:v>374919.71026229899</c:v>
                </c:pt>
                <c:pt idx="4">
                  <c:v>352506.48030376399</c:v>
                </c:pt>
                <c:pt idx="5">
                  <c:v>291917.15020084399</c:v>
                </c:pt>
                <c:pt idx="6">
                  <c:v>268341.05012607598</c:v>
                </c:pt>
                <c:pt idx="7">
                  <c:v>250360.11058998099</c:v>
                </c:pt>
                <c:pt idx="8">
                  <c:v>149523.060285568</c:v>
                </c:pt>
                <c:pt idx="9">
                  <c:v>137637.69009017901</c:v>
                </c:pt>
                <c:pt idx="10">
                  <c:v>112741.680206299</c:v>
                </c:pt>
                <c:pt idx="11">
                  <c:v>49128.670039176897</c:v>
                </c:pt>
                <c:pt idx="12">
                  <c:v>53774.380011558504</c:v>
                </c:pt>
                <c:pt idx="13">
                  <c:v>42688.410147666902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C3-4639-B29D-A24B1BDD94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77105167"/>
        <c:axId val="1877091247"/>
      </c:barChart>
      <c:catAx>
        <c:axId val="18771051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7091247"/>
        <c:crosses val="autoZero"/>
        <c:auto val="1"/>
        <c:lblAlgn val="ctr"/>
        <c:lblOffset val="100"/>
        <c:noMultiLvlLbl val="0"/>
      </c:catAx>
      <c:valAx>
        <c:axId val="1877091247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7105167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[Book1]Sheet1!PivotTable1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/>
              <a:t>Total Profit by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Sheet1!$F$1:$F$2</c:f>
              <c:strCache>
                <c:ptCount val="1"/>
                <c:pt idx="0">
                  <c:v>Weekday</c:v>
                </c:pt>
              </c:strCache>
            </c:strRef>
          </c:tx>
          <c:spPr>
            <a:solidFill>
              <a:schemeClr val="accent4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Sheet1!$E$3:$E$16</c:f>
              <c:strCache>
                <c:ptCount val="14"/>
                <c:pt idx="0">
                  <c:v>Home_Appliances</c:v>
                </c:pt>
                <c:pt idx="1">
                  <c:v>Baby</c:v>
                </c:pt>
                <c:pt idx="2">
                  <c:v>Toys &amp; Gifts</c:v>
                </c:pt>
                <c:pt idx="3">
                  <c:v>Furniture</c:v>
                </c:pt>
                <c:pt idx="4">
                  <c:v>Food &amp; Beverages</c:v>
                </c:pt>
                <c:pt idx="5">
                  <c:v>Luggage_Accessories</c:v>
                </c:pt>
                <c:pt idx="6">
                  <c:v>Computers &amp; Accessories</c:v>
                </c:pt>
                <c:pt idx="7">
                  <c:v>Construction_Tools</c:v>
                </c:pt>
                <c:pt idx="8">
                  <c:v>Stationery</c:v>
                </c:pt>
                <c:pt idx="9">
                  <c:v>Auto</c:v>
                </c:pt>
                <c:pt idx="10">
                  <c:v>Electronics</c:v>
                </c:pt>
                <c:pt idx="11">
                  <c:v>Fashion</c:v>
                </c:pt>
                <c:pt idx="12">
                  <c:v>Pet_Shop</c:v>
                </c:pt>
                <c:pt idx="13">
                  <c:v>Others</c:v>
                </c:pt>
              </c:strCache>
            </c:strRef>
          </c:cat>
          <c:val>
            <c:numRef>
              <c:f>Sheet1!$F$3:$F$16</c:f>
              <c:numCache>
                <c:formatCode>General</c:formatCode>
                <c:ptCount val="14"/>
                <c:pt idx="0">
                  <c:v>248443.82836246499</c:v>
                </c:pt>
                <c:pt idx="1">
                  <c:v>233346.869425774</c:v>
                </c:pt>
                <c:pt idx="2">
                  <c:v>225069.82877492899</c:v>
                </c:pt>
                <c:pt idx="3">
                  <c:v>225892.91670322401</c:v>
                </c:pt>
                <c:pt idx="4">
                  <c:v>173023.908162117</c:v>
                </c:pt>
                <c:pt idx="5">
                  <c:v>186963.94097089799</c:v>
                </c:pt>
                <c:pt idx="6">
                  <c:v>129025.151248455</c:v>
                </c:pt>
                <c:pt idx="7">
                  <c:v>104402.13827085499</c:v>
                </c:pt>
                <c:pt idx="8">
                  <c:v>97774.060282468796</c:v>
                </c:pt>
                <c:pt idx="9">
                  <c:v>75404.589574575395</c:v>
                </c:pt>
                <c:pt idx="10">
                  <c:v>64133.1311647892</c:v>
                </c:pt>
                <c:pt idx="11">
                  <c:v>35089.4994335175</c:v>
                </c:pt>
                <c:pt idx="12">
                  <c:v>32816.430228710196</c:v>
                </c:pt>
                <c:pt idx="13">
                  <c:v>23895.100624084502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53-4BC7-8030-09D21D1E3DD5}"/>
            </c:ext>
          </c:extLst>
        </c:ser>
        <c:ser>
          <c:idx val="1"/>
          <c:order val="1"/>
          <c:tx>
            <c:strRef>
              <c:f>Sheet1!$G$1:$G$2</c:f>
              <c:strCache>
                <c:ptCount val="1"/>
                <c:pt idx="0">
                  <c:v>Weekend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Sheet1!$E$3:$E$16</c:f>
              <c:strCache>
                <c:ptCount val="14"/>
                <c:pt idx="0">
                  <c:v>Home_Appliances</c:v>
                </c:pt>
                <c:pt idx="1">
                  <c:v>Baby</c:v>
                </c:pt>
                <c:pt idx="2">
                  <c:v>Toys &amp; Gifts</c:v>
                </c:pt>
                <c:pt idx="3">
                  <c:v>Furniture</c:v>
                </c:pt>
                <c:pt idx="4">
                  <c:v>Food &amp; Beverages</c:v>
                </c:pt>
                <c:pt idx="5">
                  <c:v>Luggage_Accessories</c:v>
                </c:pt>
                <c:pt idx="6">
                  <c:v>Computers &amp; Accessories</c:v>
                </c:pt>
                <c:pt idx="7">
                  <c:v>Construction_Tools</c:v>
                </c:pt>
                <c:pt idx="8">
                  <c:v>Stationery</c:v>
                </c:pt>
                <c:pt idx="9">
                  <c:v>Auto</c:v>
                </c:pt>
                <c:pt idx="10">
                  <c:v>Electronics</c:v>
                </c:pt>
                <c:pt idx="11">
                  <c:v>Fashion</c:v>
                </c:pt>
                <c:pt idx="12">
                  <c:v>Pet_Shop</c:v>
                </c:pt>
                <c:pt idx="13">
                  <c:v>Others</c:v>
                </c:pt>
              </c:strCache>
            </c:strRef>
          </c:cat>
          <c:val>
            <c:numRef>
              <c:f>Sheet1!$G$3:$G$16</c:f>
              <c:numCache>
                <c:formatCode>General</c:formatCode>
                <c:ptCount val="14"/>
                <c:pt idx="0">
                  <c:v>64023.699619770101</c:v>
                </c:pt>
                <c:pt idx="1">
                  <c:v>63021.990348815903</c:v>
                </c:pt>
                <c:pt idx="2">
                  <c:v>59154.690687179602</c:v>
                </c:pt>
                <c:pt idx="3">
                  <c:v>57730.379875183098</c:v>
                </c:pt>
                <c:pt idx="4">
                  <c:v>49304.230319499999</c:v>
                </c:pt>
                <c:pt idx="5">
                  <c:v>48265.660263538397</c:v>
                </c:pt>
                <c:pt idx="6">
                  <c:v>33281.610750675201</c:v>
                </c:pt>
                <c:pt idx="7">
                  <c:v>28501.330727815599</c:v>
                </c:pt>
                <c:pt idx="8">
                  <c:v>24670.140262126901</c:v>
                </c:pt>
                <c:pt idx="9">
                  <c:v>19953.810029029799</c:v>
                </c:pt>
                <c:pt idx="10">
                  <c:v>16535.250469684601</c:v>
                </c:pt>
                <c:pt idx="11">
                  <c:v>9592.7899112701398</c:v>
                </c:pt>
                <c:pt idx="12">
                  <c:v>8061.1699609756497</c:v>
                </c:pt>
                <c:pt idx="13">
                  <c:v>5953.0201969146701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353-4BC7-8030-09D21D1E3D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55976448"/>
        <c:axId val="855963008"/>
      </c:barChart>
      <c:catAx>
        <c:axId val="855976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5963008"/>
        <c:crosses val="autoZero"/>
        <c:auto val="1"/>
        <c:lblAlgn val="ctr"/>
        <c:lblOffset val="100"/>
        <c:noMultiLvlLbl val="0"/>
      </c:catAx>
      <c:valAx>
        <c:axId val="855963008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5976448"/>
        <c:crosses val="autoZero"/>
        <c:crossBetween val="between"/>
        <c:dispUnits>
          <c:builtInUnit val="hundred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Revenue by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numFmt formatCode="0.00\ 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Toys &amp; Gifts</c:v>
                </c:pt>
                <c:pt idx="1">
                  <c:v>Home_Appliances</c:v>
                </c:pt>
                <c:pt idx="2">
                  <c:v>Baby</c:v>
                </c:pt>
                <c:pt idx="3">
                  <c:v>Food &amp; Beverages</c:v>
                </c:pt>
                <c:pt idx="4">
                  <c:v>Luggage_Accessories</c:v>
                </c:pt>
                <c:pt idx="5">
                  <c:v>Furniture</c:v>
                </c:pt>
                <c:pt idx="6">
                  <c:v>Computers &amp; Accessories</c:v>
                </c:pt>
                <c:pt idx="7">
                  <c:v>Construction_Tools</c:v>
                </c:pt>
                <c:pt idx="8">
                  <c:v>Stationery</c:v>
                </c:pt>
                <c:pt idx="9">
                  <c:v>Auto</c:v>
                </c:pt>
                <c:pt idx="10">
                  <c:v>Electronics</c:v>
                </c:pt>
                <c:pt idx="11">
                  <c:v>Pet_Shop</c:v>
                </c:pt>
                <c:pt idx="12">
                  <c:v>Fashion</c:v>
                </c:pt>
                <c:pt idx="13">
                  <c:v>Others</c:v>
                </c:pt>
              </c:strCache>
            </c:strRef>
          </c:cat>
          <c:val>
            <c:numRef>
              <c:f>Sheet1!$B$2:$B$15</c:f>
              <c:numCache>
                <c:formatCode>0.00</c:formatCode>
                <c:ptCount val="14"/>
                <c:pt idx="0">
                  <c:v>2599599.29720882</c:v>
                </c:pt>
                <c:pt idx="1">
                  <c:v>1756719.35179242</c:v>
                </c:pt>
                <c:pt idx="2">
                  <c:v>1633546.2203857801</c:v>
                </c:pt>
                <c:pt idx="3">
                  <c:v>1624737.4596257799</c:v>
                </c:pt>
                <c:pt idx="4">
                  <c:v>1619649.4098062499</c:v>
                </c:pt>
                <c:pt idx="5">
                  <c:v>1303428.6601376501</c:v>
                </c:pt>
                <c:pt idx="6">
                  <c:v>1256441.0595601699</c:v>
                </c:pt>
                <c:pt idx="7">
                  <c:v>1089578.8802765401</c:v>
                </c:pt>
                <c:pt idx="8">
                  <c:v>664706.35984668694</c:v>
                </c:pt>
                <c:pt idx="9">
                  <c:v>664250.67007668805</c:v>
                </c:pt>
                <c:pt idx="10">
                  <c:v>544334.41030558595</c:v>
                </c:pt>
                <c:pt idx="11">
                  <c:v>247894.680254618</c:v>
                </c:pt>
                <c:pt idx="12">
                  <c:v>230227.589984894</c:v>
                </c:pt>
                <c:pt idx="13">
                  <c:v>211036.420450401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08-4743-B88A-2820FF836D0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25096400"/>
        <c:axId val="1025112720"/>
      </c:barChart>
      <c:catAx>
        <c:axId val="1025096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5112720"/>
        <c:crosses val="autoZero"/>
        <c:auto val="1"/>
        <c:lblAlgn val="ctr"/>
        <c:lblOffset val="100"/>
        <c:noMultiLvlLbl val="0"/>
      </c:catAx>
      <c:valAx>
        <c:axId val="1025112720"/>
        <c:scaling>
          <c:orientation val="minMax"/>
        </c:scaling>
        <c:delete val="0"/>
        <c:axPos val="l"/>
        <c:numFmt formatCode="0.00\ &quot;M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5096400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Profit by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Category_overall!$B$17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numFmt formatCode="0.00\ 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Category_overall!$A$18:$A$31</c:f>
              <c:strCache>
                <c:ptCount val="14"/>
                <c:pt idx="0">
                  <c:v>Home_Appliances</c:v>
                </c:pt>
                <c:pt idx="1">
                  <c:v>Toys &amp; Gifts</c:v>
                </c:pt>
                <c:pt idx="2">
                  <c:v>Baby</c:v>
                </c:pt>
                <c:pt idx="3">
                  <c:v>Furniture</c:v>
                </c:pt>
                <c:pt idx="4">
                  <c:v>Luggage_Accessories</c:v>
                </c:pt>
                <c:pt idx="5">
                  <c:v>Food &amp; Beverages</c:v>
                </c:pt>
                <c:pt idx="6">
                  <c:v>Computers &amp; Accessories</c:v>
                </c:pt>
                <c:pt idx="7">
                  <c:v>Construction_Tools</c:v>
                </c:pt>
                <c:pt idx="8">
                  <c:v>Stationery</c:v>
                </c:pt>
                <c:pt idx="9">
                  <c:v>Auto</c:v>
                </c:pt>
                <c:pt idx="10">
                  <c:v>Electronics</c:v>
                </c:pt>
                <c:pt idx="11">
                  <c:v>Fashion</c:v>
                </c:pt>
                <c:pt idx="12">
                  <c:v>Pet_Shop</c:v>
                </c:pt>
                <c:pt idx="13">
                  <c:v>Others</c:v>
                </c:pt>
              </c:strCache>
            </c:strRef>
          </c:cat>
          <c:val>
            <c:numRef>
              <c:f>Category_overall!$B$18:$B$31</c:f>
              <c:numCache>
                <c:formatCode>0.00</c:formatCode>
                <c:ptCount val="14"/>
                <c:pt idx="0">
                  <c:v>293313.37866124097</c:v>
                </c:pt>
                <c:pt idx="1">
                  <c:v>269424.43962434202</c:v>
                </c:pt>
                <c:pt idx="2">
                  <c:v>258902.00027011501</c:v>
                </c:pt>
                <c:pt idx="3">
                  <c:v>253037.67715596801</c:v>
                </c:pt>
                <c:pt idx="4">
                  <c:v>226293.590987206</c:v>
                </c:pt>
                <c:pt idx="5">
                  <c:v>212635.958654224</c:v>
                </c:pt>
                <c:pt idx="6">
                  <c:v>152783.812210431</c:v>
                </c:pt>
                <c:pt idx="7">
                  <c:v>126982.80899165101</c:v>
                </c:pt>
                <c:pt idx="8">
                  <c:v>115463.860536432</c:v>
                </c:pt>
                <c:pt idx="9">
                  <c:v>89805.529436190802</c:v>
                </c:pt>
                <c:pt idx="10">
                  <c:v>78950.621563282402</c:v>
                </c:pt>
                <c:pt idx="11">
                  <c:v>39071.939541816697</c:v>
                </c:pt>
                <c:pt idx="12">
                  <c:v>38443.1402217547</c:v>
                </c:pt>
                <c:pt idx="13">
                  <c:v>27995.6007205963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AA-443D-9908-91BCF7B8C0A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25090160"/>
        <c:axId val="1025106000"/>
      </c:barChart>
      <c:catAx>
        <c:axId val="1025090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5106000"/>
        <c:crosses val="autoZero"/>
        <c:auto val="1"/>
        <c:lblAlgn val="ctr"/>
        <c:lblOffset val="100"/>
        <c:noMultiLvlLbl val="0"/>
      </c:catAx>
      <c:valAx>
        <c:axId val="1025106000"/>
        <c:scaling>
          <c:orientation val="minMax"/>
        </c:scaling>
        <c:delete val="0"/>
        <c:axPos val="l"/>
        <c:numFmt formatCode="0.00\ &quot;M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5090160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[Book1]Sheet11!PivotTable17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Sheet11!$I$1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Sheet11!$H$2:$H$39</c:f>
              <c:strCache>
                <c:ptCount val="37"/>
                <c:pt idx="0">
                  <c:v>ST103</c:v>
                </c:pt>
                <c:pt idx="1">
                  <c:v>ST143</c:v>
                </c:pt>
                <c:pt idx="2">
                  <c:v>ST106</c:v>
                </c:pt>
                <c:pt idx="3">
                  <c:v>ST102</c:v>
                </c:pt>
                <c:pt idx="4">
                  <c:v>ST125</c:v>
                </c:pt>
                <c:pt idx="5">
                  <c:v>ST410</c:v>
                </c:pt>
                <c:pt idx="6">
                  <c:v>ST167</c:v>
                </c:pt>
                <c:pt idx="7">
                  <c:v>ST180</c:v>
                </c:pt>
                <c:pt idx="8">
                  <c:v>ST129</c:v>
                </c:pt>
                <c:pt idx="9">
                  <c:v>ST132</c:v>
                </c:pt>
                <c:pt idx="10">
                  <c:v>ST118</c:v>
                </c:pt>
                <c:pt idx="11">
                  <c:v>ST186</c:v>
                </c:pt>
                <c:pt idx="12">
                  <c:v>ST218</c:v>
                </c:pt>
                <c:pt idx="13">
                  <c:v>ST593</c:v>
                </c:pt>
                <c:pt idx="14">
                  <c:v>ST110</c:v>
                </c:pt>
                <c:pt idx="15">
                  <c:v>ST120</c:v>
                </c:pt>
                <c:pt idx="16">
                  <c:v>ST101</c:v>
                </c:pt>
                <c:pt idx="17">
                  <c:v>ST144</c:v>
                </c:pt>
                <c:pt idx="18">
                  <c:v>ST301</c:v>
                </c:pt>
                <c:pt idx="19">
                  <c:v>ST116</c:v>
                </c:pt>
                <c:pt idx="20">
                  <c:v>ST130</c:v>
                </c:pt>
                <c:pt idx="21">
                  <c:v>ST603</c:v>
                </c:pt>
                <c:pt idx="22">
                  <c:v>ST138</c:v>
                </c:pt>
                <c:pt idx="23">
                  <c:v>ST414</c:v>
                </c:pt>
                <c:pt idx="24">
                  <c:v>ST188</c:v>
                </c:pt>
                <c:pt idx="25">
                  <c:v>ST555</c:v>
                </c:pt>
                <c:pt idx="26">
                  <c:v>ST233</c:v>
                </c:pt>
                <c:pt idx="27">
                  <c:v>ST133</c:v>
                </c:pt>
                <c:pt idx="28">
                  <c:v>ST230</c:v>
                </c:pt>
                <c:pt idx="29">
                  <c:v>ST166</c:v>
                </c:pt>
                <c:pt idx="30">
                  <c:v>ST199</c:v>
                </c:pt>
                <c:pt idx="31">
                  <c:v>ST253</c:v>
                </c:pt>
                <c:pt idx="32">
                  <c:v>ST135</c:v>
                </c:pt>
                <c:pt idx="33">
                  <c:v>ST177</c:v>
                </c:pt>
                <c:pt idx="34">
                  <c:v>ST112</c:v>
                </c:pt>
                <c:pt idx="35">
                  <c:v>ST463</c:v>
                </c:pt>
                <c:pt idx="36">
                  <c:v>ST354</c:v>
                </c:pt>
              </c:strCache>
            </c:strRef>
          </c:cat>
          <c:val>
            <c:numRef>
              <c:f>Sheet11!$I$2:$I$39</c:f>
              <c:numCache>
                <c:formatCode>General</c:formatCode>
                <c:ptCount val="37"/>
                <c:pt idx="0">
                  <c:v>3548835.7300399998</c:v>
                </c:pt>
                <c:pt idx="1">
                  <c:v>1004128.9100799999</c:v>
                </c:pt>
                <c:pt idx="2">
                  <c:v>748499.31993999996</c:v>
                </c:pt>
                <c:pt idx="3">
                  <c:v>608552.18902000005</c:v>
                </c:pt>
                <c:pt idx="4">
                  <c:v>558346.60030000005</c:v>
                </c:pt>
                <c:pt idx="5">
                  <c:v>516756.85048999998</c:v>
                </c:pt>
                <c:pt idx="6">
                  <c:v>486034.95964999998</c:v>
                </c:pt>
                <c:pt idx="7">
                  <c:v>467884.10019000003</c:v>
                </c:pt>
                <c:pt idx="8">
                  <c:v>427754.38959999999</c:v>
                </c:pt>
                <c:pt idx="9">
                  <c:v>426907.55061999999</c:v>
                </c:pt>
                <c:pt idx="10">
                  <c:v>416286.60988</c:v>
                </c:pt>
                <c:pt idx="11">
                  <c:v>413494.35949</c:v>
                </c:pt>
                <c:pt idx="12">
                  <c:v>407612.72990999999</c:v>
                </c:pt>
                <c:pt idx="13">
                  <c:v>382161.44050000003</c:v>
                </c:pt>
                <c:pt idx="14">
                  <c:v>382028.83016000001</c:v>
                </c:pt>
                <c:pt idx="15">
                  <c:v>370972.37018000003</c:v>
                </c:pt>
                <c:pt idx="16">
                  <c:v>365754.75102999998</c:v>
                </c:pt>
                <c:pt idx="17">
                  <c:v>346104.99924999999</c:v>
                </c:pt>
                <c:pt idx="18">
                  <c:v>334318.06936999998</c:v>
                </c:pt>
                <c:pt idx="19">
                  <c:v>291430.22951999999</c:v>
                </c:pt>
                <c:pt idx="20">
                  <c:v>258995.71960000001</c:v>
                </c:pt>
                <c:pt idx="21">
                  <c:v>258617.90036</c:v>
                </c:pt>
                <c:pt idx="22">
                  <c:v>257113.05987</c:v>
                </c:pt>
                <c:pt idx="23">
                  <c:v>255937.38013000001</c:v>
                </c:pt>
                <c:pt idx="24">
                  <c:v>249339.72977000001</c:v>
                </c:pt>
                <c:pt idx="25">
                  <c:v>242148.40014000001</c:v>
                </c:pt>
                <c:pt idx="26">
                  <c:v>236079.62020999999</c:v>
                </c:pt>
                <c:pt idx="27">
                  <c:v>232258.46969999999</c:v>
                </c:pt>
                <c:pt idx="28">
                  <c:v>226276.22013999999</c:v>
                </c:pt>
                <c:pt idx="29">
                  <c:v>220351.76013000001</c:v>
                </c:pt>
                <c:pt idx="30">
                  <c:v>219716.86947999999</c:v>
                </c:pt>
                <c:pt idx="31">
                  <c:v>219202.73976</c:v>
                </c:pt>
                <c:pt idx="32">
                  <c:v>209661.56031</c:v>
                </c:pt>
                <c:pt idx="33">
                  <c:v>202604.03013999999</c:v>
                </c:pt>
                <c:pt idx="34">
                  <c:v>201965.42983000001</c:v>
                </c:pt>
                <c:pt idx="35">
                  <c:v>196849.33067</c:v>
                </c:pt>
                <c:pt idx="36">
                  <c:v>161496.10010000001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E3-4290-B58F-03E16F420D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62881215"/>
        <c:axId val="262883135"/>
      </c:barChart>
      <c:catAx>
        <c:axId val="262881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2883135"/>
        <c:crosses val="autoZero"/>
        <c:auto val="1"/>
        <c:lblAlgn val="ctr"/>
        <c:lblOffset val="100"/>
        <c:noMultiLvlLbl val="0"/>
      </c:catAx>
      <c:valAx>
        <c:axId val="26288313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2881215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[Book1]Sheet12!PivotTable18</c:name>
    <c:fmtId val="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Profit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Sheet12!$I$1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Sheet12!$H$2:$H$39</c:f>
              <c:strCache>
                <c:ptCount val="37"/>
                <c:pt idx="0">
                  <c:v>ST103</c:v>
                </c:pt>
                <c:pt idx="1">
                  <c:v>ST143</c:v>
                </c:pt>
                <c:pt idx="2">
                  <c:v>ST106</c:v>
                </c:pt>
                <c:pt idx="3">
                  <c:v>ST180</c:v>
                </c:pt>
                <c:pt idx="4">
                  <c:v>ST218</c:v>
                </c:pt>
                <c:pt idx="5">
                  <c:v>ST132</c:v>
                </c:pt>
                <c:pt idx="6">
                  <c:v>ST102</c:v>
                </c:pt>
                <c:pt idx="7">
                  <c:v>ST410</c:v>
                </c:pt>
                <c:pt idx="8">
                  <c:v>ST186</c:v>
                </c:pt>
                <c:pt idx="9">
                  <c:v>ST118</c:v>
                </c:pt>
                <c:pt idx="10">
                  <c:v>ST125</c:v>
                </c:pt>
                <c:pt idx="11">
                  <c:v>ST167</c:v>
                </c:pt>
                <c:pt idx="12">
                  <c:v>ST129</c:v>
                </c:pt>
                <c:pt idx="13">
                  <c:v>ST603</c:v>
                </c:pt>
                <c:pt idx="14">
                  <c:v>ST116</c:v>
                </c:pt>
                <c:pt idx="15">
                  <c:v>ST101</c:v>
                </c:pt>
                <c:pt idx="16">
                  <c:v>ST555</c:v>
                </c:pt>
                <c:pt idx="17">
                  <c:v>ST120</c:v>
                </c:pt>
                <c:pt idx="18">
                  <c:v>ST130</c:v>
                </c:pt>
                <c:pt idx="19">
                  <c:v>ST593</c:v>
                </c:pt>
                <c:pt idx="20">
                  <c:v>ST110</c:v>
                </c:pt>
                <c:pt idx="21">
                  <c:v>ST253</c:v>
                </c:pt>
                <c:pt idx="22">
                  <c:v>ST112</c:v>
                </c:pt>
                <c:pt idx="23">
                  <c:v>ST144</c:v>
                </c:pt>
                <c:pt idx="24">
                  <c:v>ST138</c:v>
                </c:pt>
                <c:pt idx="25">
                  <c:v>ST188</c:v>
                </c:pt>
                <c:pt idx="26">
                  <c:v>ST177</c:v>
                </c:pt>
                <c:pt idx="27">
                  <c:v>ST135</c:v>
                </c:pt>
                <c:pt idx="28">
                  <c:v>ST301</c:v>
                </c:pt>
                <c:pt idx="29">
                  <c:v>ST230</c:v>
                </c:pt>
                <c:pt idx="30">
                  <c:v>ST233</c:v>
                </c:pt>
                <c:pt idx="31">
                  <c:v>ST133</c:v>
                </c:pt>
                <c:pt idx="32">
                  <c:v>ST199</c:v>
                </c:pt>
                <c:pt idx="33">
                  <c:v>ST166</c:v>
                </c:pt>
                <c:pt idx="34">
                  <c:v>ST414</c:v>
                </c:pt>
                <c:pt idx="35">
                  <c:v>ST463</c:v>
                </c:pt>
                <c:pt idx="36">
                  <c:v>ST354</c:v>
                </c:pt>
              </c:strCache>
            </c:strRef>
          </c:cat>
          <c:val>
            <c:numRef>
              <c:f>Sheet12!$I$2:$I$39</c:f>
              <c:numCache>
                <c:formatCode>General</c:formatCode>
                <c:ptCount val="37"/>
                <c:pt idx="0">
                  <c:v>535011.91590000002</c:v>
                </c:pt>
                <c:pt idx="1">
                  <c:v>182352.04681</c:v>
                </c:pt>
                <c:pt idx="2">
                  <c:v>103113.78167</c:v>
                </c:pt>
                <c:pt idx="3">
                  <c:v>81817.05704</c:v>
                </c:pt>
                <c:pt idx="4">
                  <c:v>73786.376910000006</c:v>
                </c:pt>
                <c:pt idx="5">
                  <c:v>70393.7405</c:v>
                </c:pt>
                <c:pt idx="6">
                  <c:v>70343.570600000006</c:v>
                </c:pt>
                <c:pt idx="7">
                  <c:v>69833.341329999996</c:v>
                </c:pt>
                <c:pt idx="8">
                  <c:v>68372.169089999996</c:v>
                </c:pt>
                <c:pt idx="9">
                  <c:v>67633.309699999998</c:v>
                </c:pt>
                <c:pt idx="10">
                  <c:v>67574.500650000002</c:v>
                </c:pt>
                <c:pt idx="11">
                  <c:v>67231.899350000007</c:v>
                </c:pt>
                <c:pt idx="12">
                  <c:v>55867.47984</c:v>
                </c:pt>
                <c:pt idx="13">
                  <c:v>54046.209940000001</c:v>
                </c:pt>
                <c:pt idx="14">
                  <c:v>49087.079080000003</c:v>
                </c:pt>
                <c:pt idx="15">
                  <c:v>48338.320939999998</c:v>
                </c:pt>
                <c:pt idx="16">
                  <c:v>48186.090949999998</c:v>
                </c:pt>
                <c:pt idx="17">
                  <c:v>46192.719920000003</c:v>
                </c:pt>
                <c:pt idx="18">
                  <c:v>41083.52968</c:v>
                </c:pt>
                <c:pt idx="19">
                  <c:v>40249.171759999997</c:v>
                </c:pt>
                <c:pt idx="20">
                  <c:v>37115.66085</c:v>
                </c:pt>
                <c:pt idx="21">
                  <c:v>35515.769549999997</c:v>
                </c:pt>
                <c:pt idx="22">
                  <c:v>33663.510240000003</c:v>
                </c:pt>
                <c:pt idx="23">
                  <c:v>33565.50937</c:v>
                </c:pt>
                <c:pt idx="24">
                  <c:v>33285.21082</c:v>
                </c:pt>
                <c:pt idx="25">
                  <c:v>32108.449769999999</c:v>
                </c:pt>
                <c:pt idx="26">
                  <c:v>30853.940360000001</c:v>
                </c:pt>
                <c:pt idx="27">
                  <c:v>30709.290430000001</c:v>
                </c:pt>
                <c:pt idx="28">
                  <c:v>30407.670040000001</c:v>
                </c:pt>
                <c:pt idx="29">
                  <c:v>30020.28054</c:v>
                </c:pt>
                <c:pt idx="30">
                  <c:v>29225.540949999999</c:v>
                </c:pt>
                <c:pt idx="31">
                  <c:v>27611.92916</c:v>
                </c:pt>
                <c:pt idx="32">
                  <c:v>27547.80889</c:v>
                </c:pt>
                <c:pt idx="33">
                  <c:v>25376.090540000001</c:v>
                </c:pt>
                <c:pt idx="34">
                  <c:v>23715.819479999998</c:v>
                </c:pt>
                <c:pt idx="35">
                  <c:v>23359.73273</c:v>
                </c:pt>
                <c:pt idx="36">
                  <c:v>18734.641240000001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C8-4767-8D5B-DF03A604AF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62914335"/>
        <c:axId val="262901375"/>
      </c:barChart>
      <c:catAx>
        <c:axId val="2629143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2901375"/>
        <c:crosses val="autoZero"/>
        <c:auto val="1"/>
        <c:lblAlgn val="ctr"/>
        <c:lblOffset val="100"/>
        <c:noMultiLvlLbl val="0"/>
      </c:catAx>
      <c:valAx>
        <c:axId val="26290137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2914335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Total Customers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StoreWise_Performance!$B$1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StoreWise_Performance!$A$2:$A$38</c:f>
              <c:strCache>
                <c:ptCount val="37"/>
                <c:pt idx="0">
                  <c:v>ST103</c:v>
                </c:pt>
                <c:pt idx="1">
                  <c:v>ST143</c:v>
                </c:pt>
                <c:pt idx="2">
                  <c:v>ST106</c:v>
                </c:pt>
                <c:pt idx="3">
                  <c:v>ST132</c:v>
                </c:pt>
                <c:pt idx="4">
                  <c:v>ST118</c:v>
                </c:pt>
                <c:pt idx="5">
                  <c:v>ST167</c:v>
                </c:pt>
                <c:pt idx="6">
                  <c:v>ST186</c:v>
                </c:pt>
                <c:pt idx="7">
                  <c:v>ST102</c:v>
                </c:pt>
                <c:pt idx="8">
                  <c:v>ST125</c:v>
                </c:pt>
                <c:pt idx="9">
                  <c:v>ST218</c:v>
                </c:pt>
                <c:pt idx="10">
                  <c:v>ST129</c:v>
                </c:pt>
                <c:pt idx="11">
                  <c:v>ST410</c:v>
                </c:pt>
                <c:pt idx="12">
                  <c:v>ST101</c:v>
                </c:pt>
                <c:pt idx="13">
                  <c:v>ST116</c:v>
                </c:pt>
                <c:pt idx="14">
                  <c:v>ST555</c:v>
                </c:pt>
                <c:pt idx="15">
                  <c:v>ST593</c:v>
                </c:pt>
                <c:pt idx="16">
                  <c:v>ST180</c:v>
                </c:pt>
                <c:pt idx="17">
                  <c:v>ST603</c:v>
                </c:pt>
                <c:pt idx="18">
                  <c:v>ST253</c:v>
                </c:pt>
                <c:pt idx="19">
                  <c:v>ST120</c:v>
                </c:pt>
                <c:pt idx="20">
                  <c:v>ST130</c:v>
                </c:pt>
                <c:pt idx="21">
                  <c:v>ST138</c:v>
                </c:pt>
                <c:pt idx="22">
                  <c:v>ST144</c:v>
                </c:pt>
                <c:pt idx="23">
                  <c:v>ST301</c:v>
                </c:pt>
                <c:pt idx="24">
                  <c:v>ST177</c:v>
                </c:pt>
                <c:pt idx="25">
                  <c:v>ST112</c:v>
                </c:pt>
                <c:pt idx="26">
                  <c:v>ST188</c:v>
                </c:pt>
                <c:pt idx="27">
                  <c:v>ST199</c:v>
                </c:pt>
                <c:pt idx="28">
                  <c:v>ST110</c:v>
                </c:pt>
                <c:pt idx="29">
                  <c:v>ST230</c:v>
                </c:pt>
                <c:pt idx="30">
                  <c:v>ST133</c:v>
                </c:pt>
                <c:pt idx="31">
                  <c:v>ST233</c:v>
                </c:pt>
                <c:pt idx="32">
                  <c:v>ST135</c:v>
                </c:pt>
                <c:pt idx="33">
                  <c:v>ST414</c:v>
                </c:pt>
                <c:pt idx="34">
                  <c:v>ST463</c:v>
                </c:pt>
                <c:pt idx="35">
                  <c:v>ST166</c:v>
                </c:pt>
                <c:pt idx="36">
                  <c:v>ST354</c:v>
                </c:pt>
              </c:strCache>
            </c:strRef>
          </c:cat>
          <c:val>
            <c:numRef>
              <c:f>StoreWise_Performance!$B$2:$B$38</c:f>
              <c:numCache>
                <c:formatCode>General</c:formatCode>
                <c:ptCount val="37"/>
                <c:pt idx="0">
                  <c:v>24952</c:v>
                </c:pt>
                <c:pt idx="1">
                  <c:v>7295</c:v>
                </c:pt>
                <c:pt idx="2">
                  <c:v>3970</c:v>
                </c:pt>
                <c:pt idx="3">
                  <c:v>3561</c:v>
                </c:pt>
                <c:pt idx="4">
                  <c:v>3121</c:v>
                </c:pt>
                <c:pt idx="5">
                  <c:v>3054</c:v>
                </c:pt>
                <c:pt idx="6">
                  <c:v>2931</c:v>
                </c:pt>
                <c:pt idx="7">
                  <c:v>2732</c:v>
                </c:pt>
                <c:pt idx="8">
                  <c:v>2671</c:v>
                </c:pt>
                <c:pt idx="9">
                  <c:v>2653</c:v>
                </c:pt>
                <c:pt idx="10">
                  <c:v>2234</c:v>
                </c:pt>
                <c:pt idx="11">
                  <c:v>2187</c:v>
                </c:pt>
                <c:pt idx="12">
                  <c:v>2183</c:v>
                </c:pt>
                <c:pt idx="13">
                  <c:v>2153</c:v>
                </c:pt>
                <c:pt idx="14">
                  <c:v>1987</c:v>
                </c:pt>
                <c:pt idx="15">
                  <c:v>1981</c:v>
                </c:pt>
                <c:pt idx="16">
                  <c:v>1961</c:v>
                </c:pt>
                <c:pt idx="17">
                  <c:v>1829</c:v>
                </c:pt>
                <c:pt idx="18">
                  <c:v>1790</c:v>
                </c:pt>
                <c:pt idx="19">
                  <c:v>1744</c:v>
                </c:pt>
                <c:pt idx="20">
                  <c:v>1690</c:v>
                </c:pt>
                <c:pt idx="21">
                  <c:v>1651</c:v>
                </c:pt>
                <c:pt idx="22">
                  <c:v>1648</c:v>
                </c:pt>
                <c:pt idx="23">
                  <c:v>1431</c:v>
                </c:pt>
                <c:pt idx="24">
                  <c:v>1407</c:v>
                </c:pt>
                <c:pt idx="25">
                  <c:v>1370</c:v>
                </c:pt>
                <c:pt idx="26">
                  <c:v>1332</c:v>
                </c:pt>
                <c:pt idx="27">
                  <c:v>1330</c:v>
                </c:pt>
                <c:pt idx="28">
                  <c:v>1318</c:v>
                </c:pt>
                <c:pt idx="29">
                  <c:v>1206</c:v>
                </c:pt>
                <c:pt idx="30">
                  <c:v>1177</c:v>
                </c:pt>
                <c:pt idx="31">
                  <c:v>1082</c:v>
                </c:pt>
                <c:pt idx="32">
                  <c:v>1073</c:v>
                </c:pt>
                <c:pt idx="33">
                  <c:v>904</c:v>
                </c:pt>
                <c:pt idx="34">
                  <c:v>878</c:v>
                </c:pt>
                <c:pt idx="35">
                  <c:v>873</c:v>
                </c:pt>
                <c:pt idx="36">
                  <c:v>559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A5-4240-89EF-BA45BCAFDB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5118480"/>
        <c:axId val="1025110320"/>
      </c:barChart>
      <c:catAx>
        <c:axId val="10251184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5110320"/>
        <c:crosses val="autoZero"/>
        <c:auto val="1"/>
        <c:lblAlgn val="ctr"/>
        <c:lblOffset val="100"/>
        <c:noMultiLvlLbl val="0"/>
      </c:catAx>
      <c:valAx>
        <c:axId val="1025110320"/>
        <c:scaling>
          <c:orientation val="minMax"/>
        </c:scaling>
        <c:delete val="0"/>
        <c:axPos val="l"/>
        <c:numFmt formatCode="0.00\ &quot;K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5118480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Total Orders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StoreWise_Performance!$J$1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StoreWise_Performance!$I$2:$I$38</c:f>
              <c:strCache>
                <c:ptCount val="37"/>
                <c:pt idx="0">
                  <c:v>ST103</c:v>
                </c:pt>
                <c:pt idx="1">
                  <c:v>ST143</c:v>
                </c:pt>
                <c:pt idx="2">
                  <c:v>ST106</c:v>
                </c:pt>
                <c:pt idx="3">
                  <c:v>ST132</c:v>
                </c:pt>
                <c:pt idx="4">
                  <c:v>ST118</c:v>
                </c:pt>
                <c:pt idx="5">
                  <c:v>ST167</c:v>
                </c:pt>
                <c:pt idx="6">
                  <c:v>ST186</c:v>
                </c:pt>
                <c:pt idx="7">
                  <c:v>ST102</c:v>
                </c:pt>
                <c:pt idx="8">
                  <c:v>ST125</c:v>
                </c:pt>
                <c:pt idx="9">
                  <c:v>ST218</c:v>
                </c:pt>
                <c:pt idx="10">
                  <c:v>ST129</c:v>
                </c:pt>
                <c:pt idx="11">
                  <c:v>ST410</c:v>
                </c:pt>
                <c:pt idx="12">
                  <c:v>ST101</c:v>
                </c:pt>
                <c:pt idx="13">
                  <c:v>ST116</c:v>
                </c:pt>
                <c:pt idx="14">
                  <c:v>ST555</c:v>
                </c:pt>
                <c:pt idx="15">
                  <c:v>ST593</c:v>
                </c:pt>
                <c:pt idx="16">
                  <c:v>ST180</c:v>
                </c:pt>
                <c:pt idx="17">
                  <c:v>ST603</c:v>
                </c:pt>
                <c:pt idx="18">
                  <c:v>ST253</c:v>
                </c:pt>
                <c:pt idx="19">
                  <c:v>ST120</c:v>
                </c:pt>
                <c:pt idx="20">
                  <c:v>ST130</c:v>
                </c:pt>
                <c:pt idx="21">
                  <c:v>ST138</c:v>
                </c:pt>
                <c:pt idx="22">
                  <c:v>ST144</c:v>
                </c:pt>
                <c:pt idx="23">
                  <c:v>ST301</c:v>
                </c:pt>
                <c:pt idx="24">
                  <c:v>ST177</c:v>
                </c:pt>
                <c:pt idx="25">
                  <c:v>ST112</c:v>
                </c:pt>
                <c:pt idx="26">
                  <c:v>ST188</c:v>
                </c:pt>
                <c:pt idx="27">
                  <c:v>ST199</c:v>
                </c:pt>
                <c:pt idx="28">
                  <c:v>ST110</c:v>
                </c:pt>
                <c:pt idx="29">
                  <c:v>ST230</c:v>
                </c:pt>
                <c:pt idx="30">
                  <c:v>ST133</c:v>
                </c:pt>
                <c:pt idx="31">
                  <c:v>ST233</c:v>
                </c:pt>
                <c:pt idx="32">
                  <c:v>ST135</c:v>
                </c:pt>
                <c:pt idx="33">
                  <c:v>ST414</c:v>
                </c:pt>
                <c:pt idx="34">
                  <c:v>ST463</c:v>
                </c:pt>
                <c:pt idx="35">
                  <c:v>ST166</c:v>
                </c:pt>
                <c:pt idx="36">
                  <c:v>ST354</c:v>
                </c:pt>
              </c:strCache>
            </c:strRef>
          </c:cat>
          <c:val>
            <c:numRef>
              <c:f>StoreWise_Performance!$J$2:$J$38</c:f>
              <c:numCache>
                <c:formatCode>General</c:formatCode>
                <c:ptCount val="37"/>
                <c:pt idx="0">
                  <c:v>24965</c:v>
                </c:pt>
                <c:pt idx="1">
                  <c:v>7298</c:v>
                </c:pt>
                <c:pt idx="2">
                  <c:v>3970</c:v>
                </c:pt>
                <c:pt idx="3">
                  <c:v>3561</c:v>
                </c:pt>
                <c:pt idx="4">
                  <c:v>3122</c:v>
                </c:pt>
                <c:pt idx="5">
                  <c:v>3055</c:v>
                </c:pt>
                <c:pt idx="6">
                  <c:v>2931</c:v>
                </c:pt>
                <c:pt idx="7">
                  <c:v>2732</c:v>
                </c:pt>
                <c:pt idx="8">
                  <c:v>2671</c:v>
                </c:pt>
                <c:pt idx="9">
                  <c:v>2653</c:v>
                </c:pt>
                <c:pt idx="10">
                  <c:v>2234</c:v>
                </c:pt>
                <c:pt idx="11">
                  <c:v>2187</c:v>
                </c:pt>
                <c:pt idx="12">
                  <c:v>2183</c:v>
                </c:pt>
                <c:pt idx="13">
                  <c:v>2153</c:v>
                </c:pt>
                <c:pt idx="14">
                  <c:v>1987</c:v>
                </c:pt>
                <c:pt idx="15">
                  <c:v>1981</c:v>
                </c:pt>
                <c:pt idx="16">
                  <c:v>1961</c:v>
                </c:pt>
                <c:pt idx="17">
                  <c:v>1829</c:v>
                </c:pt>
                <c:pt idx="18">
                  <c:v>1790</c:v>
                </c:pt>
                <c:pt idx="19">
                  <c:v>1744</c:v>
                </c:pt>
                <c:pt idx="20">
                  <c:v>1690</c:v>
                </c:pt>
                <c:pt idx="21">
                  <c:v>1652</c:v>
                </c:pt>
                <c:pt idx="22">
                  <c:v>1648</c:v>
                </c:pt>
                <c:pt idx="23">
                  <c:v>1431</c:v>
                </c:pt>
                <c:pt idx="24">
                  <c:v>1407</c:v>
                </c:pt>
                <c:pt idx="25">
                  <c:v>1370</c:v>
                </c:pt>
                <c:pt idx="26">
                  <c:v>1332</c:v>
                </c:pt>
                <c:pt idx="27">
                  <c:v>1330</c:v>
                </c:pt>
                <c:pt idx="28">
                  <c:v>1318</c:v>
                </c:pt>
                <c:pt idx="29">
                  <c:v>1206</c:v>
                </c:pt>
                <c:pt idx="30">
                  <c:v>1177</c:v>
                </c:pt>
                <c:pt idx="31">
                  <c:v>1082</c:v>
                </c:pt>
                <c:pt idx="32">
                  <c:v>1073</c:v>
                </c:pt>
                <c:pt idx="33">
                  <c:v>904</c:v>
                </c:pt>
                <c:pt idx="34">
                  <c:v>878</c:v>
                </c:pt>
                <c:pt idx="35">
                  <c:v>873</c:v>
                </c:pt>
                <c:pt idx="36">
                  <c:v>559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8A-43CF-B294-F3E53E0CCB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5097360"/>
        <c:axId val="1025089680"/>
      </c:barChart>
      <c:catAx>
        <c:axId val="1025097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5089680"/>
        <c:crosses val="autoZero"/>
        <c:auto val="1"/>
        <c:lblAlgn val="ctr"/>
        <c:lblOffset val="100"/>
        <c:noMultiLvlLbl val="0"/>
      </c:catAx>
      <c:valAx>
        <c:axId val="1025089680"/>
        <c:scaling>
          <c:orientation val="minMax"/>
        </c:scaling>
        <c:delete val="0"/>
        <c:axPos val="l"/>
        <c:numFmt formatCode="0.00\ &quot;K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5097360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Average</a:t>
            </a:r>
            <a:r>
              <a:rPr lang="en-US" b="1" baseline="0"/>
              <a:t> R</a:t>
            </a:r>
            <a:r>
              <a:rPr lang="en-US" b="1"/>
              <a:t>ating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StoreWise_Performance!$P$1</c:f>
              <c:strCache>
                <c:ptCount val="1"/>
                <c:pt idx="0">
                  <c:v>Avg_rating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StoreWise_Performance!$O$2:$O$38</c:f>
              <c:strCache>
                <c:ptCount val="37"/>
                <c:pt idx="0">
                  <c:v>ST138</c:v>
                </c:pt>
                <c:pt idx="1">
                  <c:v>ST301</c:v>
                </c:pt>
                <c:pt idx="2">
                  <c:v>ST106</c:v>
                </c:pt>
                <c:pt idx="3">
                  <c:v>ST414</c:v>
                </c:pt>
                <c:pt idx="4">
                  <c:v>ST130</c:v>
                </c:pt>
                <c:pt idx="5">
                  <c:v>ST120</c:v>
                </c:pt>
                <c:pt idx="6">
                  <c:v>ST118</c:v>
                </c:pt>
                <c:pt idx="7">
                  <c:v>ST230</c:v>
                </c:pt>
                <c:pt idx="8">
                  <c:v>ST135</c:v>
                </c:pt>
                <c:pt idx="9">
                  <c:v>ST603</c:v>
                </c:pt>
                <c:pt idx="10">
                  <c:v>ST110</c:v>
                </c:pt>
                <c:pt idx="11">
                  <c:v>ST144</c:v>
                </c:pt>
                <c:pt idx="12">
                  <c:v>ST555</c:v>
                </c:pt>
                <c:pt idx="13">
                  <c:v>ST593</c:v>
                </c:pt>
                <c:pt idx="14">
                  <c:v>ST218</c:v>
                </c:pt>
                <c:pt idx="15">
                  <c:v>ST132</c:v>
                </c:pt>
                <c:pt idx="16">
                  <c:v>ST253</c:v>
                </c:pt>
                <c:pt idx="17">
                  <c:v>ST129</c:v>
                </c:pt>
                <c:pt idx="18">
                  <c:v>ST102</c:v>
                </c:pt>
                <c:pt idx="19">
                  <c:v>ST112</c:v>
                </c:pt>
                <c:pt idx="20">
                  <c:v>ST188</c:v>
                </c:pt>
                <c:pt idx="21">
                  <c:v>ST116</c:v>
                </c:pt>
                <c:pt idx="22">
                  <c:v>ST354</c:v>
                </c:pt>
                <c:pt idx="23">
                  <c:v>ST125</c:v>
                </c:pt>
                <c:pt idx="24">
                  <c:v>ST103</c:v>
                </c:pt>
                <c:pt idx="25">
                  <c:v>ST166</c:v>
                </c:pt>
                <c:pt idx="26">
                  <c:v>ST186</c:v>
                </c:pt>
                <c:pt idx="27">
                  <c:v>ST410</c:v>
                </c:pt>
                <c:pt idx="28">
                  <c:v>ST101</c:v>
                </c:pt>
                <c:pt idx="29">
                  <c:v>ST199</c:v>
                </c:pt>
                <c:pt idx="30">
                  <c:v>ST233</c:v>
                </c:pt>
                <c:pt idx="31">
                  <c:v>ST177</c:v>
                </c:pt>
                <c:pt idx="32">
                  <c:v>ST133</c:v>
                </c:pt>
                <c:pt idx="33">
                  <c:v>ST167</c:v>
                </c:pt>
                <c:pt idx="34">
                  <c:v>ST463</c:v>
                </c:pt>
                <c:pt idx="35">
                  <c:v>ST143</c:v>
                </c:pt>
                <c:pt idx="36">
                  <c:v>ST180</c:v>
                </c:pt>
              </c:strCache>
            </c:strRef>
          </c:cat>
          <c:val>
            <c:numRef>
              <c:f>StoreWise_Performance!$P$2:$P$38</c:f>
              <c:numCache>
                <c:formatCode>General</c:formatCode>
                <c:ptCount val="37"/>
                <c:pt idx="0">
                  <c:v>4.2607379999999999</c:v>
                </c:pt>
                <c:pt idx="1">
                  <c:v>4.2323789999999999</c:v>
                </c:pt>
                <c:pt idx="2">
                  <c:v>4.2171940000000001</c:v>
                </c:pt>
                <c:pt idx="3">
                  <c:v>4.212154</c:v>
                </c:pt>
                <c:pt idx="4">
                  <c:v>4.2025980000000001</c:v>
                </c:pt>
                <c:pt idx="5">
                  <c:v>4.1908570000000003</c:v>
                </c:pt>
                <c:pt idx="6">
                  <c:v>4.175135</c:v>
                </c:pt>
                <c:pt idx="7">
                  <c:v>4.1662530000000002</c:v>
                </c:pt>
                <c:pt idx="8">
                  <c:v>4.1631130000000001</c:v>
                </c:pt>
                <c:pt idx="9">
                  <c:v>4.1574070000000001</c:v>
                </c:pt>
                <c:pt idx="10">
                  <c:v>4.1500750000000002</c:v>
                </c:pt>
                <c:pt idx="11">
                  <c:v>4.1291690000000001</c:v>
                </c:pt>
                <c:pt idx="12">
                  <c:v>4.127008</c:v>
                </c:pt>
                <c:pt idx="13">
                  <c:v>4.1260079999999997</c:v>
                </c:pt>
                <c:pt idx="14">
                  <c:v>4.1203279999999998</c:v>
                </c:pt>
                <c:pt idx="15">
                  <c:v>4.1172199999999997</c:v>
                </c:pt>
                <c:pt idx="16">
                  <c:v>4.115513</c:v>
                </c:pt>
                <c:pt idx="17">
                  <c:v>4.1152639999999998</c:v>
                </c:pt>
                <c:pt idx="18">
                  <c:v>4.1083939999999997</c:v>
                </c:pt>
                <c:pt idx="19">
                  <c:v>4.0916360000000003</c:v>
                </c:pt>
                <c:pt idx="20">
                  <c:v>4.0901630000000004</c:v>
                </c:pt>
                <c:pt idx="21">
                  <c:v>4.0873379999999999</c:v>
                </c:pt>
                <c:pt idx="22">
                  <c:v>4.0831850000000003</c:v>
                </c:pt>
                <c:pt idx="23">
                  <c:v>4.0788979999999997</c:v>
                </c:pt>
                <c:pt idx="24">
                  <c:v>4.0747650000000002</c:v>
                </c:pt>
                <c:pt idx="25">
                  <c:v>4.0627849999999999</c:v>
                </c:pt>
                <c:pt idx="26">
                  <c:v>4.0492689999999998</c:v>
                </c:pt>
                <c:pt idx="27">
                  <c:v>4.0400910000000003</c:v>
                </c:pt>
                <c:pt idx="28">
                  <c:v>4.0356480000000001</c:v>
                </c:pt>
                <c:pt idx="29">
                  <c:v>4.0195480000000003</c:v>
                </c:pt>
                <c:pt idx="30">
                  <c:v>4.0192300000000003</c:v>
                </c:pt>
                <c:pt idx="31">
                  <c:v>3.996451</c:v>
                </c:pt>
                <c:pt idx="32">
                  <c:v>3.9957509999999998</c:v>
                </c:pt>
                <c:pt idx="33">
                  <c:v>3.9761820000000001</c:v>
                </c:pt>
                <c:pt idx="34">
                  <c:v>3.9068179999999999</c:v>
                </c:pt>
                <c:pt idx="35">
                  <c:v>3.9015520000000001</c:v>
                </c:pt>
                <c:pt idx="36">
                  <c:v>3.7559849999999999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AB-475B-9812-FCFC054ED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5128560"/>
        <c:axId val="1025134800"/>
      </c:barChart>
      <c:catAx>
        <c:axId val="1025128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5134800"/>
        <c:crosses val="autoZero"/>
        <c:auto val="1"/>
        <c:lblAlgn val="ctr"/>
        <c:lblOffset val="100"/>
        <c:noMultiLvlLbl val="0"/>
      </c:catAx>
      <c:valAx>
        <c:axId val="10251348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51285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[RFM_Gender_Analysis.xlsx]Year_Month_Wise!PivotTable1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Total Revenue by Month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Year_Month_Wise!$G$1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numFmt formatCode="0.00\ 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Year_Month_Wise!$F$2:$F$29</c:f>
              <c:multiLvlStrCache>
                <c:ptCount val="24"/>
                <c:lvl>
                  <c:pt idx="0">
                    <c:v>September</c:v>
                  </c:pt>
                  <c:pt idx="1">
                    <c:v>October</c:v>
                  </c:pt>
                  <c:pt idx="2">
                    <c:v>December</c:v>
                  </c:pt>
                  <c:pt idx="3">
                    <c:v>January</c:v>
                  </c:pt>
                  <c:pt idx="4">
                    <c:v>February</c:v>
                  </c:pt>
                  <c:pt idx="5">
                    <c:v>March</c:v>
                  </c:pt>
                  <c:pt idx="6">
                    <c:v>April</c:v>
                  </c:pt>
                  <c:pt idx="7">
                    <c:v>May</c:v>
                  </c:pt>
                  <c:pt idx="8">
                    <c:v>June</c:v>
                  </c:pt>
                  <c:pt idx="9">
                    <c:v>July</c:v>
                  </c:pt>
                  <c:pt idx="10">
                    <c:v>August</c:v>
                  </c:pt>
                  <c:pt idx="11">
                    <c:v>September</c:v>
                  </c:pt>
                  <c:pt idx="12">
                    <c:v>October</c:v>
                  </c:pt>
                  <c:pt idx="13">
                    <c:v>November</c:v>
                  </c:pt>
                  <c:pt idx="14">
                    <c:v>December</c:v>
                  </c:pt>
                  <c:pt idx="15">
                    <c:v>January</c:v>
                  </c:pt>
                  <c:pt idx="16">
                    <c:v>February</c:v>
                  </c:pt>
                  <c:pt idx="17">
                    <c:v>March</c:v>
                  </c:pt>
                  <c:pt idx="18">
                    <c:v>April</c:v>
                  </c:pt>
                  <c:pt idx="19">
                    <c:v>May</c:v>
                  </c:pt>
                  <c:pt idx="20">
                    <c:v>June</c:v>
                  </c:pt>
                  <c:pt idx="21">
                    <c:v>July</c:v>
                  </c:pt>
                  <c:pt idx="22">
                    <c:v>August</c:v>
                  </c:pt>
                  <c:pt idx="23">
                    <c:v>September</c:v>
                  </c:pt>
                </c:lvl>
                <c:lvl>
                  <c:pt idx="0">
                    <c:v>2021</c:v>
                  </c:pt>
                  <c:pt idx="3">
                    <c:v>2022</c:v>
                  </c:pt>
                  <c:pt idx="15">
                    <c:v>2023</c:v>
                  </c:pt>
                </c:lvl>
              </c:multiLvlStrCache>
            </c:multiLvlStrRef>
          </c:cat>
          <c:val>
            <c:numRef>
              <c:f>Year_Month_Wise!$G$2:$G$29</c:f>
              <c:numCache>
                <c:formatCode>0.00</c:formatCode>
                <c:ptCount val="24"/>
                <c:pt idx="0">
                  <c:v>75.059997558593807</c:v>
                </c:pt>
                <c:pt idx="1">
                  <c:v>55370.489993794799</c:v>
                </c:pt>
                <c:pt idx="2">
                  <c:v>19.620000839233398</c:v>
                </c:pt>
                <c:pt idx="3">
                  <c:v>88904.1200275421</c:v>
                </c:pt>
                <c:pt idx="4">
                  <c:v>274917.15955193801</c:v>
                </c:pt>
                <c:pt idx="5">
                  <c:v>383756.01951122301</c:v>
                </c:pt>
                <c:pt idx="6">
                  <c:v>345509.569676399</c:v>
                </c:pt>
                <c:pt idx="7">
                  <c:v>567678.28981049801</c:v>
                </c:pt>
                <c:pt idx="8">
                  <c:v>526700.49018287705</c:v>
                </c:pt>
                <c:pt idx="9">
                  <c:v>532830.53975550295</c:v>
                </c:pt>
                <c:pt idx="10">
                  <c:v>640403.81984947796</c:v>
                </c:pt>
                <c:pt idx="11">
                  <c:v>697303.13078244496</c:v>
                </c:pt>
                <c:pt idx="12">
                  <c:v>742739.76977110805</c:v>
                </c:pt>
                <c:pt idx="13">
                  <c:v>995286.70976301795</c:v>
                </c:pt>
                <c:pt idx="14">
                  <c:v>1021551.32985604</c:v>
                </c:pt>
                <c:pt idx="15">
                  <c:v>962435.60937674798</c:v>
                </c:pt>
                <c:pt idx="16">
                  <c:v>927524.02985850698</c:v>
                </c:pt>
                <c:pt idx="17">
                  <c:v>1186576.18981702</c:v>
                </c:pt>
                <c:pt idx="18">
                  <c:v>1091524.6204427599</c:v>
                </c:pt>
                <c:pt idx="19">
                  <c:v>1215392.45101561</c:v>
                </c:pt>
                <c:pt idx="20">
                  <c:v>999147.68043302803</c:v>
                </c:pt>
                <c:pt idx="21">
                  <c:v>942539.50952714297</c:v>
                </c:pt>
                <c:pt idx="22">
                  <c:v>1232116.9107268399</c:v>
                </c:pt>
                <c:pt idx="23">
                  <c:v>15847.3499843597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DB2-4B90-8413-02FFD5968B0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334189488"/>
        <c:axId val="1334207728"/>
      </c:lineChart>
      <c:catAx>
        <c:axId val="13341894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4207728"/>
        <c:crosses val="autoZero"/>
        <c:auto val="1"/>
        <c:lblAlgn val="ctr"/>
        <c:lblOffset val="100"/>
        <c:noMultiLvlLbl val="0"/>
      </c:catAx>
      <c:valAx>
        <c:axId val="133420772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4189488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[RFM_Gender_Analysis.xlsx]Year_Month_Wise!PivotTable2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endParaRPr lang="en-IN" sz="1800" b="1" i="0" u="none" strike="noStrike" baseline="0" dirty="0">
              <a:latin typeface="Bierstadt (Body)"/>
            </a:endParaRPr>
          </a:p>
          <a:p>
            <a:pPr>
              <a:defRPr/>
            </a:pPr>
            <a:r>
              <a:rPr lang="en-US" sz="1800" b="1" i="0" u="none" strike="noStrike" baseline="0" dirty="0">
                <a:latin typeface="Bierstadt (Body)"/>
              </a:rPr>
              <a:t>Monthly </a:t>
            </a:r>
            <a:r>
              <a:rPr lang="en-US" sz="18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Bierstadt (Body)"/>
                <a:ea typeface="+mn-ea"/>
                <a:cs typeface="+mn-cs"/>
              </a:rPr>
              <a:t>Revenue</a:t>
            </a:r>
            <a:r>
              <a:rPr lang="en-US" sz="1800" b="1" i="0" u="none" strike="noStrike" baseline="0" dirty="0">
                <a:latin typeface="Bierstadt (Body)"/>
              </a:rPr>
              <a:t> and Customer Count </a:t>
            </a:r>
            <a:endParaRPr lang="en-IN" sz="1800" b="1" dirty="0">
              <a:latin typeface="Bierstadt (Body)"/>
            </a:endParaRPr>
          </a:p>
        </c:rich>
      </c:tx>
      <c:layout>
        <c:manualLayout>
          <c:xMode val="edge"/>
          <c:yMode val="edge"/>
          <c:x val="0.3193478718452008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cap="none" spc="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circle"/>
          <c:size val="8"/>
          <c:spPr>
            <a:solidFill>
              <a:schemeClr val="accent4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circle"/>
          <c:size val="8"/>
          <c:spPr>
            <a:solidFill>
              <a:schemeClr val="accent4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4"/>
          </a:solidFill>
          <a:ln>
            <a:noFill/>
          </a:ln>
          <a:effectLst/>
        </c:spPr>
        <c:marker>
          <c:symbol val="circle"/>
          <c:size val="8"/>
          <c:spPr>
            <a:solidFill>
              <a:schemeClr val="accent4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4"/>
          </a:solidFill>
          <a:ln>
            <a:noFill/>
          </a:ln>
          <a:effectLst/>
        </c:spPr>
        <c:marker>
          <c:symbol val="circle"/>
          <c:size val="8"/>
          <c:spPr>
            <a:solidFill>
              <a:schemeClr val="accent4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8.7782933976641941E-2"/>
          <c:y val="0.21598157312492511"/>
          <c:w val="0.84417058616433338"/>
          <c:h val="0.4862672107285179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Year_Month_Wise!$H$33</c:f>
              <c:strCache>
                <c:ptCount val="1"/>
                <c:pt idx="0">
                  <c:v>Sum of Customers</c:v>
                </c:pt>
              </c:strCache>
            </c:strRef>
          </c:tx>
          <c:spPr>
            <a:solidFill>
              <a:schemeClr val="accent4">
                <a:shade val="76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multiLvlStrRef>
              <c:f>Year_Month_Wise!$G$34:$G$61</c:f>
              <c:multiLvlStrCache>
                <c:ptCount val="24"/>
                <c:lvl>
                  <c:pt idx="0">
                    <c:v>September</c:v>
                  </c:pt>
                  <c:pt idx="1">
                    <c:v>October</c:v>
                  </c:pt>
                  <c:pt idx="2">
                    <c:v>December</c:v>
                  </c:pt>
                  <c:pt idx="3">
                    <c:v>January</c:v>
                  </c:pt>
                  <c:pt idx="4">
                    <c:v>February</c:v>
                  </c:pt>
                  <c:pt idx="5">
                    <c:v>March</c:v>
                  </c:pt>
                  <c:pt idx="6">
                    <c:v>April</c:v>
                  </c:pt>
                  <c:pt idx="7">
                    <c:v>May</c:v>
                  </c:pt>
                  <c:pt idx="8">
                    <c:v>June</c:v>
                  </c:pt>
                  <c:pt idx="9">
                    <c:v>July</c:v>
                  </c:pt>
                  <c:pt idx="10">
                    <c:v>August</c:v>
                  </c:pt>
                  <c:pt idx="11">
                    <c:v>September</c:v>
                  </c:pt>
                  <c:pt idx="12">
                    <c:v>October</c:v>
                  </c:pt>
                  <c:pt idx="13">
                    <c:v>November</c:v>
                  </c:pt>
                  <c:pt idx="14">
                    <c:v>December</c:v>
                  </c:pt>
                  <c:pt idx="15">
                    <c:v>January</c:v>
                  </c:pt>
                  <c:pt idx="16">
                    <c:v>February</c:v>
                  </c:pt>
                  <c:pt idx="17">
                    <c:v>March</c:v>
                  </c:pt>
                  <c:pt idx="18">
                    <c:v>April</c:v>
                  </c:pt>
                  <c:pt idx="19">
                    <c:v>May</c:v>
                  </c:pt>
                  <c:pt idx="20">
                    <c:v>June</c:v>
                  </c:pt>
                  <c:pt idx="21">
                    <c:v>July</c:v>
                  </c:pt>
                  <c:pt idx="22">
                    <c:v>August</c:v>
                  </c:pt>
                  <c:pt idx="23">
                    <c:v>September</c:v>
                  </c:pt>
                </c:lvl>
                <c:lvl>
                  <c:pt idx="0">
                    <c:v>2021</c:v>
                  </c:pt>
                  <c:pt idx="3">
                    <c:v>2022</c:v>
                  </c:pt>
                  <c:pt idx="15">
                    <c:v>2023</c:v>
                  </c:pt>
                </c:lvl>
              </c:multiLvlStrCache>
            </c:multiLvlStrRef>
          </c:cat>
          <c:val>
            <c:numRef>
              <c:f>Year_Month_Wise!$H$34:$H$61</c:f>
              <c:numCache>
                <c:formatCode>General</c:formatCode>
                <c:ptCount val="24"/>
                <c:pt idx="0">
                  <c:v>1</c:v>
                </c:pt>
                <c:pt idx="1">
                  <c:v>299</c:v>
                </c:pt>
                <c:pt idx="2">
                  <c:v>1</c:v>
                </c:pt>
                <c:pt idx="3">
                  <c:v>560</c:v>
                </c:pt>
                <c:pt idx="4">
                  <c:v>1607</c:v>
                </c:pt>
                <c:pt idx="5">
                  <c:v>2343</c:v>
                </c:pt>
                <c:pt idx="6">
                  <c:v>2076</c:v>
                </c:pt>
                <c:pt idx="7">
                  <c:v>3573</c:v>
                </c:pt>
                <c:pt idx="8">
                  <c:v>3318</c:v>
                </c:pt>
                <c:pt idx="9">
                  <c:v>3575</c:v>
                </c:pt>
                <c:pt idx="10">
                  <c:v>4314</c:v>
                </c:pt>
                <c:pt idx="11">
                  <c:v>4099</c:v>
                </c:pt>
                <c:pt idx="12">
                  <c:v>4419</c:v>
                </c:pt>
                <c:pt idx="13">
                  <c:v>6177</c:v>
                </c:pt>
                <c:pt idx="14">
                  <c:v>6646</c:v>
                </c:pt>
                <c:pt idx="15">
                  <c:v>6515</c:v>
                </c:pt>
                <c:pt idx="16">
                  <c:v>6323</c:v>
                </c:pt>
                <c:pt idx="17">
                  <c:v>7527</c:v>
                </c:pt>
                <c:pt idx="18">
                  <c:v>6550</c:v>
                </c:pt>
                <c:pt idx="19">
                  <c:v>7446</c:v>
                </c:pt>
                <c:pt idx="20">
                  <c:v>5925</c:v>
                </c:pt>
                <c:pt idx="21">
                  <c:v>5840</c:v>
                </c:pt>
                <c:pt idx="22">
                  <c:v>7701</c:v>
                </c:pt>
                <c:pt idx="23">
                  <c:v>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95-4189-8E02-8A5B8395F6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69"/>
        <c:axId val="1488299664"/>
        <c:axId val="1488295824"/>
      </c:barChart>
      <c:lineChart>
        <c:grouping val="standard"/>
        <c:varyColors val="0"/>
        <c:ser>
          <c:idx val="1"/>
          <c:order val="1"/>
          <c:tx>
            <c:strRef>
              <c:f>Year_Month_Wise!$I$33</c:f>
              <c:strCache>
                <c:ptCount val="1"/>
                <c:pt idx="0">
                  <c:v>Sum of Revenue</c:v>
                </c:pt>
              </c:strCache>
            </c:strRef>
          </c:tx>
          <c:spPr>
            <a:ln w="38100" cap="rnd">
              <a:solidFill>
                <a:schemeClr val="accent4">
                  <a:tint val="77000"/>
                </a:schemeClr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accent3"/>
              </a:solidFill>
              <a:ln>
                <a:noFill/>
              </a:ln>
              <a:effectLst/>
            </c:spPr>
          </c:marker>
          <c:dLbls>
            <c:delete val="1"/>
          </c:dLbls>
          <c:cat>
            <c:multiLvlStrRef>
              <c:f>Year_Month_Wise!$G$34:$G$61</c:f>
              <c:multiLvlStrCache>
                <c:ptCount val="24"/>
                <c:lvl>
                  <c:pt idx="0">
                    <c:v>September</c:v>
                  </c:pt>
                  <c:pt idx="1">
                    <c:v>October</c:v>
                  </c:pt>
                  <c:pt idx="2">
                    <c:v>December</c:v>
                  </c:pt>
                  <c:pt idx="3">
                    <c:v>January</c:v>
                  </c:pt>
                  <c:pt idx="4">
                    <c:v>February</c:v>
                  </c:pt>
                  <c:pt idx="5">
                    <c:v>March</c:v>
                  </c:pt>
                  <c:pt idx="6">
                    <c:v>April</c:v>
                  </c:pt>
                  <c:pt idx="7">
                    <c:v>May</c:v>
                  </c:pt>
                  <c:pt idx="8">
                    <c:v>June</c:v>
                  </c:pt>
                  <c:pt idx="9">
                    <c:v>July</c:v>
                  </c:pt>
                  <c:pt idx="10">
                    <c:v>August</c:v>
                  </c:pt>
                  <c:pt idx="11">
                    <c:v>September</c:v>
                  </c:pt>
                  <c:pt idx="12">
                    <c:v>October</c:v>
                  </c:pt>
                  <c:pt idx="13">
                    <c:v>November</c:v>
                  </c:pt>
                  <c:pt idx="14">
                    <c:v>December</c:v>
                  </c:pt>
                  <c:pt idx="15">
                    <c:v>January</c:v>
                  </c:pt>
                  <c:pt idx="16">
                    <c:v>February</c:v>
                  </c:pt>
                  <c:pt idx="17">
                    <c:v>March</c:v>
                  </c:pt>
                  <c:pt idx="18">
                    <c:v>April</c:v>
                  </c:pt>
                  <c:pt idx="19">
                    <c:v>May</c:v>
                  </c:pt>
                  <c:pt idx="20">
                    <c:v>June</c:v>
                  </c:pt>
                  <c:pt idx="21">
                    <c:v>July</c:v>
                  </c:pt>
                  <c:pt idx="22">
                    <c:v>August</c:v>
                  </c:pt>
                  <c:pt idx="23">
                    <c:v>September</c:v>
                  </c:pt>
                </c:lvl>
                <c:lvl>
                  <c:pt idx="0">
                    <c:v>2021</c:v>
                  </c:pt>
                  <c:pt idx="3">
                    <c:v>2022</c:v>
                  </c:pt>
                  <c:pt idx="15">
                    <c:v>2023</c:v>
                  </c:pt>
                </c:lvl>
              </c:multiLvlStrCache>
            </c:multiLvlStrRef>
          </c:cat>
          <c:val>
            <c:numRef>
              <c:f>Year_Month_Wise!$I$34:$I$61</c:f>
              <c:numCache>
                <c:formatCode>General</c:formatCode>
                <c:ptCount val="24"/>
                <c:pt idx="0">
                  <c:v>75.059997558593807</c:v>
                </c:pt>
                <c:pt idx="1">
                  <c:v>55370.489993794799</c:v>
                </c:pt>
                <c:pt idx="2">
                  <c:v>19.620000839233398</c:v>
                </c:pt>
                <c:pt idx="3">
                  <c:v>88904.1200275421</c:v>
                </c:pt>
                <c:pt idx="4">
                  <c:v>274917.15955193801</c:v>
                </c:pt>
                <c:pt idx="5">
                  <c:v>383756.01951122301</c:v>
                </c:pt>
                <c:pt idx="6">
                  <c:v>345509.569676399</c:v>
                </c:pt>
                <c:pt idx="7">
                  <c:v>567678.28981049894</c:v>
                </c:pt>
                <c:pt idx="8">
                  <c:v>526700.49018287705</c:v>
                </c:pt>
                <c:pt idx="9">
                  <c:v>532830.53975550295</c:v>
                </c:pt>
                <c:pt idx="10">
                  <c:v>640403.81984947796</c:v>
                </c:pt>
                <c:pt idx="11">
                  <c:v>697303.13078244496</c:v>
                </c:pt>
                <c:pt idx="12">
                  <c:v>742739.76977110805</c:v>
                </c:pt>
                <c:pt idx="13">
                  <c:v>995286.70976301795</c:v>
                </c:pt>
                <c:pt idx="14">
                  <c:v>1021551.32985604</c:v>
                </c:pt>
                <c:pt idx="15">
                  <c:v>962435.60937674798</c:v>
                </c:pt>
                <c:pt idx="16">
                  <c:v>927524.02985850698</c:v>
                </c:pt>
                <c:pt idx="17">
                  <c:v>1186576.18981702</c:v>
                </c:pt>
                <c:pt idx="18">
                  <c:v>1091524.6204427599</c:v>
                </c:pt>
                <c:pt idx="19">
                  <c:v>1215392.45101561</c:v>
                </c:pt>
                <c:pt idx="20">
                  <c:v>999147.68043302803</c:v>
                </c:pt>
                <c:pt idx="21">
                  <c:v>942539.50952714297</c:v>
                </c:pt>
                <c:pt idx="22">
                  <c:v>1232116.9107268399</c:v>
                </c:pt>
                <c:pt idx="23">
                  <c:v>15847.3499843597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795-4189-8E02-8A5B8395F6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88278544"/>
        <c:axId val="1488279024"/>
      </c:lineChart>
      <c:catAx>
        <c:axId val="14882785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8279024"/>
        <c:crosses val="autoZero"/>
        <c:auto val="1"/>
        <c:lblAlgn val="ctr"/>
        <c:lblOffset val="100"/>
        <c:noMultiLvlLbl val="0"/>
      </c:catAx>
      <c:valAx>
        <c:axId val="148827902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cap="none" dirty="0"/>
                  <a:t>Revenue</a:t>
                </a:r>
              </a:p>
            </c:rich>
          </c:tx>
          <c:layout>
            <c:manualLayout>
              <c:xMode val="edge"/>
              <c:yMode val="edge"/>
              <c:x val="2.0028136938099204E-2"/>
              <c:y val="0.4106348132359645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8278544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valAx>
        <c:axId val="1488295824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cap="none" dirty="0"/>
                  <a:t>Customers</a:t>
                </a:r>
              </a:p>
            </c:rich>
          </c:tx>
          <c:layout>
            <c:manualLayout>
              <c:xMode val="edge"/>
              <c:yMode val="edge"/>
              <c:x val="0.97304179427594728"/>
              <c:y val="0.4280766602751458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8299664"/>
        <c:crosses val="max"/>
        <c:crossBetween val="between"/>
        <c:dispUnits>
          <c:builtInUnit val="hundre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catAx>
        <c:axId val="148829966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48829582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TOP 5 States by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'TOP and BOTTOM State by Revenue'!$B$1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numFmt formatCode="0.00\ 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'TOP and BOTTOM State by Revenue'!$A$2:$A$6</c:f>
              <c:strCache>
                <c:ptCount val="5"/>
                <c:pt idx="0">
                  <c:v>Andhra Pradesh</c:v>
                </c:pt>
                <c:pt idx="1">
                  <c:v>Gujarat</c:v>
                </c:pt>
                <c:pt idx="2">
                  <c:v>Chhattisgarh</c:v>
                </c:pt>
                <c:pt idx="3">
                  <c:v>Madhya Pradesh</c:v>
                </c:pt>
                <c:pt idx="4">
                  <c:v>Delhi</c:v>
                </c:pt>
              </c:strCache>
            </c:strRef>
          </c:cat>
          <c:val>
            <c:numRef>
              <c:f>'TOP and BOTTOM State by Revenue'!$B$2:$B$6</c:f>
              <c:numCache>
                <c:formatCode>General</c:formatCode>
                <c:ptCount val="5"/>
                <c:pt idx="0">
                  <c:v>11546566.418636501</c:v>
                </c:pt>
                <c:pt idx="1">
                  <c:v>1626018.8907778</c:v>
                </c:pt>
                <c:pt idx="2">
                  <c:v>702474.45020636602</c:v>
                </c:pt>
                <c:pt idx="3">
                  <c:v>508710.77034212701</c:v>
                </c:pt>
                <c:pt idx="4">
                  <c:v>431405.01954447402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80-45C5-A9E7-04095129134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488278064"/>
        <c:axId val="1488299184"/>
      </c:barChart>
      <c:catAx>
        <c:axId val="14882780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8299184"/>
        <c:crosses val="autoZero"/>
        <c:auto val="1"/>
        <c:lblAlgn val="ctr"/>
        <c:lblOffset val="100"/>
        <c:noMultiLvlLbl val="0"/>
      </c:catAx>
      <c:valAx>
        <c:axId val="14882991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8278064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/>
              <a:t>BOTTOM 5 States</a:t>
            </a:r>
            <a:r>
              <a:rPr lang="en-IN" b="1" baseline="0" dirty="0"/>
              <a:t> by Revenue</a:t>
            </a:r>
            <a:endParaRPr lang="en-IN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'TOP and BOTTOM State by Revenue'!$E$1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numFmt formatCode="0.00\ 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'TOP and BOTTOM State by Revenue'!$D$2:$D$6</c:f>
              <c:strCache>
                <c:ptCount val="5"/>
                <c:pt idx="0">
                  <c:v>Chhattisgarh</c:v>
                </c:pt>
                <c:pt idx="1">
                  <c:v>Madhya Pradesh</c:v>
                </c:pt>
                <c:pt idx="2">
                  <c:v>Delhi</c:v>
                </c:pt>
                <c:pt idx="3">
                  <c:v>Haryana</c:v>
                </c:pt>
                <c:pt idx="4">
                  <c:v>West Bengal</c:v>
                </c:pt>
              </c:strCache>
            </c:strRef>
          </c:cat>
          <c:val>
            <c:numRef>
              <c:f>'TOP and BOTTOM State by Revenue'!$E$2:$E$6</c:f>
              <c:numCache>
                <c:formatCode>General</c:formatCode>
                <c:ptCount val="5"/>
                <c:pt idx="0">
                  <c:v>702474.45020636602</c:v>
                </c:pt>
                <c:pt idx="1">
                  <c:v>508710.77034212701</c:v>
                </c:pt>
                <c:pt idx="2">
                  <c:v>431405.01954447402</c:v>
                </c:pt>
                <c:pt idx="3">
                  <c:v>371344.919889129</c:v>
                </c:pt>
                <c:pt idx="4">
                  <c:v>259630.000315893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F7-423B-8F91-C1E7F6902AE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488322704"/>
        <c:axId val="1488312624"/>
      </c:barChart>
      <c:catAx>
        <c:axId val="1488322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8312624"/>
        <c:crosses val="autoZero"/>
        <c:auto val="1"/>
        <c:lblAlgn val="ctr"/>
        <c:lblOffset val="100"/>
        <c:noMultiLvlLbl val="0"/>
      </c:catAx>
      <c:valAx>
        <c:axId val="14883126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8322704"/>
        <c:crosses val="autoZero"/>
        <c:crossBetween val="between"/>
        <c:dispUnits>
          <c:builtInUnit val="hundred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[RFM_Gender_Analysis.xlsx]Revenue by Category and Each Re!PivotTable6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N" sz="1800" b="1" i="0" u="none" strike="noStrike" baseline="0"/>
          </a:p>
          <a:p>
            <a:pPr>
              <a:defRPr/>
            </a:pPr>
            <a:r>
              <a:rPr lang="en-IN" sz="1800" b="1" i="0" u="none" strike="noStrike" baseline="0"/>
              <a:t>Popular categories by region </a:t>
            </a:r>
            <a:endParaRPr lang="en-US" sz="1800" b="1"/>
          </a:p>
        </c:rich>
      </c:tx>
      <c:layout>
        <c:manualLayout>
          <c:xMode val="edge"/>
          <c:yMode val="edge"/>
          <c:x val="0.35239281893127522"/>
          <c:y val="9.3160651141603098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'Revenue by Category and Each Re'!$B$59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3342923311773619E-2"/>
                  <c:y val="-2.329016278540085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0492-458F-BE26-66243D6DE579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492-458F-BE26-66243D6DE579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492-458F-BE26-66243D6DE579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492-458F-BE26-66243D6DE579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492-458F-BE26-66243D6DE579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492-458F-BE26-66243D6DE579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492-458F-BE26-66243D6DE579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492-458F-BE26-66243D6DE579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0492-458F-BE26-66243D6DE579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492-458F-BE26-66243D6DE579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492-458F-BE26-66243D6DE579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492-458F-BE26-66243D6DE579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0492-458F-BE26-66243D6DE579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0492-458F-BE26-66243D6DE579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0492-458F-BE26-66243D6DE579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0492-458F-BE26-66243D6DE579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0492-458F-BE26-66243D6DE579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0492-458F-BE26-66243D6DE579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0492-458F-BE26-66243D6DE579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0492-458F-BE26-66243D6DE579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0492-458F-BE26-66243D6DE579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0492-458F-BE26-66243D6DE579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0492-458F-BE26-66243D6DE579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0492-458F-BE26-66243D6DE579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0492-458F-BE26-66243D6DE579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0492-458F-BE26-66243D6DE579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0492-458F-BE26-66243D6DE579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0492-458F-BE26-66243D6DE579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0492-458F-BE26-66243D6DE579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0492-458F-BE26-66243D6DE579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0492-458F-BE26-66243D6DE579}"/>
                </c:ext>
              </c:extLst>
            </c:dLbl>
            <c:dLbl>
              <c:idx val="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0492-458F-BE26-66243D6DE579}"/>
                </c:ext>
              </c:extLst>
            </c:dLbl>
            <c:dLbl>
              <c:idx val="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0492-458F-BE26-66243D6DE579}"/>
                </c:ext>
              </c:extLst>
            </c:dLbl>
            <c:dLbl>
              <c:idx val="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0492-458F-BE26-66243D6DE579}"/>
                </c:ext>
              </c:extLst>
            </c:dLbl>
            <c:dLbl>
              <c:idx val="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0492-458F-BE26-66243D6DE579}"/>
                </c:ext>
              </c:extLst>
            </c:dLbl>
            <c:dLbl>
              <c:idx val="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0492-458F-BE26-66243D6DE579}"/>
                </c:ext>
              </c:extLst>
            </c:dLbl>
            <c:dLbl>
              <c:idx val="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0492-458F-BE26-66243D6DE579}"/>
                </c:ext>
              </c:extLst>
            </c:dLbl>
            <c:dLbl>
              <c:idx val="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0492-458F-BE26-66243D6DE579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0492-458F-BE26-66243D6DE579}"/>
                </c:ext>
              </c:extLst>
            </c:dLbl>
            <c:dLbl>
              <c:idx val="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0492-458F-BE26-66243D6DE579}"/>
                </c:ext>
              </c:extLst>
            </c:dLbl>
            <c:dLbl>
              <c:idx val="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0492-458F-BE26-66243D6DE579}"/>
                </c:ext>
              </c:extLst>
            </c:dLbl>
            <c:dLbl>
              <c:idx val="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0492-458F-BE26-66243D6DE579}"/>
                </c:ext>
              </c:extLst>
            </c:dLbl>
            <c:dLbl>
              <c:idx val="4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0492-458F-BE26-66243D6DE579}"/>
                </c:ext>
              </c:extLst>
            </c:dLbl>
            <c:dLbl>
              <c:idx val="4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0492-458F-BE26-66243D6DE579}"/>
                </c:ext>
              </c:extLst>
            </c:dLbl>
            <c:dLbl>
              <c:idx val="4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0492-458F-BE26-66243D6DE579}"/>
                </c:ext>
              </c:extLst>
            </c:dLbl>
            <c:dLbl>
              <c:idx val="4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0492-458F-BE26-66243D6DE579}"/>
                </c:ext>
              </c:extLst>
            </c:dLbl>
            <c:dLbl>
              <c:idx val="4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0492-458F-BE26-66243D6DE579}"/>
                </c:ext>
              </c:extLst>
            </c:dLbl>
            <c:dLbl>
              <c:idx val="5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0492-458F-BE26-66243D6DE579}"/>
                </c:ext>
              </c:extLst>
            </c:dLbl>
            <c:dLbl>
              <c:idx val="5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0492-458F-BE26-66243D6DE579}"/>
                </c:ext>
              </c:extLst>
            </c:dLbl>
            <c:dLbl>
              <c:idx val="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0492-458F-BE26-66243D6DE579}"/>
                </c:ext>
              </c:extLst>
            </c:dLbl>
            <c:dLbl>
              <c:idx val="5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0492-458F-BE26-66243D6DE579}"/>
                </c:ext>
              </c:extLst>
            </c:dLbl>
            <c:dLbl>
              <c:idx val="5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0492-458F-BE26-66243D6DE579}"/>
                </c:ext>
              </c:extLst>
            </c:dLbl>
            <c:dLbl>
              <c:idx val="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0492-458F-BE26-66243D6DE579}"/>
                </c:ext>
              </c:extLst>
            </c:dLbl>
            <c:numFmt formatCode="0.00\ 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'Revenue by Category and Each Re'!$A$60:$A$120</c:f>
              <c:multiLvlStrCache>
                <c:ptCount val="56"/>
                <c:lvl>
                  <c:pt idx="0">
                    <c:v>Home_Appliances</c:v>
                  </c:pt>
                  <c:pt idx="1">
                    <c:v>Computers &amp; Accessories</c:v>
                  </c:pt>
                  <c:pt idx="2">
                    <c:v>Auto</c:v>
                  </c:pt>
                  <c:pt idx="3">
                    <c:v>Food &amp; Beverages</c:v>
                  </c:pt>
                  <c:pt idx="4">
                    <c:v>Luggage_Accessories</c:v>
                  </c:pt>
                  <c:pt idx="5">
                    <c:v>Furniture</c:v>
                  </c:pt>
                  <c:pt idx="6">
                    <c:v>Toys &amp; Gifts</c:v>
                  </c:pt>
                  <c:pt idx="7">
                    <c:v>Baby</c:v>
                  </c:pt>
                  <c:pt idx="8">
                    <c:v>Pet_Shop</c:v>
                  </c:pt>
                  <c:pt idx="9">
                    <c:v>Stationery</c:v>
                  </c:pt>
                  <c:pt idx="10">
                    <c:v>Fashion</c:v>
                  </c:pt>
                  <c:pt idx="11">
                    <c:v>Electronics</c:v>
                  </c:pt>
                  <c:pt idx="12">
                    <c:v>Construction_Tools</c:v>
                  </c:pt>
                  <c:pt idx="13">
                    <c:v>Others</c:v>
                  </c:pt>
                  <c:pt idx="14">
                    <c:v>Luggage_Accessories</c:v>
                  </c:pt>
                  <c:pt idx="15">
                    <c:v>Home_Appliances</c:v>
                  </c:pt>
                  <c:pt idx="16">
                    <c:v>Toys &amp; Gifts</c:v>
                  </c:pt>
                  <c:pt idx="17">
                    <c:v>Food &amp; Beverages</c:v>
                  </c:pt>
                  <c:pt idx="18">
                    <c:v>Baby</c:v>
                  </c:pt>
                  <c:pt idx="19">
                    <c:v>Computers &amp; Accessories</c:v>
                  </c:pt>
                  <c:pt idx="20">
                    <c:v>Furniture</c:v>
                  </c:pt>
                  <c:pt idx="21">
                    <c:v>Construction_Tools</c:v>
                  </c:pt>
                  <c:pt idx="22">
                    <c:v>Electronics</c:v>
                  </c:pt>
                  <c:pt idx="23">
                    <c:v>Auto</c:v>
                  </c:pt>
                  <c:pt idx="24">
                    <c:v>Stationery</c:v>
                  </c:pt>
                  <c:pt idx="25">
                    <c:v>Fashion</c:v>
                  </c:pt>
                  <c:pt idx="26">
                    <c:v>Pet_Shop</c:v>
                  </c:pt>
                  <c:pt idx="27">
                    <c:v>Others</c:v>
                  </c:pt>
                  <c:pt idx="28">
                    <c:v>Toys &amp; Gifts</c:v>
                  </c:pt>
                  <c:pt idx="29">
                    <c:v>Food &amp; Beverages</c:v>
                  </c:pt>
                  <c:pt idx="30">
                    <c:v>Home_Appliances</c:v>
                  </c:pt>
                  <c:pt idx="31">
                    <c:v>Luggage_Accessories</c:v>
                  </c:pt>
                  <c:pt idx="32">
                    <c:v>Furniture</c:v>
                  </c:pt>
                  <c:pt idx="33">
                    <c:v>Construction_Tools</c:v>
                  </c:pt>
                  <c:pt idx="34">
                    <c:v>Computers &amp; Accessories</c:v>
                  </c:pt>
                  <c:pt idx="35">
                    <c:v>Baby</c:v>
                  </c:pt>
                  <c:pt idx="36">
                    <c:v>Stationery</c:v>
                  </c:pt>
                  <c:pt idx="37">
                    <c:v>Auto</c:v>
                  </c:pt>
                  <c:pt idx="38">
                    <c:v>Electronics</c:v>
                  </c:pt>
                  <c:pt idx="39">
                    <c:v>Pet_Shop</c:v>
                  </c:pt>
                  <c:pt idx="40">
                    <c:v>Fashion</c:v>
                  </c:pt>
                  <c:pt idx="41">
                    <c:v>Others</c:v>
                  </c:pt>
                  <c:pt idx="42">
                    <c:v>Baby</c:v>
                  </c:pt>
                  <c:pt idx="43">
                    <c:v>Toys &amp; Gifts</c:v>
                  </c:pt>
                  <c:pt idx="44">
                    <c:v>Computers &amp; Accessories</c:v>
                  </c:pt>
                  <c:pt idx="45">
                    <c:v>Home_Appliances</c:v>
                  </c:pt>
                  <c:pt idx="46">
                    <c:v>Luggage_Accessories</c:v>
                  </c:pt>
                  <c:pt idx="47">
                    <c:v>Furniture</c:v>
                  </c:pt>
                  <c:pt idx="48">
                    <c:v>Stationery</c:v>
                  </c:pt>
                  <c:pt idx="49">
                    <c:v>Construction_Tools</c:v>
                  </c:pt>
                  <c:pt idx="50">
                    <c:v>Food &amp; Beverages</c:v>
                  </c:pt>
                  <c:pt idx="51">
                    <c:v>Auto</c:v>
                  </c:pt>
                  <c:pt idx="52">
                    <c:v>Electronics</c:v>
                  </c:pt>
                  <c:pt idx="53">
                    <c:v>Pet_Shop</c:v>
                  </c:pt>
                  <c:pt idx="54">
                    <c:v>Others</c:v>
                  </c:pt>
                  <c:pt idx="55">
                    <c:v>Fashion</c:v>
                  </c:pt>
                </c:lvl>
                <c:lvl>
                  <c:pt idx="0">
                    <c:v>East</c:v>
                  </c:pt>
                  <c:pt idx="14">
                    <c:v>North</c:v>
                  </c:pt>
                  <c:pt idx="28">
                    <c:v>South</c:v>
                  </c:pt>
                  <c:pt idx="42">
                    <c:v>West</c:v>
                  </c:pt>
                </c:lvl>
              </c:multiLvlStrCache>
            </c:multiLvlStrRef>
          </c:cat>
          <c:val>
            <c:numRef>
              <c:f>'Revenue by Category and Each Re'!$B$60:$B$120</c:f>
              <c:numCache>
                <c:formatCode>General</c:formatCode>
                <c:ptCount val="56"/>
                <c:pt idx="0">
                  <c:v>73349.840356826797</c:v>
                </c:pt>
                <c:pt idx="1">
                  <c:v>62950.9997711182</c:v>
                </c:pt>
                <c:pt idx="2">
                  <c:v>28250.799999237101</c:v>
                </c:pt>
                <c:pt idx="3">
                  <c:v>24669.9898618062</c:v>
                </c:pt>
                <c:pt idx="4">
                  <c:v>23869.280132293701</c:v>
                </c:pt>
                <c:pt idx="5">
                  <c:v>13685.270029703801</c:v>
                </c:pt>
                <c:pt idx="6">
                  <c:v>13553.3201904297</c:v>
                </c:pt>
                <c:pt idx="7">
                  <c:v>8984.3200199490493</c:v>
                </c:pt>
                <c:pt idx="8">
                  <c:v>5549.4999694824201</c:v>
                </c:pt>
                <c:pt idx="9">
                  <c:v>3292.71998977661</c:v>
                </c:pt>
                <c:pt idx="10">
                  <c:v>856.72999191284202</c:v>
                </c:pt>
                <c:pt idx="11">
                  <c:v>278.24000740051298</c:v>
                </c:pt>
                <c:pt idx="12">
                  <c:v>195.179996490479</c:v>
                </c:pt>
                <c:pt idx="13">
                  <c:v>143.80999946594201</c:v>
                </c:pt>
                <c:pt idx="14">
                  <c:v>317403.76045322401</c:v>
                </c:pt>
                <c:pt idx="15">
                  <c:v>273983.82056528702</c:v>
                </c:pt>
                <c:pt idx="16">
                  <c:v>263216.76949806203</c:v>
                </c:pt>
                <c:pt idx="17">
                  <c:v>235574.66969299299</c:v>
                </c:pt>
                <c:pt idx="18">
                  <c:v>233515.26011517801</c:v>
                </c:pt>
                <c:pt idx="19">
                  <c:v>163814.30957831099</c:v>
                </c:pt>
                <c:pt idx="20">
                  <c:v>150957.320118959</c:v>
                </c:pt>
                <c:pt idx="21">
                  <c:v>104795.379962231</c:v>
                </c:pt>
                <c:pt idx="22">
                  <c:v>99248.820096969604</c:v>
                </c:pt>
                <c:pt idx="23">
                  <c:v>63301.530002594001</c:v>
                </c:pt>
                <c:pt idx="24">
                  <c:v>40853.619960784898</c:v>
                </c:pt>
                <c:pt idx="25">
                  <c:v>24450.089956283598</c:v>
                </c:pt>
                <c:pt idx="26">
                  <c:v>23501.480002085402</c:v>
                </c:pt>
                <c:pt idx="27">
                  <c:v>19318.329979133599</c:v>
                </c:pt>
                <c:pt idx="28">
                  <c:v>2037998.6068218499</c:v>
                </c:pt>
                <c:pt idx="29">
                  <c:v>1323824.2802154799</c:v>
                </c:pt>
                <c:pt idx="30">
                  <c:v>1305784.0507641099</c:v>
                </c:pt>
                <c:pt idx="31">
                  <c:v>1177417.90938568</c:v>
                </c:pt>
                <c:pt idx="32">
                  <c:v>1040667.08008859</c:v>
                </c:pt>
                <c:pt idx="33">
                  <c:v>934427.25050758803</c:v>
                </c:pt>
                <c:pt idx="34">
                  <c:v>844791.32001207198</c:v>
                </c:pt>
                <c:pt idx="35">
                  <c:v>772925.479964611</c:v>
                </c:pt>
                <c:pt idx="36">
                  <c:v>549867.80976924906</c:v>
                </c:pt>
                <c:pt idx="37">
                  <c:v>547544.13011964201</c:v>
                </c:pt>
                <c:pt idx="38">
                  <c:v>422027.78006896097</c:v>
                </c:pt>
                <c:pt idx="39">
                  <c:v>208187.76034355201</c:v>
                </c:pt>
                <c:pt idx="40">
                  <c:v>197625.680076599</c:v>
                </c:pt>
                <c:pt idx="41">
                  <c:v>183477.28049850499</c:v>
                </c:pt>
                <c:pt idx="42">
                  <c:v>618121.160286039</c:v>
                </c:pt>
                <c:pt idx="43">
                  <c:v>284830.60069847101</c:v>
                </c:pt>
                <c:pt idx="44">
                  <c:v>184884.430198669</c:v>
                </c:pt>
                <c:pt idx="45">
                  <c:v>103601.640106201</c:v>
                </c:pt>
                <c:pt idx="46">
                  <c:v>100958.459835052</c:v>
                </c:pt>
                <c:pt idx="47">
                  <c:v>98118.989900398301</c:v>
                </c:pt>
                <c:pt idx="48">
                  <c:v>70692.210126876802</c:v>
                </c:pt>
                <c:pt idx="49">
                  <c:v>50161.0698102315</c:v>
                </c:pt>
                <c:pt idx="50">
                  <c:v>40668.519855499297</c:v>
                </c:pt>
                <c:pt idx="51">
                  <c:v>25154.209955215501</c:v>
                </c:pt>
                <c:pt idx="52">
                  <c:v>22779.570132255601</c:v>
                </c:pt>
                <c:pt idx="53">
                  <c:v>10655.9399394989</c:v>
                </c:pt>
                <c:pt idx="54">
                  <c:v>8096.9999732971201</c:v>
                </c:pt>
                <c:pt idx="55">
                  <c:v>7295.0899600982702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92-458F-BE26-66243D6DE57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488290544"/>
        <c:axId val="1488277584"/>
      </c:barChart>
      <c:catAx>
        <c:axId val="1488290544"/>
        <c:scaling>
          <c:orientation val="minMax"/>
        </c:scaling>
        <c:delete val="0"/>
        <c:axPos val="b"/>
        <c:title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8277584"/>
        <c:crosses val="autoZero"/>
        <c:auto val="1"/>
        <c:lblAlgn val="ctr"/>
        <c:lblOffset val="100"/>
        <c:noMultiLvlLbl val="0"/>
      </c:catAx>
      <c:valAx>
        <c:axId val="148827758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8290544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Total</a:t>
            </a:r>
            <a:r>
              <a:rPr lang="en-US" sz="11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 </a:t>
            </a:r>
            <a:r>
              <a:rPr lang="en-IN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Customers by Gender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Gender!$B$1</c:f>
              <c:strCache>
                <c:ptCount val="1"/>
                <c:pt idx="0">
                  <c:v>Cust</c:v>
                </c:pt>
              </c:strCache>
            </c:strRef>
          </c:tx>
          <c:spPr>
            <a:ln>
              <a:solidFill>
                <a:schemeClr val="tx1"/>
              </a:solidFill>
            </a:ln>
          </c:spPr>
          <c:dPt>
            <c:idx val="0"/>
            <c:bubble3D val="0"/>
            <c:spPr>
              <a:solidFill>
                <a:schemeClr val="accent4">
                  <a:shade val="76000"/>
                </a:schemeClr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A3C-4647-A51B-B0E4582C215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A3C-4647-A51B-B0E4582C2158}"/>
              </c:ext>
            </c:extLst>
          </c:dPt>
          <c:dLbls>
            <c:dLbl>
              <c:idx val="0"/>
              <c:layout>
                <c:manualLayout>
                  <c:x val="-0.11067878148417622"/>
                  <c:y val="-0.13817242973847813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67,608</a:t>
                    </a:r>
                    <a:r>
                      <a:rPr lang="en-US" baseline="0" dirty="0"/>
                      <a:t>
69.84%</a:t>
                    </a:r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A3C-4647-A51B-B0E4582C2158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/>
                      <a:t>29,195</a:t>
                    </a:r>
                    <a:r>
                      <a:rPr lang="en-US" baseline="0" dirty="0"/>
                      <a:t>
30.16%</a:t>
                    </a:r>
                  </a:p>
                </c:rich>
              </c:tx>
              <c:numFmt formatCode="0.00\ &quot;K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A3C-4647-A51B-B0E4582C215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Gender!$A$2:$A$3</c:f>
              <c:strCache>
                <c:ptCount val="2"/>
                <c:pt idx="0">
                  <c:v>F</c:v>
                </c:pt>
                <c:pt idx="1">
                  <c:v>M</c:v>
                </c:pt>
              </c:strCache>
            </c:strRef>
          </c:cat>
          <c:val>
            <c:numRef>
              <c:f>Gender!$B$2:$B$3</c:f>
              <c:numCache>
                <c:formatCode>_ * #,##0_ ;_ * \-#,##0_ ;_ * "-"??_ ;_ @_ </c:formatCode>
                <c:ptCount val="2"/>
                <c:pt idx="0">
                  <c:v>67610</c:v>
                </c:pt>
                <c:pt idx="1">
                  <c:v>29196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A3C-4647-A51B-B0E4582C2158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Total Orders by Gender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Gender!$B$5</c:f>
              <c:strCache>
                <c:ptCount val="1"/>
                <c:pt idx="0">
                  <c:v>Orders</c:v>
                </c:pt>
              </c:strCache>
            </c:strRef>
          </c:tx>
          <c:spPr>
            <a:ln>
              <a:solidFill>
                <a:schemeClr val="tx1"/>
              </a:solidFill>
            </a:ln>
          </c:spPr>
          <c:dPt>
            <c:idx val="0"/>
            <c:bubble3D val="0"/>
            <c:spPr>
              <a:solidFill>
                <a:schemeClr val="accent4">
                  <a:shade val="76000"/>
                </a:schemeClr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158-4A19-9414-8EF4AF29DE5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158-4A19-9414-8EF4AF29DE53}"/>
              </c:ext>
            </c:extLst>
          </c:dPt>
          <c:dLbls>
            <c:dLbl>
              <c:idx val="0"/>
              <c:layout>
                <c:manualLayout>
                  <c:x val="-0.13685016916847392"/>
                  <c:y val="-0.11861157257550414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67,679</a:t>
                    </a:r>
                    <a:endParaRPr lang="en-US" baseline="0" dirty="0"/>
                  </a:p>
                  <a:p>
                    <a:r>
                      <a:rPr lang="en-US" dirty="0"/>
                      <a:t>69.85%</a:t>
                    </a:r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158-4A19-9414-8EF4AF29DE53}"/>
                </c:ext>
              </c:extLst>
            </c:dLbl>
            <c:dLbl>
              <c:idx val="1"/>
              <c:layout>
                <c:manualLayout>
                  <c:x val="0.11997347336221405"/>
                  <c:y val="0.11985039038936177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29,215</a:t>
                    </a:r>
                    <a:endParaRPr lang="en-US" baseline="0" dirty="0"/>
                  </a:p>
                  <a:p>
                    <a:r>
                      <a:rPr lang="en-US" dirty="0"/>
                      <a:t>30.15%</a:t>
                    </a:r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158-4A19-9414-8EF4AF29DE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Gender!$A$6:$A$7</c:f>
              <c:strCache>
                <c:ptCount val="2"/>
                <c:pt idx="0">
                  <c:v>F</c:v>
                </c:pt>
                <c:pt idx="1">
                  <c:v>M</c:v>
                </c:pt>
              </c:strCache>
            </c:strRef>
          </c:cat>
          <c:val>
            <c:numRef>
              <c:f>Gender!$B$6:$B$7</c:f>
              <c:numCache>
                <c:formatCode>_ * #,##0_ ;_ * \-#,##0_ ;_ * "-"??_ ;_ @_ </c:formatCode>
                <c:ptCount val="2"/>
                <c:pt idx="0">
                  <c:v>67681</c:v>
                </c:pt>
                <c:pt idx="1">
                  <c:v>29216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58-4A19-9414-8EF4AF29DE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Average</a:t>
            </a:r>
            <a:r>
              <a:rPr lang="en-US" b="1" baseline="0"/>
              <a:t> </a:t>
            </a:r>
            <a:r>
              <a:rPr lang="en-US" b="1"/>
              <a:t>Customer</a:t>
            </a:r>
            <a:r>
              <a:rPr lang="en-US" b="1" baseline="0"/>
              <a:t> </a:t>
            </a:r>
            <a:r>
              <a:rPr lang="en-US" b="1"/>
              <a:t>Spend by Gender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Gender!$D$5</c:f>
              <c:strCache>
                <c:ptCount val="1"/>
                <c:pt idx="0">
                  <c:v>Average_Customer_Spend</c:v>
                </c:pt>
              </c:strCache>
            </c:strRef>
          </c:tx>
          <c:spPr>
            <a:ln>
              <a:solidFill>
                <a:schemeClr val="tx1"/>
              </a:solidFill>
            </a:ln>
          </c:spPr>
          <c:dPt>
            <c:idx val="0"/>
            <c:bubble3D val="0"/>
            <c:spPr>
              <a:solidFill>
                <a:schemeClr val="accent4">
                  <a:shade val="76000"/>
                </a:schemeClr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0A6-4AC8-9580-1A7C51E5841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0A6-4AC8-9580-1A7C51E5841C}"/>
              </c:ext>
            </c:extLst>
          </c:dPt>
          <c:dLbls>
            <c:dLbl>
              <c:idx val="0"/>
              <c:layout>
                <c:manualLayout>
                  <c:x val="-0.14069959587076683"/>
                  <c:y val="-8.0537328667249931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13387455162689083"/>
                      <c:h val="0.1384965024906338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D0A6-4AC8-9580-1A7C51E5841C}"/>
                </c:ext>
              </c:extLst>
            </c:dLbl>
            <c:dLbl>
              <c:idx val="1"/>
              <c:layout>
                <c:manualLayout>
                  <c:x val="0.13441360454943133"/>
                  <c:y val="-2.2615923009623798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0A6-4AC8-9580-1A7C51E584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Gender!$C$6:$C$7</c:f>
              <c:strCache>
                <c:ptCount val="2"/>
                <c:pt idx="0">
                  <c:v>F</c:v>
                </c:pt>
                <c:pt idx="1">
                  <c:v>M</c:v>
                </c:pt>
              </c:strCache>
            </c:strRef>
          </c:cat>
          <c:val>
            <c:numRef>
              <c:f>Gender!$D$6:$D$7</c:f>
              <c:numCache>
                <c:formatCode>General</c:formatCode>
                <c:ptCount val="2"/>
                <c:pt idx="0">
                  <c:v>159.76</c:v>
                </c:pt>
                <c:pt idx="1">
                  <c:v>159.1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0A6-4AC8-9580-1A7C51E5841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/>
              <a:t>Total</a:t>
            </a:r>
            <a:r>
              <a:rPr lang="en-IN" b="1" baseline="0"/>
              <a:t> </a:t>
            </a:r>
            <a:r>
              <a:rPr lang="en-IN" b="1"/>
              <a:t>Customer</a:t>
            </a:r>
            <a:r>
              <a:rPr lang="en-IN" b="1" baseline="0"/>
              <a:t> </a:t>
            </a:r>
            <a:r>
              <a:rPr lang="en-IN" b="1"/>
              <a:t>Spend by Gender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Gender!$F$5</c:f>
              <c:strCache>
                <c:ptCount val="1"/>
                <c:pt idx="0">
                  <c:v>Total_Customer_Spend</c:v>
                </c:pt>
              </c:strCache>
            </c:strRef>
          </c:tx>
          <c:spPr>
            <a:ln>
              <a:solidFill>
                <a:schemeClr val="tx1"/>
              </a:solidFill>
            </a:ln>
          </c:spPr>
          <c:dPt>
            <c:idx val="0"/>
            <c:bubble3D val="0"/>
            <c:spPr>
              <a:solidFill>
                <a:schemeClr val="accent4">
                  <a:shade val="76000"/>
                </a:schemeClr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191-4E80-BA5A-63E7183765E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191-4E80-BA5A-63E7183765E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F82F83E4-3E9D-4297-86C6-67ED16E2D110}" type="VALUE">
                      <a:rPr lang="en-US"/>
                      <a:pPr/>
                      <a:t>[VALUE]</a:t>
                    </a:fld>
                    <a:endParaRPr lang="en-US" baseline="0" dirty="0"/>
                  </a:p>
                  <a:p>
                    <a:r>
                      <a:rPr lang="en-US" dirty="0"/>
                      <a:t>69.93%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27144249344212384"/>
                      <c:h val="0.25766385982878404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0191-4E80-BA5A-63E7183765E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7168851-B3EC-479F-8F6E-5A23FDE0CFE8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baseline="0" dirty="0"/>
                      <a:t>30.07%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27586635094908057"/>
                      <c:h val="0.19742351922058518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191-4E80-BA5A-63E7183765E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Gender!$E$6:$E$7</c:f>
              <c:strCache>
                <c:ptCount val="2"/>
                <c:pt idx="0">
                  <c:v>F</c:v>
                </c:pt>
                <c:pt idx="1">
                  <c:v>M</c:v>
                </c:pt>
              </c:strCache>
            </c:strRef>
          </c:cat>
          <c:val>
            <c:numRef>
              <c:f>Gender!$F$6:$F$7</c:f>
              <c:numCache>
                <c:formatCode>0.00\ "M"</c:formatCode>
                <c:ptCount val="2"/>
                <c:pt idx="0">
                  <c:v>10.8</c:v>
                </c:pt>
                <c:pt idx="1">
                  <c:v>4.6500000000000004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191-4E80-BA5A-63E7183765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/>
              <a:t>Total</a:t>
            </a:r>
            <a:r>
              <a:rPr lang="en-IN" b="1" baseline="0" dirty="0"/>
              <a:t> </a:t>
            </a:r>
            <a:r>
              <a:rPr lang="en-IN" b="1" dirty="0"/>
              <a:t>Profit by Gender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Gender!$H$5</c:f>
              <c:strCache>
                <c:ptCount val="1"/>
                <c:pt idx="0">
                  <c:v>Total_Profit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76000"/>
                </a:schemeClr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8A6-471E-8A71-214154979A4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8A6-471E-8A71-214154979A46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FECE7DC7-DB79-4DAC-9EAA-0B8D27FA05EC}" type="VALUE">
                      <a:rPr lang="en-US" smtClean="0"/>
                      <a:pPr/>
                      <a:t>[VALUE]</a:t>
                    </a:fld>
                    <a:endParaRPr lang="en-US" dirty="0"/>
                  </a:p>
                  <a:p>
                    <a:r>
                      <a:rPr lang="en-US" dirty="0"/>
                      <a:t>70.19%</a:t>
                    </a:r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18A6-471E-8A71-214154979A4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9D1CB56-75DF-49E9-ADE8-AD5CCFED63A3}" type="VALUE">
                      <a:rPr lang="en-US" smtClean="0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29.81%</a:t>
                    </a:r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18A6-471E-8A71-214154979A4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Gender!$G$6:$G$7</c:f>
              <c:strCache>
                <c:ptCount val="2"/>
                <c:pt idx="0">
                  <c:v>F</c:v>
                </c:pt>
                <c:pt idx="1">
                  <c:v>M</c:v>
                </c:pt>
              </c:strCache>
            </c:strRef>
          </c:cat>
          <c:val>
            <c:numRef>
              <c:f>Gender!$H$6:$H$7</c:f>
              <c:numCache>
                <c:formatCode>0.00\ "M"</c:formatCode>
                <c:ptCount val="2"/>
                <c:pt idx="0">
                  <c:v>1.53</c:v>
                </c:pt>
                <c:pt idx="1">
                  <c:v>0.65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8A6-471E-8A71-214154979A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/>
              <a:t>Average</a:t>
            </a:r>
            <a:r>
              <a:rPr lang="en-IN" b="1" baseline="0" dirty="0"/>
              <a:t> </a:t>
            </a:r>
            <a:r>
              <a:rPr lang="en-IN" b="1" dirty="0"/>
              <a:t>Profit </a:t>
            </a:r>
            <a:r>
              <a:rPr lang="en-IN" sz="1400" b="1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by</a:t>
            </a:r>
            <a:r>
              <a:rPr lang="en-IN" sz="1100" b="1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 </a:t>
            </a:r>
            <a:r>
              <a:rPr lang="en-IN" sz="1400" b="1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Gender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Gender!$J$5</c:f>
              <c:strCache>
                <c:ptCount val="1"/>
                <c:pt idx="0">
                  <c:v>Avg_Profit</c:v>
                </c:pt>
              </c:strCache>
            </c:strRef>
          </c:tx>
          <c:spPr>
            <a:ln>
              <a:solidFill>
                <a:schemeClr val="tx1"/>
              </a:solidFill>
            </a:ln>
          </c:spPr>
          <c:dPt>
            <c:idx val="0"/>
            <c:bubble3D val="0"/>
            <c:spPr>
              <a:solidFill>
                <a:schemeClr val="accent4">
                  <a:shade val="76000"/>
                </a:schemeClr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F30-4546-B1CF-F2A067AB27F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F30-4546-B1CF-F2A067AB27F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Gender!$I$6:$I$7</c:f>
              <c:strCache>
                <c:ptCount val="2"/>
                <c:pt idx="0">
                  <c:v>F</c:v>
                </c:pt>
                <c:pt idx="1">
                  <c:v>M</c:v>
                </c:pt>
              </c:strCache>
            </c:strRef>
          </c:cat>
          <c:val>
            <c:numRef>
              <c:f>Gender!$J$6:$J$7</c:f>
              <c:numCache>
                <c:formatCode>General</c:formatCode>
                <c:ptCount val="2"/>
                <c:pt idx="0">
                  <c:v>22.67</c:v>
                </c:pt>
                <c:pt idx="1">
                  <c:v>22.29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F30-4546-B1CF-F2A067AB27F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[Book1]RFM_Insights!PivotTable1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000000">
                    <a:lumMod val="65000"/>
                    <a:lumOff val="35000"/>
                  </a:srgbClr>
                </a:solidFill>
              </a:rPr>
              <a:t>Total Customers by RFM Segmentation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RFM_Insights!$B$3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7777777777777779E-3"/>
                  <c:y val="2.3148148148148147E-2"/>
                </c:manualLayout>
              </c:layout>
              <c:tx>
                <c:rich>
                  <a:bodyPr/>
                  <a:lstStyle/>
                  <a:p>
                    <a:r>
                      <a:rPr lang="en-US" sz="900" b="0" i="0" u="none" strike="noStrike" baseline="0" dirty="0">
                        <a:effectLst/>
                      </a:rPr>
                      <a:t> 36,308</a:t>
                    </a:r>
                  </a:p>
                  <a:p>
                    <a:r>
                      <a:rPr lang="en-US" sz="900" b="0" i="0" u="none" strike="noStrike" baseline="0" dirty="0"/>
                      <a:t>37.5%</a:t>
                    </a:r>
                    <a:r>
                      <a:rPr lang="en-US" sz="900" b="0" i="0" u="none" strike="noStrike" baseline="0" dirty="0">
                        <a:effectLst/>
                      </a:rPr>
                      <a:t> 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BE30-4D9E-9E8A-5DD47E83FB3C}"/>
                </c:ext>
              </c:extLst>
            </c:dLbl>
            <c:dLbl>
              <c:idx val="1"/>
              <c:layout>
                <c:manualLayout>
                  <c:x val="5.0925337632079971E-17"/>
                  <c:y val="1.8518518518518476E-2"/>
                </c:manualLayout>
              </c:layout>
              <c:tx>
                <c:rich>
                  <a:bodyPr/>
                  <a:lstStyle/>
                  <a:p>
                    <a:r>
                      <a:rPr lang="en-US" sz="900" b="0" i="0" u="none" strike="noStrike" baseline="0" dirty="0">
                        <a:effectLst/>
                      </a:rPr>
                      <a:t> 24,101</a:t>
                    </a:r>
                  </a:p>
                  <a:p>
                    <a:r>
                      <a:rPr lang="en-US" sz="900" b="0" i="0" u="none" strike="noStrike" baseline="0" dirty="0"/>
                      <a:t>24.9%</a:t>
                    </a:r>
                    <a:r>
                      <a:rPr lang="en-US" sz="900" b="0" i="0" u="none" strike="noStrike" baseline="0" dirty="0">
                        <a:effectLst/>
                      </a:rPr>
                      <a:t> 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E30-4D9E-9E8A-5DD47E83FB3C}"/>
                </c:ext>
              </c:extLst>
            </c:dLbl>
            <c:dLbl>
              <c:idx val="2"/>
              <c:layout>
                <c:manualLayout>
                  <c:x val="-1.0185067526415994E-16"/>
                  <c:y val="1.3888888888888888E-2"/>
                </c:manualLayout>
              </c:layout>
              <c:tx>
                <c:rich>
                  <a:bodyPr/>
                  <a:lstStyle/>
                  <a:p>
                    <a:r>
                      <a:rPr lang="en-US" sz="900" b="0" i="0" u="none" strike="noStrike" baseline="0" dirty="0">
                        <a:effectLst/>
                      </a:rPr>
                      <a:t> 24,026</a:t>
                    </a:r>
                  </a:p>
                  <a:p>
                    <a:r>
                      <a:rPr lang="en-US" sz="900" b="0" i="0" u="none" strike="noStrike" baseline="0" dirty="0"/>
                      <a:t>24.8%</a:t>
                    </a:r>
                    <a:r>
                      <a:rPr lang="en-US" sz="900" b="0" i="0" u="none" strike="noStrike" baseline="0" dirty="0">
                        <a:effectLst/>
                      </a:rPr>
                      <a:t> </a:t>
                    </a:r>
                    <a:endParaRPr lang="en-US" b="0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BE30-4D9E-9E8A-5DD47E83FB3C}"/>
                </c:ext>
              </c:extLst>
            </c:dLbl>
            <c:dLbl>
              <c:idx val="3"/>
              <c:layout>
                <c:manualLayout>
                  <c:x val="0"/>
                  <c:y val="1.3888888888888888E-2"/>
                </c:manualLayout>
              </c:layout>
              <c:tx>
                <c:rich>
                  <a:bodyPr/>
                  <a:lstStyle/>
                  <a:p>
                    <a:r>
                      <a:rPr lang="en-US" sz="900" b="0" i="0" u="none" strike="noStrike" baseline="0" dirty="0">
                        <a:effectLst/>
                      </a:rPr>
                      <a:t> 12,368</a:t>
                    </a:r>
                  </a:p>
                  <a:p>
                    <a:r>
                      <a:rPr lang="en-US" sz="900" b="0" i="0" u="none" strike="noStrike" baseline="0" dirty="0"/>
                      <a:t>12.8%</a:t>
                    </a:r>
                    <a:r>
                      <a:rPr lang="en-US" sz="900" b="0" i="0" u="none" strike="noStrike" baseline="0" dirty="0">
                        <a:effectLst/>
                      </a:rPr>
                      <a:t> 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E30-4D9E-9E8A-5DD47E83FB3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RFM_Insights!$A$4:$A$8</c:f>
              <c:strCache>
                <c:ptCount val="4"/>
                <c:pt idx="0">
                  <c:v>Standard</c:v>
                </c:pt>
                <c:pt idx="1">
                  <c:v>Silver</c:v>
                </c:pt>
                <c:pt idx="2">
                  <c:v>Gold</c:v>
                </c:pt>
                <c:pt idx="3">
                  <c:v>Premium</c:v>
                </c:pt>
              </c:strCache>
            </c:strRef>
          </c:cat>
          <c:val>
            <c:numRef>
              <c:f>RFM_Insights!$B$4:$B$8</c:f>
              <c:numCache>
                <c:formatCode>_ * #,##0_ ;_ * \-#,##0_ ;_ * "-"??_ ;_ @_ </c:formatCode>
                <c:ptCount val="4"/>
                <c:pt idx="0">
                  <c:v>36310</c:v>
                </c:pt>
                <c:pt idx="1">
                  <c:v>24102</c:v>
                </c:pt>
                <c:pt idx="2">
                  <c:v>24025</c:v>
                </c:pt>
                <c:pt idx="3">
                  <c:v>12369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98-4805-A288-A4866C15E3D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2056991"/>
        <c:axId val="122057951"/>
      </c:barChart>
      <c:catAx>
        <c:axId val="1220569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057951"/>
        <c:crosses val="autoZero"/>
        <c:auto val="1"/>
        <c:lblAlgn val="ctr"/>
        <c:lblOffset val="100"/>
        <c:noMultiLvlLbl val="0"/>
      </c:catAx>
      <c:valAx>
        <c:axId val="122057951"/>
        <c:scaling>
          <c:orientation val="minMax"/>
        </c:scaling>
        <c:delete val="0"/>
        <c:axPos val="l"/>
        <c:numFmt formatCode="_ * #,##0_ ;_ * \-#,##0_ ;_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0569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4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5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6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7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8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9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10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1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1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13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14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15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16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17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18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19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3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4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5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6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7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8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9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0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3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7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8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9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40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4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4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43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44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45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46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47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48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49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50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2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0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A448C6-4033-4EA6-A22C-BE8E65B90708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2C0015-3333-4EAF-B1A3-4AA4589E97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745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2C0015-3333-4EAF-B1A3-4AA4589E974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71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2C0015-3333-4EAF-B1A3-4AA4589E9749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354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2C0015-3333-4EAF-B1A3-4AA4589E9749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676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2C0015-3333-4EAF-B1A3-4AA4589E9749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732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6C27B-D536-4265-AFA1-5DA96C8E5967}" type="datetime1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368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43D800DA-ED0E-4C00-AEF3-9CDB56725D59}" type="datetime1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036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3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12" Type="http://schemas.openxmlformats.org/officeDocument/2006/relationships/image" Target="../media/image12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jpeg"/><Relationship Id="rId5" Type="http://schemas.openxmlformats.org/officeDocument/2006/relationships/image" Target="../media/image5.jpeg"/><Relationship Id="rId10" Type="http://schemas.openxmlformats.org/officeDocument/2006/relationships/image" Target="../media/image10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8.xml"/><Relationship Id="rId5" Type="http://schemas.openxmlformats.org/officeDocument/2006/relationships/chart" Target="../charts/chart17.xml"/><Relationship Id="rId4" Type="http://schemas.openxmlformats.org/officeDocument/2006/relationships/chart" Target="../charts/char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2.xml"/><Relationship Id="rId5" Type="http://schemas.openxmlformats.org/officeDocument/2006/relationships/chart" Target="../charts/chart21.xml"/><Relationship Id="rId4" Type="http://schemas.openxmlformats.org/officeDocument/2006/relationships/chart" Target="../charts/char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8.xml"/><Relationship Id="rId4" Type="http://schemas.openxmlformats.org/officeDocument/2006/relationships/chart" Target="../charts/chart2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1.xml"/><Relationship Id="rId2" Type="http://schemas.openxmlformats.org/officeDocument/2006/relationships/chart" Target="../charts/chart3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3.xml"/><Relationship Id="rId2" Type="http://schemas.openxmlformats.org/officeDocument/2006/relationships/chart" Target="../charts/chart3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7.xml"/><Relationship Id="rId5" Type="http://schemas.openxmlformats.org/officeDocument/2006/relationships/chart" Target="../charts/chart36.xml"/><Relationship Id="rId4" Type="http://schemas.openxmlformats.org/officeDocument/2006/relationships/chart" Target="../charts/chart3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2.xml"/><Relationship Id="rId2" Type="http://schemas.openxmlformats.org/officeDocument/2006/relationships/chart" Target="../charts/chart4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7.xml"/><Relationship Id="rId5" Type="http://schemas.openxmlformats.org/officeDocument/2006/relationships/chart" Target="../charts/chart46.xml"/><Relationship Id="rId4" Type="http://schemas.openxmlformats.org/officeDocument/2006/relationships/chart" Target="../charts/chart4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9.xml"/><Relationship Id="rId2" Type="http://schemas.openxmlformats.org/officeDocument/2006/relationships/chart" Target="../charts/chart4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Calculator, pen, compass, money and a paper with graphs printed on it">
            <a:extLst>
              <a:ext uri="{FF2B5EF4-FFF2-40B4-BE49-F238E27FC236}">
                <a16:creationId xmlns:a16="http://schemas.microsoft.com/office/drawing/2014/main" id="{1DEA62BD-703D-62C0-B368-AB096FD9BAB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rcRect b="6639"/>
          <a:stretch/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F4CD50-BD17-B82E-B209-CE555EE76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3782" y="2573065"/>
            <a:ext cx="9986579" cy="2450592"/>
          </a:xfrm>
        </p:spPr>
        <p:txBody>
          <a:bodyPr anchor="t">
            <a:normAutofit/>
          </a:bodyPr>
          <a:lstStyle/>
          <a:p>
            <a:r>
              <a:rPr lang="en-US" sz="560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RETAIL DATA ANALYSIS</a:t>
            </a:r>
            <a:endParaRPr lang="en-IN" sz="5600" dirty="0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7F841E-CE26-0006-3440-5A8FD59F8B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By Ramya P</a:t>
            </a:r>
            <a:endParaRPr lang="en-IN" sz="2400" dirty="0">
              <a:solidFill>
                <a:srgbClr val="FFFFFF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FD0FB7-27E3-B0AD-4F7F-8491637A4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5615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9BECE8-3F15-8728-784C-798B7D1BEF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8" y="841282"/>
            <a:ext cx="3465681" cy="2703691"/>
          </a:xfrm>
        </p:spPr>
        <p:txBody>
          <a:bodyPr anchor="b">
            <a:normAutofit/>
          </a:bodyPr>
          <a:lstStyle/>
          <a:p>
            <a:r>
              <a:rPr lang="en-US" sz="41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Customers360</a:t>
            </a:r>
            <a:endParaRPr lang="en-IN" sz="41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1F0C179-4DBF-6AB9-CD0B-9224A0C88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70A544-FD3E-ECFE-5268-3312E0FB6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939964"/>
              </p:ext>
            </p:extLst>
          </p:nvPr>
        </p:nvGraphicFramePr>
        <p:xfrm>
          <a:off x="5723040" y="512065"/>
          <a:ext cx="5213327" cy="565888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213327">
                  <a:extLst>
                    <a:ext uri="{9D8B030D-6E8A-4147-A177-3AD203B41FA5}">
                      <a16:colId xmlns:a16="http://schemas.microsoft.com/office/drawing/2014/main" val="3762343098"/>
                    </a:ext>
                  </a:extLst>
                </a:gridCol>
              </a:tblGrid>
              <a:tr h="40420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Custid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729033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Customer_City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94868511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Customer_State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/>
                </a:tc>
                <a:extLst>
                  <a:ext uri="{0D108BD9-81ED-4DB2-BD59-A6C34878D82A}">
                    <a16:rowId xmlns:a16="http://schemas.microsoft.com/office/drawing/2014/main" val="3502249813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Gender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/>
                </a:tc>
                <a:extLst>
                  <a:ext uri="{0D108BD9-81ED-4DB2-BD59-A6C34878D82A}">
                    <a16:rowId xmlns:a16="http://schemas.microsoft.com/office/drawing/2014/main" val="2962002306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First_Tnx_Date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/>
                </a:tc>
                <a:extLst>
                  <a:ext uri="{0D108BD9-81ED-4DB2-BD59-A6C34878D82A}">
                    <a16:rowId xmlns:a16="http://schemas.microsoft.com/office/drawing/2014/main" val="3803820252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Last_Tnx_Date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/>
                </a:tc>
                <a:extLst>
                  <a:ext uri="{0D108BD9-81ED-4DB2-BD59-A6C34878D82A}">
                    <a16:rowId xmlns:a16="http://schemas.microsoft.com/office/drawing/2014/main" val="2808422875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Tenure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/>
                </a:tc>
                <a:extLst>
                  <a:ext uri="{0D108BD9-81ED-4DB2-BD59-A6C34878D82A}">
                    <a16:rowId xmlns:a16="http://schemas.microsoft.com/office/drawing/2014/main" val="1898973501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No_of_Transaction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/>
                </a:tc>
                <a:extLst>
                  <a:ext uri="{0D108BD9-81ED-4DB2-BD59-A6C34878D82A}">
                    <a16:rowId xmlns:a16="http://schemas.microsoft.com/office/drawing/2014/main" val="2265391653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Total_revenue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/>
                </a:tc>
                <a:extLst>
                  <a:ext uri="{0D108BD9-81ED-4DB2-BD59-A6C34878D82A}">
                    <a16:rowId xmlns:a16="http://schemas.microsoft.com/office/drawing/2014/main" val="777208154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/>
                </a:tc>
                <a:extLst>
                  <a:ext uri="{0D108BD9-81ED-4DB2-BD59-A6C34878D82A}">
                    <a16:rowId xmlns:a16="http://schemas.microsoft.com/office/drawing/2014/main" val="3286910277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Discount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151714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Total_Quantity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7376320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Items_Purchased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19919976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Total_Stores_purch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/>
                </a:tc>
                <a:extLst>
                  <a:ext uri="{0D108BD9-81ED-4DB2-BD59-A6C34878D82A}">
                    <a16:rowId xmlns:a16="http://schemas.microsoft.com/office/drawing/2014/main" val="3705162008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DD2154-DC59-A594-9ABA-0453E5F70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080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CE3D9A-E211-4915-26D2-42D1965EF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4BCB5EF-BDF9-9DE9-1A70-C0004CC60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244114-31B0-43DF-378F-2B3BE9C56E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8" y="841282"/>
            <a:ext cx="3465681" cy="2703691"/>
          </a:xfrm>
        </p:spPr>
        <p:txBody>
          <a:bodyPr anchor="b">
            <a:normAutofit/>
          </a:bodyPr>
          <a:lstStyle/>
          <a:p>
            <a:r>
              <a:rPr lang="en-US" sz="41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Orders360</a:t>
            </a:r>
            <a:endParaRPr lang="en-IN" sz="41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AE63379-B7FE-CBCF-1648-8BE7BEC419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90E10E0-F9CD-3173-C296-28FCF8C559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294570"/>
              </p:ext>
            </p:extLst>
          </p:nvPr>
        </p:nvGraphicFramePr>
        <p:xfrm>
          <a:off x="5225889" y="751093"/>
          <a:ext cx="5585350" cy="4850472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585350">
                  <a:extLst>
                    <a:ext uri="{9D8B030D-6E8A-4147-A177-3AD203B41FA5}">
                      <a16:colId xmlns:a16="http://schemas.microsoft.com/office/drawing/2014/main" val="3762343098"/>
                    </a:ext>
                  </a:extLst>
                </a:gridCol>
              </a:tblGrid>
              <a:tr h="40420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Order_id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729033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Total_Items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94868511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Total_Quantity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/>
                </a:tc>
                <a:extLst>
                  <a:ext uri="{0D108BD9-81ED-4DB2-BD59-A6C34878D82A}">
                    <a16:rowId xmlns:a16="http://schemas.microsoft.com/office/drawing/2014/main" val="3502249813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Amount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/>
                </a:tc>
                <a:extLst>
                  <a:ext uri="{0D108BD9-81ED-4DB2-BD59-A6C34878D82A}">
                    <a16:rowId xmlns:a16="http://schemas.microsoft.com/office/drawing/2014/main" val="2962002306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Total_Discount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/>
                </a:tc>
                <a:extLst>
                  <a:ext uri="{0D108BD9-81ED-4DB2-BD59-A6C34878D82A}">
                    <a16:rowId xmlns:a16="http://schemas.microsoft.com/office/drawing/2014/main" val="3803820252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items_with_discount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/>
                </a:tc>
                <a:extLst>
                  <a:ext uri="{0D108BD9-81ED-4DB2-BD59-A6C34878D82A}">
                    <a16:rowId xmlns:a16="http://schemas.microsoft.com/office/drawing/2014/main" val="2265391653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Total_cost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/>
                </a:tc>
                <a:extLst>
                  <a:ext uri="{0D108BD9-81ED-4DB2-BD59-A6C34878D82A}">
                    <a16:rowId xmlns:a16="http://schemas.microsoft.com/office/drawing/2014/main" val="777208154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Total_Profit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/>
                </a:tc>
                <a:extLst>
                  <a:ext uri="{0D108BD9-81ED-4DB2-BD59-A6C34878D82A}">
                    <a16:rowId xmlns:a16="http://schemas.microsoft.com/office/drawing/2014/main" val="3286910277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Profit_Percentage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151714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distinct_categories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7376320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weekend_trans_flag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19919976"/>
                  </a:ext>
                </a:extLst>
              </a:tr>
              <a:tr h="4042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Hours_flag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865" marR="91865" marT="45932" marB="45932"/>
                </a:tc>
                <a:extLst>
                  <a:ext uri="{0D108BD9-81ED-4DB2-BD59-A6C34878D82A}">
                    <a16:rowId xmlns:a16="http://schemas.microsoft.com/office/drawing/2014/main" val="370516200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BDCD07-22C5-356C-D47A-454B95E2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117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88CFFE-A85A-21F5-05F7-5CF900FFA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66B715-1FE2-1B0B-99F3-E592BB0C9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8" y="841283"/>
            <a:ext cx="3465681" cy="2916472"/>
          </a:xfrm>
        </p:spPr>
        <p:txBody>
          <a:bodyPr anchor="b">
            <a:normAutofit/>
          </a:bodyPr>
          <a:lstStyle/>
          <a:p>
            <a:r>
              <a:rPr lang="en-US" sz="4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Store360</a:t>
            </a:r>
            <a:endParaRPr lang="en-IN" sz="4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1F0C179-4DBF-6AB9-CD0B-9224A0C88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75D203-6FE5-499C-8B46-939225BF8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868139"/>
              </p:ext>
            </p:extLst>
          </p:nvPr>
        </p:nvGraphicFramePr>
        <p:xfrm>
          <a:off x="5280501" y="751093"/>
          <a:ext cx="5476127" cy="5254678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5476127">
                  <a:extLst>
                    <a:ext uri="{9D8B030D-6E8A-4147-A177-3AD203B41FA5}">
                      <a16:colId xmlns:a16="http://schemas.microsoft.com/office/drawing/2014/main" val="3762343098"/>
                    </a:ext>
                  </a:extLst>
                </a:gridCol>
              </a:tblGrid>
              <a:tr h="276562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Store_ID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81" marR="63081" marT="31540" marB="315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729033"/>
                  </a:ext>
                </a:extLst>
              </a:tr>
              <a:tr h="276562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seller_city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81" marR="63081" marT="31540" marB="3154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94868511"/>
                  </a:ext>
                </a:extLst>
              </a:tr>
              <a:tr h="276562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seller_State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81" marR="63081" marT="31540" marB="31540"/>
                </a:tc>
                <a:extLst>
                  <a:ext uri="{0D108BD9-81ED-4DB2-BD59-A6C34878D82A}">
                    <a16:rowId xmlns:a16="http://schemas.microsoft.com/office/drawing/2014/main" val="3502249813"/>
                  </a:ext>
                </a:extLst>
              </a:tr>
              <a:tr h="276562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Region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81" marR="63081" marT="31540" marB="31540"/>
                </a:tc>
                <a:extLst>
                  <a:ext uri="{0D108BD9-81ED-4DB2-BD59-A6C34878D82A}">
                    <a16:rowId xmlns:a16="http://schemas.microsoft.com/office/drawing/2014/main" val="2962002306"/>
                  </a:ext>
                </a:extLst>
              </a:tr>
              <a:tr h="27656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Total_Store_Items_Sold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81" marR="63081" marT="31540" marB="31540"/>
                </a:tc>
                <a:extLst>
                  <a:ext uri="{0D108BD9-81ED-4DB2-BD59-A6C34878D82A}">
                    <a16:rowId xmlns:a16="http://schemas.microsoft.com/office/drawing/2014/main" val="3803820252"/>
                  </a:ext>
                </a:extLst>
              </a:tr>
              <a:tr h="276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Total_Quantity_Store_Sold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81" marR="63081" marT="31540" marB="31540"/>
                </a:tc>
                <a:extLst>
                  <a:ext uri="{0D108BD9-81ED-4DB2-BD59-A6C34878D82A}">
                    <a16:rowId xmlns:a16="http://schemas.microsoft.com/office/drawing/2014/main" val="2808422875"/>
                  </a:ext>
                </a:extLst>
              </a:tr>
              <a:tr h="276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Store_Total_Amount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81" marR="63081" marT="31540" marB="31540"/>
                </a:tc>
                <a:extLst>
                  <a:ext uri="{0D108BD9-81ED-4DB2-BD59-A6C34878D82A}">
                    <a16:rowId xmlns:a16="http://schemas.microsoft.com/office/drawing/2014/main" val="2265391653"/>
                  </a:ext>
                </a:extLst>
              </a:tr>
              <a:tr h="276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Store_items_with_discount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81" marR="63081" marT="31540" marB="31540"/>
                </a:tc>
                <a:extLst>
                  <a:ext uri="{0D108BD9-81ED-4DB2-BD59-A6C34878D82A}">
                    <a16:rowId xmlns:a16="http://schemas.microsoft.com/office/drawing/2014/main" val="777208154"/>
                  </a:ext>
                </a:extLst>
              </a:tr>
              <a:tr h="276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Total_cost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81" marR="63081" marT="31540" marB="31540"/>
                </a:tc>
                <a:extLst>
                  <a:ext uri="{0D108BD9-81ED-4DB2-BD59-A6C34878D82A}">
                    <a16:rowId xmlns:a16="http://schemas.microsoft.com/office/drawing/2014/main" val="3286910277"/>
                  </a:ext>
                </a:extLst>
              </a:tr>
              <a:tr h="276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Total_Profit</a:t>
                      </a:r>
                    </a:p>
                  </a:txBody>
                  <a:tcPr marL="63081" marR="63081" marT="31540" marB="31540"/>
                </a:tc>
                <a:extLst>
                  <a:ext uri="{0D108BD9-81ED-4DB2-BD59-A6C34878D82A}">
                    <a16:rowId xmlns:a16="http://schemas.microsoft.com/office/drawing/2014/main" val="842778164"/>
                  </a:ext>
                </a:extLst>
              </a:tr>
              <a:tr h="276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Profit_Percentage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81" marR="63081" marT="31540" marB="31540"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151714"/>
                  </a:ext>
                </a:extLst>
              </a:tr>
              <a:tr h="276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distinct_categories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81" marR="63081" marT="31540" marB="315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7376320"/>
                  </a:ext>
                </a:extLst>
              </a:tr>
              <a:tr h="276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Weekend_Sales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81" marR="63081" marT="31540" marB="31540"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19919976"/>
                  </a:ext>
                </a:extLst>
              </a:tr>
              <a:tr h="276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Weekday_Sales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81" marR="63081" marT="31540" marB="31540"/>
                </a:tc>
                <a:extLst>
                  <a:ext uri="{0D108BD9-81ED-4DB2-BD59-A6C34878D82A}">
                    <a16:rowId xmlns:a16="http://schemas.microsoft.com/office/drawing/2014/main" val="3705162008"/>
                  </a:ext>
                </a:extLst>
              </a:tr>
              <a:tr h="276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Average_order_value</a:t>
                      </a:r>
                    </a:p>
                  </a:txBody>
                  <a:tcPr marL="63081" marR="63081" marT="31540" marB="31540"/>
                </a:tc>
                <a:extLst>
                  <a:ext uri="{0D108BD9-81ED-4DB2-BD59-A6C34878D82A}">
                    <a16:rowId xmlns:a16="http://schemas.microsoft.com/office/drawing/2014/main" val="2716279951"/>
                  </a:ext>
                </a:extLst>
              </a:tr>
              <a:tr h="276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Average_profit_per_tnx</a:t>
                      </a:r>
                    </a:p>
                  </a:txBody>
                  <a:tcPr marL="63081" marR="63081" marT="31540" marB="31540"/>
                </a:tc>
                <a:extLst>
                  <a:ext uri="{0D108BD9-81ED-4DB2-BD59-A6C34878D82A}">
                    <a16:rowId xmlns:a16="http://schemas.microsoft.com/office/drawing/2014/main" val="2486154548"/>
                  </a:ext>
                </a:extLst>
              </a:tr>
              <a:tr h="276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Average_profit_per_customer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81" marR="63081" marT="31540" marB="31540"/>
                </a:tc>
                <a:extLst>
                  <a:ext uri="{0D108BD9-81ED-4DB2-BD59-A6C34878D82A}">
                    <a16:rowId xmlns:a16="http://schemas.microsoft.com/office/drawing/2014/main" val="3052864883"/>
                  </a:ext>
                </a:extLst>
              </a:tr>
              <a:tr h="276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Average_customer_visits</a:t>
                      </a:r>
                    </a:p>
                  </a:txBody>
                  <a:tcPr marL="63081" marR="63081" marT="31540" marB="31540"/>
                </a:tc>
                <a:extLst>
                  <a:ext uri="{0D108BD9-81ED-4DB2-BD59-A6C34878D82A}">
                    <a16:rowId xmlns:a16="http://schemas.microsoft.com/office/drawing/2014/main" val="1388845259"/>
                  </a:ext>
                </a:extLst>
              </a:tr>
              <a:tr h="276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Average_rating_per_customer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081" marR="63081" marT="31540" marB="31540"/>
                </a:tc>
                <a:extLst>
                  <a:ext uri="{0D108BD9-81ED-4DB2-BD59-A6C34878D82A}">
                    <a16:rowId xmlns:a16="http://schemas.microsoft.com/office/drawing/2014/main" val="40662723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23010B-465C-2936-4833-634DB4F3A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392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5FD77-AF17-6E73-B18E-51489D3FA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E5B9AC-EEBF-D7BE-7C6B-42B6D75BBF2A}"/>
              </a:ext>
            </a:extLst>
          </p:cNvPr>
          <p:cNvSpPr txBox="1"/>
          <p:nvPr/>
        </p:nvSpPr>
        <p:spPr>
          <a:xfrm>
            <a:off x="1943276" y="644755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OVERVIEW</a:t>
            </a:r>
            <a:endParaRPr lang="en-IN" sz="2000" b="1" dirty="0"/>
          </a:p>
        </p:txBody>
      </p:sp>
      <p:pic>
        <p:nvPicPr>
          <p:cNvPr id="7" name="Picture 2" descr="Top 10 Retail Store Monotone Icon PowerPoint Presentation Templates in 2025">
            <a:extLst>
              <a:ext uri="{FF2B5EF4-FFF2-40B4-BE49-F238E27FC236}">
                <a16:creationId xmlns:a16="http://schemas.microsoft.com/office/drawing/2014/main" id="{FDD12795-8C1A-4839-7D17-75DA091800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38"/>
          <a:stretch/>
        </p:blipFill>
        <p:spPr bwMode="auto">
          <a:xfrm>
            <a:off x="533420" y="1225430"/>
            <a:ext cx="1530616" cy="678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468AF7-5874-F153-1435-EB16801095AE}"/>
              </a:ext>
            </a:extLst>
          </p:cNvPr>
          <p:cNvSpPr txBox="1"/>
          <p:nvPr/>
        </p:nvSpPr>
        <p:spPr>
          <a:xfrm>
            <a:off x="1690646" y="1404441"/>
            <a:ext cx="23975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37 Stores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6" name="Picture 8" descr="Location Black And White Clipart Images For Free Download - Pngtree">
            <a:extLst>
              <a:ext uri="{FF2B5EF4-FFF2-40B4-BE49-F238E27FC236}">
                <a16:creationId xmlns:a16="http://schemas.microsoft.com/office/drawing/2014/main" id="{535FC11F-E1A3-1A5F-4C7E-2825A9E83B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915" y="2038997"/>
            <a:ext cx="560869" cy="560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8FB129E-BC22-4395-6891-A5A965B3E05E}"/>
              </a:ext>
            </a:extLst>
          </p:cNvPr>
          <p:cNvSpPr txBox="1"/>
          <p:nvPr/>
        </p:nvSpPr>
        <p:spPr>
          <a:xfrm>
            <a:off x="1783897" y="2205482"/>
            <a:ext cx="13465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7 States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6" descr="Retail Communication Awareness Monotone Icon In Powerpoint Pptx Png And  Editable Eps Format PPT Sample">
            <a:extLst>
              <a:ext uri="{FF2B5EF4-FFF2-40B4-BE49-F238E27FC236}">
                <a16:creationId xmlns:a16="http://schemas.microsoft.com/office/drawing/2014/main" id="{78030CE9-CEF8-741B-87C3-C0B6BD8E9A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49" t="14374" r="21520" b="5463"/>
          <a:stretch/>
        </p:blipFill>
        <p:spPr bwMode="auto">
          <a:xfrm>
            <a:off x="881633" y="2657082"/>
            <a:ext cx="1072245" cy="870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48DCA422-5763-7903-6926-83682E8FDA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8933" y="2884659"/>
            <a:ext cx="1642129" cy="382042"/>
          </a:xfrm>
        </p:spPr>
        <p:txBody>
          <a:bodyPr>
            <a:normAutofit/>
          </a:bodyPr>
          <a:lstStyle/>
          <a:p>
            <a:r>
              <a:rPr lang="en-US" sz="1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96,803 Customers</a:t>
            </a:r>
            <a:endParaRPr lang="en-IN" sz="12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A27BDC-5BC0-8933-8331-5806A9A470F5}"/>
              </a:ext>
            </a:extLst>
          </p:cNvPr>
          <p:cNvSpPr txBox="1"/>
          <p:nvPr/>
        </p:nvSpPr>
        <p:spPr>
          <a:xfrm>
            <a:off x="1831901" y="3750906"/>
            <a:ext cx="60941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31,752 </a:t>
            </a:r>
            <a:r>
              <a:rPr lang="en-US" sz="1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</a:t>
            </a:r>
            <a:endParaRPr lang="en-IN" sz="12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0" descr="In Store Product Display Monotone Icon In Powerpoint Pptx Png And Editable  Eps Format PPT Example">
            <a:extLst>
              <a:ext uri="{FF2B5EF4-FFF2-40B4-BE49-F238E27FC236}">
                <a16:creationId xmlns:a16="http://schemas.microsoft.com/office/drawing/2014/main" id="{275BC2FC-EAE8-BF89-2E0C-5776EC03CA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71" t="22278" r="25823" b="9755"/>
          <a:stretch/>
        </p:blipFill>
        <p:spPr bwMode="auto">
          <a:xfrm>
            <a:off x="971281" y="3585443"/>
            <a:ext cx="780542" cy="655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Grocery Store Product Categories Icons Set Spice Concept Banana Vector,  Spice, Concept, Banana PNG and Vector with Transparent Background for Free  Download">
            <a:extLst>
              <a:ext uri="{FF2B5EF4-FFF2-40B4-BE49-F238E27FC236}">
                <a16:creationId xmlns:a16="http://schemas.microsoft.com/office/drawing/2014/main" id="{CC4E9D4A-4DA1-2CF1-1E45-42ABEC04E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826" y="4399491"/>
            <a:ext cx="557457" cy="563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2858D35-FFF7-887A-3447-52640BDEB7F9}"/>
              </a:ext>
            </a:extLst>
          </p:cNvPr>
          <p:cNvSpPr txBox="1"/>
          <p:nvPr/>
        </p:nvSpPr>
        <p:spPr>
          <a:xfrm>
            <a:off x="1557942" y="4473431"/>
            <a:ext cx="15982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 14 Category</a:t>
            </a:r>
          </a:p>
        </p:txBody>
      </p:sp>
      <p:pic>
        <p:nvPicPr>
          <p:cNvPr id="21" name="Picture 8" descr="Retail Sales Order Process Monotone Icon In Powerpoint Pptx Png And  Editable Eps Format PPT Slide">
            <a:extLst>
              <a:ext uri="{FF2B5EF4-FFF2-40B4-BE49-F238E27FC236}">
                <a16:creationId xmlns:a16="http://schemas.microsoft.com/office/drawing/2014/main" id="{28F678D3-3250-0855-A078-511F895E06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29" t="22277" r="19786" b="3577"/>
          <a:stretch/>
        </p:blipFill>
        <p:spPr bwMode="auto">
          <a:xfrm>
            <a:off x="759656" y="5121754"/>
            <a:ext cx="1072245" cy="705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98774E7-3F48-1208-8ACB-4C24235D056E}"/>
              </a:ext>
            </a:extLst>
          </p:cNvPr>
          <p:cNvSpPr txBox="1"/>
          <p:nvPr/>
        </p:nvSpPr>
        <p:spPr>
          <a:xfrm>
            <a:off x="1831361" y="5236865"/>
            <a:ext cx="1569009" cy="27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-&gt;96,894 Orders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8" name="Picture 10" descr="Offline Black and White Stock Photos &amp; Images - Alamy">
            <a:extLst>
              <a:ext uri="{FF2B5EF4-FFF2-40B4-BE49-F238E27FC236}">
                <a16:creationId xmlns:a16="http://schemas.microsoft.com/office/drawing/2014/main" id="{6D41EDC2-B8D1-153C-B077-6499C8B965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82" b="17771"/>
          <a:stretch/>
        </p:blipFill>
        <p:spPr bwMode="auto">
          <a:xfrm>
            <a:off x="3501058" y="1256688"/>
            <a:ext cx="780586" cy="601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9199DAF-3E8A-A435-9FCE-EA2AF6D0D7D2}"/>
              </a:ext>
            </a:extLst>
          </p:cNvPr>
          <p:cNvSpPr txBox="1"/>
          <p:nvPr/>
        </p:nvSpPr>
        <p:spPr>
          <a:xfrm>
            <a:off x="4408013" y="1406733"/>
            <a:ext cx="16421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Picture 12" descr="Retail Price Tags Monotone Icon In Powerpoint Pptx Png And Editable Eps  Format PPT Example">
            <a:extLst>
              <a:ext uri="{FF2B5EF4-FFF2-40B4-BE49-F238E27FC236}">
                <a16:creationId xmlns:a16="http://schemas.microsoft.com/office/drawing/2014/main" id="{2B1C3390-3D25-C860-2EFA-954A369638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7" t="24533" r="25548" b="10570"/>
          <a:stretch/>
        </p:blipFill>
        <p:spPr bwMode="auto">
          <a:xfrm>
            <a:off x="3474597" y="2739832"/>
            <a:ext cx="921056" cy="705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DC03A59-E9D9-798E-3066-413CA64810F5}"/>
              </a:ext>
            </a:extLst>
          </p:cNvPr>
          <p:cNvSpPr txBox="1"/>
          <p:nvPr/>
        </p:nvSpPr>
        <p:spPr>
          <a:xfrm>
            <a:off x="4515232" y="2958897"/>
            <a:ext cx="24901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12.39</a:t>
            </a:r>
            <a:r>
              <a:rPr lang="en-US" sz="1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Total Cost of Products</a:t>
            </a:r>
            <a:endParaRPr lang="en-IN" sz="12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" name="Picture 14" descr="Units Sold PowerPoint Presentation and Slides PPT PowerPoint | SlideTeam">
            <a:extLst>
              <a:ext uri="{FF2B5EF4-FFF2-40B4-BE49-F238E27FC236}">
                <a16:creationId xmlns:a16="http://schemas.microsoft.com/office/drawing/2014/main" id="{1A56047B-1F3F-3569-34E3-15149817C3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10" t="14837" r="25262"/>
          <a:stretch/>
        </p:blipFill>
        <p:spPr bwMode="auto">
          <a:xfrm>
            <a:off x="3553388" y="3479305"/>
            <a:ext cx="892935" cy="870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5824D66-087A-4075-83DF-C60E94A56EA5}"/>
              </a:ext>
            </a:extLst>
          </p:cNvPr>
          <p:cNvSpPr txBox="1"/>
          <p:nvPr/>
        </p:nvSpPr>
        <p:spPr>
          <a:xfrm>
            <a:off x="4542798" y="3750906"/>
            <a:ext cx="2117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15.45</a:t>
            </a:r>
            <a:r>
              <a:rPr lang="en-US" sz="1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Total Amount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Sold</a:t>
            </a:r>
            <a:endParaRPr lang="en-IN" sz="12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" name="Picture 22" descr="Retail Unified Commerce Monotone Icon In Powerpoint Pptx Png And Editable  Eps Format PPT Example">
            <a:extLst>
              <a:ext uri="{FF2B5EF4-FFF2-40B4-BE49-F238E27FC236}">
                <a16:creationId xmlns:a16="http://schemas.microsoft.com/office/drawing/2014/main" id="{EB80F8FE-20CC-786F-5A18-97B2698F5A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00" t="22276" r="22292" b="13009"/>
          <a:stretch/>
        </p:blipFill>
        <p:spPr bwMode="auto">
          <a:xfrm>
            <a:off x="3501058" y="1991730"/>
            <a:ext cx="907150" cy="633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B4366A5B-845F-4588-6EA2-F2297993DFFC}"/>
              </a:ext>
            </a:extLst>
          </p:cNvPr>
          <p:cNvSpPr txBox="1"/>
          <p:nvPr/>
        </p:nvSpPr>
        <p:spPr>
          <a:xfrm>
            <a:off x="4446323" y="2164354"/>
            <a:ext cx="24901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0.108</a:t>
            </a:r>
            <a:r>
              <a:rPr lang="en-US" sz="1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Total Quantity</a:t>
            </a:r>
            <a:endParaRPr lang="en-IN" sz="12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" name="Picture 24" descr="Premium Vector | Sale price tag icon Discount retail store symbol isolated  on white background">
            <a:extLst>
              <a:ext uri="{FF2B5EF4-FFF2-40B4-BE49-F238E27FC236}">
                <a16:creationId xmlns:a16="http://schemas.microsoft.com/office/drawing/2014/main" id="{CE2CBC4E-4B10-6492-D697-E739B320D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9006" y="4399491"/>
            <a:ext cx="758303" cy="649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8CCF365D-AD16-4DE1-B638-23919869F338}"/>
              </a:ext>
            </a:extLst>
          </p:cNvPr>
          <p:cNvSpPr txBox="1"/>
          <p:nvPr/>
        </p:nvSpPr>
        <p:spPr>
          <a:xfrm>
            <a:off x="4603625" y="4404484"/>
            <a:ext cx="17765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0.49 </a:t>
            </a:r>
            <a:r>
              <a:rPr lang="en-US" sz="1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Total Discount</a:t>
            </a:r>
            <a:endParaRPr lang="en-IN" sz="12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2" name="TextBox 2061">
            <a:extLst>
              <a:ext uri="{FF2B5EF4-FFF2-40B4-BE49-F238E27FC236}">
                <a16:creationId xmlns:a16="http://schemas.microsoft.com/office/drawing/2014/main" id="{0FA0A49C-0FF1-EB16-BA2C-7368FF030A3A}"/>
              </a:ext>
            </a:extLst>
          </p:cNvPr>
          <p:cNvSpPr txBox="1"/>
          <p:nvPr/>
        </p:nvSpPr>
        <p:spPr>
          <a:xfrm>
            <a:off x="6914656" y="1181882"/>
            <a:ext cx="5147396" cy="4924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buNone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Store Performance</a:t>
            </a:r>
            <a:endParaRPr lang="en-IN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14375" indent="-357188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total of 37 stores are operating across 7 states, managing a customer base of approximately 96,803.</a:t>
            </a:r>
          </a:p>
          <a:p>
            <a:pPr marL="714375" indent="-357188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average, each store serves around 2.6K customers, which helps assess regional demand and store workload.</a:t>
            </a:r>
          </a:p>
          <a:p>
            <a:pPr>
              <a:lnSpc>
                <a:spcPct val="107000"/>
              </a:lnSpc>
              <a:spcBef>
                <a:spcPts val="600"/>
              </a:spcBef>
              <a:buNone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Order Volume vs. Customer Behaviour</a:t>
            </a:r>
            <a:endParaRPr lang="en-IN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14375" indent="-357188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were approximately 96K orders placed by 96K customers, indicating that most customers made only one purchase.</a:t>
            </a:r>
          </a:p>
          <a:p>
            <a:pPr>
              <a:lnSpc>
                <a:spcPct val="107000"/>
              </a:lnSpc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Recommendations: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tells us that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purchases are low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there's a good chance to improve this by offering things like rewards or discounts to bring customers back.</a:t>
            </a:r>
          </a:p>
          <a:p>
            <a:pPr marL="357187">
              <a:lnSpc>
                <a:spcPct val="107000"/>
              </a:lnSpc>
            </a:pPr>
            <a:endParaRPr lang="en-US" sz="12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IN" sz="12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Product Range and Sales</a:t>
            </a:r>
          </a:p>
          <a:p>
            <a:pPr marL="714375" indent="-357188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business offers a wide range with </a:t>
            </a: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32K distinct products</a:t>
            </a: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across </a:t>
            </a: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14 categories</a:t>
            </a: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714375" indent="-357188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 total of </a:t>
            </a: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0.11 M units</a:t>
            </a: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were sold, resulting in an average of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</a:t>
            </a: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units per order</a:t>
            </a: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indicating that customers often buy in small quantities.</a:t>
            </a:r>
          </a:p>
          <a:p>
            <a:pPr>
              <a:lnSpc>
                <a:spcPct val="107000"/>
              </a:lnSpc>
              <a:spcBef>
                <a:spcPts val="600"/>
              </a:spcBef>
              <a:buNone/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Revenue and Cost Analysis</a:t>
            </a:r>
            <a:endParaRPr lang="en-IN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14375" indent="-357188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Cost: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12.39 M</a:t>
            </a:r>
          </a:p>
          <a:p>
            <a:pPr marL="714375" indent="-357188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Amount Sold: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15.45 M</a:t>
            </a:r>
          </a:p>
          <a:p>
            <a:pPr marL="714375" indent="-357188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Profit: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2.18 M  (17% of Total Cost)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Recommendations: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good profit margin, but it can be improved by reducing costs or adjusting pricing.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63" name="Straight Connector 2062">
            <a:extLst>
              <a:ext uri="{FF2B5EF4-FFF2-40B4-BE49-F238E27FC236}">
                <a16:creationId xmlns:a16="http://schemas.microsoft.com/office/drawing/2014/main" id="{EF522D12-E15F-4B06-977B-7A5770F0C428}"/>
              </a:ext>
            </a:extLst>
          </p:cNvPr>
          <p:cNvCxnSpPr>
            <a:cxnSpLocks/>
          </p:cNvCxnSpPr>
          <p:nvPr/>
        </p:nvCxnSpPr>
        <p:spPr>
          <a:xfrm>
            <a:off x="6823031" y="781381"/>
            <a:ext cx="14284" cy="53958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66" name="TextBox 2065">
            <a:extLst>
              <a:ext uri="{FF2B5EF4-FFF2-40B4-BE49-F238E27FC236}">
                <a16:creationId xmlns:a16="http://schemas.microsoft.com/office/drawing/2014/main" id="{F5790B88-25B7-D9CB-DA0D-F762860B0C52}"/>
              </a:ext>
            </a:extLst>
          </p:cNvPr>
          <p:cNvSpPr txBox="1"/>
          <p:nvPr/>
        </p:nvSpPr>
        <p:spPr>
          <a:xfrm>
            <a:off x="7223655" y="681567"/>
            <a:ext cx="4638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PERFORMANCE OVERVIEW</a:t>
            </a:r>
            <a:endParaRPr lang="en-IN" sz="1800" b="1" dirty="0"/>
          </a:p>
        </p:txBody>
      </p:sp>
      <p:pic>
        <p:nvPicPr>
          <p:cNvPr id="2068" name="Picture 16" descr="Top 10 Market Trend Icon PowerPoint Presentation Templates in 2025">
            <a:extLst>
              <a:ext uri="{FF2B5EF4-FFF2-40B4-BE49-F238E27FC236}">
                <a16:creationId xmlns:a16="http://schemas.microsoft.com/office/drawing/2014/main" id="{25EC3890-E73F-0E4F-3BB3-AC3BEE83D7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7" t="17561" r="25092" b="5854"/>
          <a:stretch/>
        </p:blipFill>
        <p:spPr bwMode="auto">
          <a:xfrm>
            <a:off x="3723693" y="5091889"/>
            <a:ext cx="758302" cy="678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9" name="TextBox 2068">
            <a:extLst>
              <a:ext uri="{FF2B5EF4-FFF2-40B4-BE49-F238E27FC236}">
                <a16:creationId xmlns:a16="http://schemas.microsoft.com/office/drawing/2014/main" id="{FA11373B-7E82-1BF8-EF7B-594FBB5A2D42}"/>
              </a:ext>
            </a:extLst>
          </p:cNvPr>
          <p:cNvSpPr txBox="1"/>
          <p:nvPr/>
        </p:nvSpPr>
        <p:spPr>
          <a:xfrm>
            <a:off x="4555268" y="5236865"/>
            <a:ext cx="21557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2.18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en-US" sz="1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Amount Profit</a:t>
            </a:r>
            <a:endParaRPr lang="en-IN" sz="12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454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2A4D3E-4898-91A0-D947-6DFD6B14E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D6AAC4-0354-E24C-2947-4EBFF55EFC2D}"/>
              </a:ext>
            </a:extLst>
          </p:cNvPr>
          <p:cNvSpPr/>
          <p:nvPr/>
        </p:nvSpPr>
        <p:spPr>
          <a:xfrm>
            <a:off x="591014" y="2205618"/>
            <a:ext cx="1951462" cy="6950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96,803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0E6443-6B3F-BCFC-D820-90570CC6EDEB}"/>
              </a:ext>
            </a:extLst>
          </p:cNvPr>
          <p:cNvSpPr/>
          <p:nvPr/>
        </p:nvSpPr>
        <p:spPr>
          <a:xfrm>
            <a:off x="2967357" y="2198184"/>
            <a:ext cx="1951462" cy="6950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1.00094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10C1E5-82FB-2A3C-832F-F8FEF5DBDACF}"/>
              </a:ext>
            </a:extLst>
          </p:cNvPr>
          <p:cNvSpPr/>
          <p:nvPr/>
        </p:nvSpPr>
        <p:spPr>
          <a:xfrm>
            <a:off x="5284651" y="2221313"/>
            <a:ext cx="1951462" cy="6950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159.56272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EE162B-7BEA-006F-F857-54090E094906}"/>
              </a:ext>
            </a:extLst>
          </p:cNvPr>
          <p:cNvSpPr/>
          <p:nvPr/>
        </p:nvSpPr>
        <p:spPr>
          <a:xfrm>
            <a:off x="591014" y="3498234"/>
            <a:ext cx="1951462" cy="6950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159.41286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C553B7-D8E3-B063-66C4-0E31557CA7E7}"/>
              </a:ext>
            </a:extLst>
          </p:cNvPr>
          <p:cNvSpPr/>
          <p:nvPr/>
        </p:nvSpPr>
        <p:spPr>
          <a:xfrm>
            <a:off x="2967357" y="3500093"/>
            <a:ext cx="1951462" cy="6950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22.55203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19D558-AF08-30EA-4961-444F452F1967}"/>
              </a:ext>
            </a:extLst>
          </p:cNvPr>
          <p:cNvSpPr/>
          <p:nvPr/>
        </p:nvSpPr>
        <p:spPr>
          <a:xfrm>
            <a:off x="5284651" y="3580940"/>
            <a:ext cx="1951462" cy="6123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4.078789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603E63-D2AC-3DA0-A392-019938EF4ED2}"/>
              </a:ext>
            </a:extLst>
          </p:cNvPr>
          <p:cNvSpPr/>
          <p:nvPr/>
        </p:nvSpPr>
        <p:spPr>
          <a:xfrm>
            <a:off x="591014" y="1916150"/>
            <a:ext cx="1951462" cy="308053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Customers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5F7897-FEAB-5F11-E9B7-104445636D0E}"/>
              </a:ext>
            </a:extLst>
          </p:cNvPr>
          <p:cNvSpPr/>
          <p:nvPr/>
        </p:nvSpPr>
        <p:spPr>
          <a:xfrm>
            <a:off x="2967357" y="1908715"/>
            <a:ext cx="1951462" cy="308053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Avg Transaction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2313EC-00E1-C6AE-67D5-5CA9188353B2}"/>
              </a:ext>
            </a:extLst>
          </p:cNvPr>
          <p:cNvSpPr/>
          <p:nvPr/>
        </p:nvSpPr>
        <p:spPr>
          <a:xfrm>
            <a:off x="5284651" y="1931844"/>
            <a:ext cx="1951462" cy="308053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Customer Spend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ECAECC-70B0-3E5A-E9A7-9BE96C834B50}"/>
              </a:ext>
            </a:extLst>
          </p:cNvPr>
          <p:cNvSpPr/>
          <p:nvPr/>
        </p:nvSpPr>
        <p:spPr>
          <a:xfrm>
            <a:off x="591014" y="3227350"/>
            <a:ext cx="1951462" cy="308053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Transaction value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7E5073-CB46-EF08-2ECB-EC657418AAFA}"/>
              </a:ext>
            </a:extLst>
          </p:cNvPr>
          <p:cNvSpPr/>
          <p:nvPr/>
        </p:nvSpPr>
        <p:spPr>
          <a:xfrm>
            <a:off x="2967357" y="3192040"/>
            <a:ext cx="1951462" cy="308053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profit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294E29-CF00-F732-B506-FB98E4D9C425}"/>
              </a:ext>
            </a:extLst>
          </p:cNvPr>
          <p:cNvSpPr/>
          <p:nvPr/>
        </p:nvSpPr>
        <p:spPr>
          <a:xfrm>
            <a:off x="5284651" y="3190182"/>
            <a:ext cx="1951462" cy="427928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Review per Order</a:t>
            </a:r>
            <a:endParaRPr lang="en-IN" sz="14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A44C65-C1A7-AFC0-D5B6-79EC97EFDE39}"/>
              </a:ext>
            </a:extLst>
          </p:cNvPr>
          <p:cNvSpPr txBox="1"/>
          <p:nvPr/>
        </p:nvSpPr>
        <p:spPr>
          <a:xfrm>
            <a:off x="4463277" y="953425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Behaviour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4A1166-7538-8B78-E7E7-4BED76038C72}"/>
              </a:ext>
            </a:extLst>
          </p:cNvPr>
          <p:cNvCxnSpPr>
            <a:cxnSpLocks/>
          </p:cNvCxnSpPr>
          <p:nvPr/>
        </p:nvCxnSpPr>
        <p:spPr>
          <a:xfrm>
            <a:off x="7431151" y="1916150"/>
            <a:ext cx="21796" cy="363792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2E7E800-2009-E215-FF69-F5A11584C29B}"/>
              </a:ext>
            </a:extLst>
          </p:cNvPr>
          <p:cNvSpPr txBox="1"/>
          <p:nvPr/>
        </p:nvSpPr>
        <p:spPr>
          <a:xfrm>
            <a:off x="8801101" y="1931844"/>
            <a:ext cx="14677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4D77BCDD-CB73-A1B0-7B6A-0F0322A9A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2947" y="2645585"/>
            <a:ext cx="4351751" cy="2908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Consistent Purchase Pattern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customer made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transaction on average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a one-time buyer behavior.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Stable Spend &amp; Transaction Value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Avg. Spend per Customer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159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which is nearly same as the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Avg. Transaction Value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confirming that customers made only one purchase on average.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Avg Profit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an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Avg. Profit of 22 per order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the business maintains a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~14.3% profit margin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Strong Customer Satisfaction Score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high 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Avg. Review score of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4.07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indicates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positive customer experience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79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5F7C91DB-AF67-AF82-2807-4E66A985D4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3447633"/>
              </p:ext>
            </p:extLst>
          </p:nvPr>
        </p:nvGraphicFramePr>
        <p:xfrm>
          <a:off x="3982734" y="3882141"/>
          <a:ext cx="3420841" cy="1948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AC02161-3641-CFEE-7A2B-2B88F242C0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3067056"/>
              </p:ext>
            </p:extLst>
          </p:nvPr>
        </p:nvGraphicFramePr>
        <p:xfrm>
          <a:off x="388632" y="3882141"/>
          <a:ext cx="3420841" cy="1948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68554BB-48DF-8A61-2138-3532776724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560275"/>
              </p:ext>
            </p:extLst>
          </p:nvPr>
        </p:nvGraphicFramePr>
        <p:xfrm>
          <a:off x="3982734" y="1574801"/>
          <a:ext cx="3420841" cy="21162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92C635B-6766-FEA6-12FE-77D3EE47D7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9351132"/>
              </p:ext>
            </p:extLst>
          </p:nvPr>
        </p:nvGraphicFramePr>
        <p:xfrm>
          <a:off x="388632" y="1574800"/>
          <a:ext cx="3420844" cy="21162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C7750F1-2846-27B7-28F3-EC294216D73D}"/>
              </a:ext>
            </a:extLst>
          </p:cNvPr>
          <p:cNvSpPr txBox="1"/>
          <p:nvPr/>
        </p:nvSpPr>
        <p:spPr>
          <a:xfrm>
            <a:off x="1116766" y="983603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Year-over-Year Business Performance Overview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71A7FC5-B37E-0849-4C86-7C10C93ED084}"/>
              </a:ext>
            </a:extLst>
          </p:cNvPr>
          <p:cNvCxnSpPr>
            <a:cxnSpLocks/>
          </p:cNvCxnSpPr>
          <p:nvPr/>
        </p:nvCxnSpPr>
        <p:spPr>
          <a:xfrm>
            <a:off x="7577667" y="1574800"/>
            <a:ext cx="0" cy="43911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71F2D05-0D0B-F56E-4D87-E5D454C46471}"/>
              </a:ext>
            </a:extLst>
          </p:cNvPr>
          <p:cNvSpPr txBox="1"/>
          <p:nvPr/>
        </p:nvSpPr>
        <p:spPr>
          <a:xfrm>
            <a:off x="7646871" y="1841143"/>
            <a:ext cx="438150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Year-over-Year Growth Insights (2022 → 2023)</a:t>
            </a:r>
          </a:p>
          <a:p>
            <a:pPr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Growth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customers increased from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42,693 to </a:t>
            </a:r>
            <a:r>
              <a:rPr lang="en-IN" sz="1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53,830</a:t>
            </a:r>
            <a:r>
              <a:rPr lang="en-IN" sz="1200" dirty="0"/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a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YoY growth of 26%.</a:t>
            </a:r>
          </a:p>
          <a:p>
            <a:pPr>
              <a:spcBef>
                <a:spcPts val="600"/>
              </a:spcBef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Volume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orders grew from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42,710 to 53,883</a:t>
            </a:r>
            <a:r>
              <a:rPr lang="en-US" sz="1200" dirty="0"/>
              <a:t>,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also, a</a:t>
            </a:r>
            <a:r>
              <a:rPr lang="en-US" sz="1200" dirty="0"/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26% increase.</a:t>
            </a:r>
          </a:p>
          <a:p>
            <a:pPr>
              <a:spcBef>
                <a:spcPts val="600"/>
              </a:spcBef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Expansion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Total products increased from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16,251 to 20,078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22% growth.</a:t>
            </a:r>
          </a:p>
          <a:p>
            <a:pPr>
              <a:spcBef>
                <a:spcPts val="600"/>
              </a:spcBef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Growth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Total profit increased from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0.93 M  to 1.24 M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showing a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32% YoY growth.</a:t>
            </a: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61B52C-4BCC-F424-547F-AC3468161C7F}"/>
              </a:ext>
            </a:extLst>
          </p:cNvPr>
          <p:cNvSpPr/>
          <p:nvPr/>
        </p:nvSpPr>
        <p:spPr>
          <a:xfrm>
            <a:off x="3158063" y="2350919"/>
            <a:ext cx="160866" cy="136897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FF7A90F-B624-1026-2C7D-1246BF2A7AD5}"/>
              </a:ext>
            </a:extLst>
          </p:cNvPr>
          <p:cNvSpPr/>
          <p:nvPr/>
        </p:nvSpPr>
        <p:spPr>
          <a:xfrm>
            <a:off x="7701270" y="2419368"/>
            <a:ext cx="160866" cy="136897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EB87124-B976-7767-A5FA-DF971AFFC2A3}"/>
              </a:ext>
            </a:extLst>
          </p:cNvPr>
          <p:cNvSpPr/>
          <p:nvPr/>
        </p:nvSpPr>
        <p:spPr>
          <a:xfrm>
            <a:off x="6778182" y="2315828"/>
            <a:ext cx="160866" cy="136897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2CE6847-9183-3428-5D27-D93B1D15D776}"/>
              </a:ext>
            </a:extLst>
          </p:cNvPr>
          <p:cNvSpPr/>
          <p:nvPr/>
        </p:nvSpPr>
        <p:spPr>
          <a:xfrm>
            <a:off x="7701270" y="3041977"/>
            <a:ext cx="160866" cy="136897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721542C-406E-9414-1E6C-E6B18C60B3BA}"/>
              </a:ext>
            </a:extLst>
          </p:cNvPr>
          <p:cNvSpPr/>
          <p:nvPr/>
        </p:nvSpPr>
        <p:spPr>
          <a:xfrm>
            <a:off x="7701270" y="3463067"/>
            <a:ext cx="160866" cy="136897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IN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73C7DA8-7F4E-EB27-3DE2-650EB047A627}"/>
              </a:ext>
            </a:extLst>
          </p:cNvPr>
          <p:cNvSpPr/>
          <p:nvPr/>
        </p:nvSpPr>
        <p:spPr>
          <a:xfrm>
            <a:off x="6778182" y="4716710"/>
            <a:ext cx="160866" cy="136897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IN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73C7DA8-7F4E-EB27-3DE2-650EB047A627}"/>
              </a:ext>
            </a:extLst>
          </p:cNvPr>
          <p:cNvSpPr/>
          <p:nvPr/>
        </p:nvSpPr>
        <p:spPr>
          <a:xfrm>
            <a:off x="7701270" y="3944934"/>
            <a:ext cx="160866" cy="136897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IN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358EF3FD-A91C-D36E-8B83-75255CF2E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7</a:t>
            </a:fld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6CCD551-8EF6-EF66-1A2A-EDFEDD5530F3}"/>
              </a:ext>
            </a:extLst>
          </p:cNvPr>
          <p:cNvSpPr/>
          <p:nvPr/>
        </p:nvSpPr>
        <p:spPr>
          <a:xfrm>
            <a:off x="3158063" y="4716711"/>
            <a:ext cx="160866" cy="136897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IN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972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AA2742-EBB8-49E7-5ADB-F18F1927C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8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932111-86C6-4FD7-8BDB-603B2AE38F34}"/>
              </a:ext>
            </a:extLst>
          </p:cNvPr>
          <p:cNvCxnSpPr>
            <a:cxnSpLocks/>
          </p:cNvCxnSpPr>
          <p:nvPr/>
        </p:nvCxnSpPr>
        <p:spPr>
          <a:xfrm>
            <a:off x="8090624" y="1773044"/>
            <a:ext cx="0" cy="42999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1D7D0D9-72F9-0C71-3B3D-A785C0B32D09}"/>
              </a:ext>
            </a:extLst>
          </p:cNvPr>
          <p:cNvSpPr txBox="1"/>
          <p:nvPr/>
        </p:nvSpPr>
        <p:spPr>
          <a:xfrm>
            <a:off x="2556057" y="859978"/>
            <a:ext cx="71789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Year-over-Year Customer &amp; Business Performance Overview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E2C93F-E96B-42CC-269E-4B54CE0CB2AF}"/>
              </a:ext>
            </a:extLst>
          </p:cNvPr>
          <p:cNvSpPr txBox="1"/>
          <p:nvPr/>
        </p:nvSpPr>
        <p:spPr>
          <a:xfrm>
            <a:off x="8218958" y="1569608"/>
            <a:ext cx="3878554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Year-over-year Growth Insights </a:t>
            </a:r>
          </a:p>
          <a:p>
            <a:pPr algn="ctr">
              <a:spcAft>
                <a:spcPts val="600"/>
              </a:spcAf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(2022 → 2023)</a:t>
            </a: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B83C9A37-7894-06B8-3BFD-6ABEDCCB3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0624" y="2523971"/>
            <a:ext cx="3878551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YoY Total Average Transactions</a:t>
            </a:r>
            <a:endParaRPr kumimoji="0" lang="en-US" altLang="en-US" sz="12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Mirrors this exact trend (since each customer makes 1 transaction/year on average).</a:t>
            </a:r>
          </a:p>
          <a:p>
            <a:pPr marR="0" lvl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YoY Average Customer Spend</a:t>
            </a:r>
            <a:endParaRPr kumimoji="0" lang="en-US" altLang="en-US" sz="12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Customer Spend dropped from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184 in 2021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160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2022 and stayed stable in 2023.</a:t>
            </a:r>
          </a:p>
          <a:p>
            <a:pPr rtl="0">
              <a:spcBef>
                <a:spcPts val="600"/>
              </a:spcBef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YoY Average Profit</a:t>
            </a:r>
          </a:p>
          <a:p>
            <a:pPr marR="0" lvl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Profit per Transaction slightly decreased from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 in 2021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 in 2022 but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slightly increased again to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 in 2023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YoY Average Review per Order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Review per Order increased from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3.71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2021 to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4.14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2022 and stayed stable in 2023.</a:t>
            </a:r>
            <a:endParaRPr lang="en-IN" sz="1200" dirty="0"/>
          </a:p>
          <a:p>
            <a:pPr marR="0" lvl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58F11CA-E493-6D42-5770-AF1F2A9246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653181"/>
              </p:ext>
            </p:extLst>
          </p:nvPr>
        </p:nvGraphicFramePr>
        <p:xfrm>
          <a:off x="523411" y="1694986"/>
          <a:ext cx="3401817" cy="20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C7D6B3E4-6BDC-57E1-771B-48F14C122F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0132993"/>
              </p:ext>
            </p:extLst>
          </p:nvPr>
        </p:nvGraphicFramePr>
        <p:xfrm>
          <a:off x="4212072" y="1694986"/>
          <a:ext cx="3649531" cy="20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990CAA6D-EF5F-7826-5D5F-891B65C7DB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5448684"/>
              </p:ext>
            </p:extLst>
          </p:nvPr>
        </p:nvGraphicFramePr>
        <p:xfrm>
          <a:off x="523411" y="3885561"/>
          <a:ext cx="3401817" cy="2112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7F3DF810-C9E4-9F2F-5FBB-2A3AE213D5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2027047"/>
              </p:ext>
            </p:extLst>
          </p:nvPr>
        </p:nvGraphicFramePr>
        <p:xfrm>
          <a:off x="4224767" y="3885561"/>
          <a:ext cx="3649530" cy="2112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4151563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4453CB9-3C7C-DCFB-800C-05ECFB102AC3}"/>
              </a:ext>
            </a:extLst>
          </p:cNvPr>
          <p:cNvSpPr txBox="1"/>
          <p:nvPr/>
        </p:nvSpPr>
        <p:spPr>
          <a:xfrm>
            <a:off x="1820435" y="785567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Regional Store Performance Analysis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220FDE1-9294-7E90-361A-FAA5926E028A}"/>
              </a:ext>
            </a:extLst>
          </p:cNvPr>
          <p:cNvCxnSpPr>
            <a:cxnSpLocks/>
          </p:cNvCxnSpPr>
          <p:nvPr/>
        </p:nvCxnSpPr>
        <p:spPr>
          <a:xfrm>
            <a:off x="8770848" y="1267719"/>
            <a:ext cx="0" cy="4812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ED3C48D-41E7-E7F6-CAB8-A7D600D40C00}"/>
              </a:ext>
            </a:extLst>
          </p:cNvPr>
          <p:cNvSpPr txBox="1"/>
          <p:nvPr/>
        </p:nvSpPr>
        <p:spPr>
          <a:xfrm>
            <a:off x="8943277" y="1446138"/>
            <a:ext cx="2962493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BY REGION</a:t>
            </a:r>
          </a:p>
          <a:p>
            <a:pPr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 Region – Top Performer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in all key metrics:</a:t>
            </a:r>
          </a:p>
          <a:p>
            <a:pPr marL="360363" lvl="1" indent="-182563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Customers/Orders: ~3.5 K</a:t>
            </a:r>
          </a:p>
          <a:p>
            <a:pPr marL="360363" lvl="1" indent="-182563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Quantity: 3,936</a:t>
            </a:r>
          </a:p>
          <a:p>
            <a:pPr marL="360363" lvl="1" indent="-182563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Profit: 77,442</a:t>
            </a:r>
          </a:p>
          <a:p>
            <a:pPr>
              <a:spcBef>
                <a:spcPts val="600"/>
              </a:spcBef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South Region </a:t>
            </a:r>
          </a:p>
          <a:p>
            <a:pPr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Second-highest in all metrics:</a:t>
            </a:r>
          </a:p>
          <a:p>
            <a:pPr marL="360363" lvl="1" indent="-182563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Customers: 2.9 K</a:t>
            </a:r>
          </a:p>
          <a:p>
            <a:pPr marL="360363" lvl="1" indent="-182563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Quantity: 3,357</a:t>
            </a:r>
          </a:p>
          <a:p>
            <a:pPr marL="360363" lvl="1" indent="-182563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Profit: ₹65,581</a:t>
            </a:r>
          </a:p>
          <a:p>
            <a:pPr>
              <a:spcBef>
                <a:spcPts val="600"/>
              </a:spcBef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East Region – Moderate Performance</a:t>
            </a:r>
          </a:p>
          <a:p>
            <a:pPr marL="360363" indent="-182563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Customers &amp; Orders: 1.8 K</a:t>
            </a:r>
          </a:p>
          <a:p>
            <a:pPr marL="360363" indent="-182563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Profit: ₹55,310</a:t>
            </a:r>
          </a:p>
          <a:p>
            <a:pPr>
              <a:spcBef>
                <a:spcPts val="600"/>
              </a:spcBef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 Region – Lowest Across Metrics</a:t>
            </a:r>
          </a:p>
          <a:p>
            <a:pPr marL="360363" indent="-182563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Customers: 1.2 K</a:t>
            </a:r>
          </a:p>
          <a:p>
            <a:pPr marL="360363" indent="-182563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Quantity: 1,386</a:t>
            </a:r>
          </a:p>
          <a:p>
            <a:pPr marL="360363" indent="-182563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Profit: ₹31,992</a:t>
            </a:r>
          </a:p>
          <a:p>
            <a:pPr>
              <a:spcBef>
                <a:spcPts val="600"/>
              </a:spcBef>
            </a:pP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3540EE4-ACA7-0E4B-DF6C-E8639E9AF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70804A8-CFCE-D071-EFC4-BA5AED9E54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5254255"/>
              </p:ext>
            </p:extLst>
          </p:nvPr>
        </p:nvGraphicFramePr>
        <p:xfrm>
          <a:off x="164368" y="1345623"/>
          <a:ext cx="2733011" cy="20687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195F50E1-88AF-1D6F-C751-2F88934631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7600184"/>
              </p:ext>
            </p:extLst>
          </p:nvPr>
        </p:nvGraphicFramePr>
        <p:xfrm>
          <a:off x="2993554" y="1345623"/>
          <a:ext cx="2733012" cy="2040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8D4BBB9A-B2CD-8BFC-7DEB-9699BFA28E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2033501"/>
              </p:ext>
            </p:extLst>
          </p:nvPr>
        </p:nvGraphicFramePr>
        <p:xfrm>
          <a:off x="5859507" y="1345623"/>
          <a:ext cx="2733011" cy="2040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0A46277B-F65F-6CE5-C51A-0BF9992793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9237411"/>
              </p:ext>
            </p:extLst>
          </p:nvPr>
        </p:nvGraphicFramePr>
        <p:xfrm>
          <a:off x="313783" y="3574275"/>
          <a:ext cx="3980870" cy="22636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FD081741-912D-5113-0E22-DCBFE7DEFA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4140141"/>
              </p:ext>
            </p:extLst>
          </p:nvPr>
        </p:nvGraphicFramePr>
        <p:xfrm>
          <a:off x="4500749" y="3574275"/>
          <a:ext cx="4091767" cy="22636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485246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78AAF-75CD-AD60-9954-00F624C93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10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25B793E-C7FA-AE70-D045-F01C007DC009}"/>
              </a:ext>
            </a:extLst>
          </p:cNvPr>
          <p:cNvCxnSpPr>
            <a:cxnSpLocks/>
          </p:cNvCxnSpPr>
          <p:nvPr/>
        </p:nvCxnSpPr>
        <p:spPr>
          <a:xfrm>
            <a:off x="8999034" y="1385539"/>
            <a:ext cx="0" cy="447721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E82C872-3053-1504-0455-164B36061121}"/>
              </a:ext>
            </a:extLst>
          </p:cNvPr>
          <p:cNvSpPr txBox="1"/>
          <p:nvPr/>
        </p:nvSpPr>
        <p:spPr>
          <a:xfrm>
            <a:off x="3718931" y="750638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Customer Behaviour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C82F61-0817-642F-9379-D258A2646559}"/>
              </a:ext>
            </a:extLst>
          </p:cNvPr>
          <p:cNvSpPr txBox="1"/>
          <p:nvPr/>
        </p:nvSpPr>
        <p:spPr>
          <a:xfrm>
            <a:off x="9205482" y="1487783"/>
            <a:ext cx="38204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BY REGION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F68686-EBDA-4C90-1982-E26F1869202C}"/>
              </a:ext>
            </a:extLst>
          </p:cNvPr>
          <p:cNvSpPr txBox="1"/>
          <p:nvPr/>
        </p:nvSpPr>
        <p:spPr>
          <a:xfrm>
            <a:off x="8999034" y="2159421"/>
            <a:ext cx="3098477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Highest Spend – North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 customers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spend the most per transaction (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206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making them your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top-value region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Highest Profit – East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East region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delivers the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Avg. Profit per order (30)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despite having the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spend (₹142)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Highest Customer Base – South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South has the largest customer base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far (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74,788 customers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~70% of total).</a:t>
            </a:r>
          </a:p>
          <a:p>
            <a:pPr>
              <a:spcBef>
                <a:spcPts val="600"/>
              </a:spcBef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Best Customer Satisfaction – East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East leads with a 4.17 average review score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followed closely by South.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DB0A764-407C-68F9-5B55-888C517E55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9865850"/>
              </p:ext>
            </p:extLst>
          </p:nvPr>
        </p:nvGraphicFramePr>
        <p:xfrm>
          <a:off x="335655" y="1385539"/>
          <a:ext cx="2857312" cy="19960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CE99432-33C6-DC37-0EEF-390087E5C5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0784234"/>
              </p:ext>
            </p:extLst>
          </p:nvPr>
        </p:nvGraphicFramePr>
        <p:xfrm>
          <a:off x="3286521" y="1385540"/>
          <a:ext cx="2809479" cy="19960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BA9CD299-F93F-45C1-5B66-6FD6EDCE70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1101389"/>
              </p:ext>
            </p:extLst>
          </p:nvPr>
        </p:nvGraphicFramePr>
        <p:xfrm>
          <a:off x="6189554" y="1385539"/>
          <a:ext cx="2686815" cy="2025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1D734B3E-3EC6-EB33-E094-B351DA3748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4459163"/>
              </p:ext>
            </p:extLst>
          </p:nvPr>
        </p:nvGraphicFramePr>
        <p:xfrm>
          <a:off x="979725" y="3676227"/>
          <a:ext cx="3391551" cy="21912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395790C0-E279-7163-4B5E-FE3F5C649F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886692"/>
              </p:ext>
            </p:extLst>
          </p:nvPr>
        </p:nvGraphicFramePr>
        <p:xfrm>
          <a:off x="4691260" y="3676227"/>
          <a:ext cx="3293309" cy="2186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639341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2E0CE2-5B0D-100A-C495-B2C6D5B43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3748A15-0475-04B0-81C4-9A613FEBBB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9494903"/>
              </p:ext>
            </p:extLst>
          </p:nvPr>
        </p:nvGraphicFramePr>
        <p:xfrm>
          <a:off x="843775" y="1583473"/>
          <a:ext cx="3282176" cy="20406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55D3A102-5EFC-490A-484D-5A10A82F41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3783657"/>
              </p:ext>
            </p:extLst>
          </p:nvPr>
        </p:nvGraphicFramePr>
        <p:xfrm>
          <a:off x="4523678" y="1583473"/>
          <a:ext cx="3282176" cy="20406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FD90BD-E2E5-BEF5-61DD-F6720F22F2B8}"/>
              </a:ext>
            </a:extLst>
          </p:cNvPr>
          <p:cNvCxnSpPr>
            <a:cxnSpLocks/>
          </p:cNvCxnSpPr>
          <p:nvPr/>
        </p:nvCxnSpPr>
        <p:spPr>
          <a:xfrm>
            <a:off x="8034868" y="1583473"/>
            <a:ext cx="0" cy="44317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08030B8-A82F-9730-FF22-62357B39E16E}"/>
              </a:ext>
            </a:extLst>
          </p:cNvPr>
          <p:cNvSpPr txBox="1"/>
          <p:nvPr/>
        </p:nvSpPr>
        <p:spPr>
          <a:xfrm>
            <a:off x="2106134" y="882670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 vs Weekend Sales Performance (1/2)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578010-DF89-A41E-EB3B-B4CF5089AAE2}"/>
              </a:ext>
            </a:extLst>
          </p:cNvPr>
          <p:cNvSpPr txBox="1"/>
          <p:nvPr/>
        </p:nvSpPr>
        <p:spPr>
          <a:xfrm>
            <a:off x="8200274" y="1679121"/>
            <a:ext cx="3577198" cy="330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  <a:p>
            <a:pPr algn="ctr"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Distribution: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4988" lvl="1" indent="-357188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the customers shop on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76,986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to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weekends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20,418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spcBef>
                <a:spcPts val="600"/>
              </a:spcBef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Volume: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92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similar trend in orders placed, with 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lang="en-IN" sz="1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76,996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orders on weekdays and 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lang="en-IN" sz="1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20,419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weekends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Generation: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4988" lvl="1" indent="-357188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significantly higher: </a:t>
            </a:r>
          </a:p>
          <a:p>
            <a:pPr marL="177800" lvl="1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12 M vs 3 M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weekends.</a:t>
            </a:r>
          </a:p>
          <a:p>
            <a:pPr marL="0" lvl="1">
              <a:spcBef>
                <a:spcPts val="600"/>
              </a:spcBef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Analysis:</a:t>
            </a:r>
          </a:p>
          <a:p>
            <a:pPr marL="534988" lvl="1" indent="-357188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on weekdays: 1.73 M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much higher than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0.45 M on weekends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CA5F9A7-E4F0-9193-EB42-07AA2C6142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8075514"/>
              </p:ext>
            </p:extLst>
          </p:nvPr>
        </p:nvGraphicFramePr>
        <p:xfrm>
          <a:off x="843776" y="3847235"/>
          <a:ext cx="3282175" cy="20963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0CF6B7C-17B4-DB69-236B-B7DA09D615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525309"/>
              </p:ext>
            </p:extLst>
          </p:nvPr>
        </p:nvGraphicFramePr>
        <p:xfrm>
          <a:off x="4523677" y="3847235"/>
          <a:ext cx="3282173" cy="20963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27532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D2EFF-485B-CEC6-9470-9EA48B9A5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12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451F464-4CC7-1B34-63B9-38394830E345}"/>
              </a:ext>
            </a:extLst>
          </p:cNvPr>
          <p:cNvCxnSpPr>
            <a:cxnSpLocks/>
          </p:cNvCxnSpPr>
          <p:nvPr/>
        </p:nvCxnSpPr>
        <p:spPr>
          <a:xfrm>
            <a:off x="5503543" y="1561170"/>
            <a:ext cx="0" cy="44397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4066A45-4AD3-2447-B1D7-2D60BA204C1F}"/>
              </a:ext>
            </a:extLst>
          </p:cNvPr>
          <p:cNvSpPr txBox="1"/>
          <p:nvPr/>
        </p:nvSpPr>
        <p:spPr>
          <a:xfrm>
            <a:off x="3660388" y="925546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 vs Weekend Sales Performance (2/2)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091F54-6F35-9F01-B248-4CA2E7891DF2}"/>
              </a:ext>
            </a:extLst>
          </p:cNvPr>
          <p:cNvSpPr txBox="1"/>
          <p:nvPr/>
        </p:nvSpPr>
        <p:spPr>
          <a:xfrm>
            <a:off x="5723469" y="1726409"/>
            <a:ext cx="5881232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  <a:p>
            <a:pPr algn="ctr"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Transactions: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account for a significantly higher number of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 (76,996)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to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weekends (20,419).</a:t>
            </a:r>
          </a:p>
          <a:p>
            <a:pPr>
              <a:spcBef>
                <a:spcPts val="600"/>
              </a:spcBef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Transactions: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transaction per order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almost identical across both periods: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Weekday: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42.00156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Weekend: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42.00037 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7BF25E8C-BC24-E9DB-AA4D-DFE01D1AE1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2467792"/>
              </p:ext>
            </p:extLst>
          </p:nvPr>
        </p:nvGraphicFramePr>
        <p:xfrm>
          <a:off x="587297" y="1561170"/>
          <a:ext cx="4572000" cy="20032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5BE45D3-3D1D-153A-DB99-FF0E0891E3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0813149"/>
              </p:ext>
            </p:extLst>
          </p:nvPr>
        </p:nvGraphicFramePr>
        <p:xfrm>
          <a:off x="587297" y="3680790"/>
          <a:ext cx="4572000" cy="22516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39234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C43A27-3412-1760-413D-F8C563FD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13</a:t>
            </a:fld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E3494B-B500-4EF2-5EC7-2A7F5E119024}"/>
              </a:ext>
            </a:extLst>
          </p:cNvPr>
          <p:cNvSpPr txBox="1"/>
          <p:nvPr/>
        </p:nvSpPr>
        <p:spPr>
          <a:xfrm>
            <a:off x="883735" y="1762926"/>
            <a:ext cx="9654168" cy="4179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1. Weekend-Only Promotions</a:t>
            </a:r>
            <a:endParaRPr lang="en-IN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Exclusive Discounts:</a:t>
            </a: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Offer limited-time discounts only valid on weekends.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BOGO Deals:</a:t>
            </a: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"Buy one, get one free" or similar offers can increase volume.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2. Loyalty Incentives</a:t>
            </a:r>
            <a:endParaRPr lang="en-IN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Double Points on Weekends:</a:t>
            </a: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Reward loyal customers with extra points for weekend purchases.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Weekend Challenges:</a:t>
            </a: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Offer a reward (e.g., free item, discount) for visiting or ordering on both Saturday and Sunday.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 Targeted Marketing Campaigns</a:t>
            </a:r>
            <a:endParaRPr lang="en-IN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SMS/Email Reminders:</a:t>
            </a: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Send weekend-specific offers to your customer base.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Social Media Ads:</a:t>
            </a: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Promote weekend specials using geo-targeting and interest filters.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4. Themed Weekend Events</a:t>
            </a:r>
            <a:endParaRPr lang="en-IN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Live Music, Games, or Themes:</a:t>
            </a: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Create a reason to visit beyond just the food/product.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Examples: "Sunday Brunch Vibes", "Saturday Game Night", "Family Fun Weekend".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5. Weekend-Only Delivery Perks</a:t>
            </a:r>
            <a:endParaRPr lang="en-IN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Free Delivery or Reduced Fees:</a:t>
            </a: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Incentivize online orders with delivery discounts on weekends.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76DD9D-CD9B-4A26-3B98-F2E6FE7FD79B}"/>
              </a:ext>
            </a:extLst>
          </p:cNvPr>
          <p:cNvSpPr txBox="1"/>
          <p:nvPr/>
        </p:nvSpPr>
        <p:spPr>
          <a:xfrm>
            <a:off x="3048930" y="1036392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</a:t>
            </a:r>
          </a:p>
        </p:txBody>
      </p:sp>
    </p:spTree>
    <p:extLst>
      <p:ext uri="{BB962C8B-B14F-4D97-AF65-F5344CB8AC3E}">
        <p14:creationId xmlns:p14="http://schemas.microsoft.com/office/powerpoint/2010/main" val="4049158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C4376D-8EAC-6B6C-110B-DF7BADF13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14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4727EC-9D51-DE96-ED68-7E289F92C6A8}"/>
              </a:ext>
            </a:extLst>
          </p:cNvPr>
          <p:cNvCxnSpPr>
            <a:cxnSpLocks/>
          </p:cNvCxnSpPr>
          <p:nvPr/>
        </p:nvCxnSpPr>
        <p:spPr>
          <a:xfrm>
            <a:off x="8514371" y="1610767"/>
            <a:ext cx="0" cy="43861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EF9E656-C443-A3F1-8CBB-87ABEFD97957}"/>
              </a:ext>
            </a:extLst>
          </p:cNvPr>
          <p:cNvSpPr txBox="1"/>
          <p:nvPr/>
        </p:nvSpPr>
        <p:spPr>
          <a:xfrm>
            <a:off x="965200" y="933810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Channel-wise Performance Analysis – Weekday Vs Weekend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DBF3A5-136C-C145-07C3-05684391A918}"/>
              </a:ext>
            </a:extLst>
          </p:cNvPr>
          <p:cNvSpPr txBox="1"/>
          <p:nvPr/>
        </p:nvSpPr>
        <p:spPr>
          <a:xfrm>
            <a:off x="9635067" y="1610767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C3D82D63-91FC-DB34-4A7F-80B4CDE29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5972" y="2000107"/>
            <a:ext cx="3372828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and Order Distribution: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In-store channel dominates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the highest number of customers and orders across both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weekdays (67K+)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weekends (17K+).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Revenue Analysis: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In-store sales on weekdays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generate the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highest revenue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10.7 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followed by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Phone Delivery on weekdays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1.30 M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Profit Contribution: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In-store weekday operations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bring the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highest profit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(1.51 M),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followed by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Phone Delivery weekday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(0.18  </a:t>
            </a: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Channel Comparison: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Phone Delivery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performs better than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both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suggesting higher order values or better margins.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F9A640D-58B6-B58A-3364-75BB34A2F3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1955931"/>
              </p:ext>
            </p:extLst>
          </p:nvPr>
        </p:nvGraphicFramePr>
        <p:xfrm>
          <a:off x="496486" y="1610767"/>
          <a:ext cx="3676858" cy="21112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5E8E6DF-EF83-A1FC-69E1-9DF8B78B53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5613021"/>
              </p:ext>
            </p:extLst>
          </p:nvPr>
        </p:nvGraphicFramePr>
        <p:xfrm>
          <a:off x="4438649" y="1610767"/>
          <a:ext cx="3599985" cy="21112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7866BC71-D821-D5A3-406D-B075AA1526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8697001"/>
              </p:ext>
            </p:extLst>
          </p:nvPr>
        </p:nvGraphicFramePr>
        <p:xfrm>
          <a:off x="529473" y="3875633"/>
          <a:ext cx="3676858" cy="20485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98BFD68D-BD79-C864-5AA2-290B4FD98A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2100026"/>
              </p:ext>
            </p:extLst>
          </p:nvPr>
        </p:nvGraphicFramePr>
        <p:xfrm>
          <a:off x="4438649" y="3858450"/>
          <a:ext cx="3599984" cy="2065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038500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E61D4-162C-A1CE-9E95-652B3CEF9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19FEE-BD66-25BA-2FEA-40090FF94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15</a:t>
            </a:fld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C75CDD-1F2F-B57D-7E94-0EBB28366DCD}"/>
              </a:ext>
            </a:extLst>
          </p:cNvPr>
          <p:cNvSpPr txBox="1"/>
          <p:nvPr/>
        </p:nvSpPr>
        <p:spPr>
          <a:xfrm>
            <a:off x="3048930" y="1036392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EDF761-2C6E-3BFE-EC2D-6181BEE6E906}"/>
              </a:ext>
            </a:extLst>
          </p:cNvPr>
          <p:cNvSpPr txBox="1"/>
          <p:nvPr/>
        </p:nvSpPr>
        <p:spPr>
          <a:xfrm>
            <a:off x="906036" y="2034498"/>
            <a:ext cx="7635797" cy="3278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Instore</a:t>
            </a:r>
            <a:endParaRPr lang="en-IN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Weekend Special Offers: Give discounts only on Saturday &amp; Sunday.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Family Deals: Offer combo meals or discounts for groups.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Fun Events: Add live music, games, or lucky draws to attract more people.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Phone Delivery</a:t>
            </a:r>
            <a:endParaRPr lang="en-IN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Free Delivery on Weekends: Remove delivery charges to get more orders.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Call &amp; Win: Random weekend orders win a free item or discount.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Online Orders</a:t>
            </a:r>
            <a:endParaRPr lang="en-IN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Online-Only Discounts: Give special offers only for online orders on weekends.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Simple Ordering: Make sure your website or app is easy to use.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Promote Online Deals: Share weekend deals on WhatsApp, social media, and email.</a:t>
            </a:r>
          </a:p>
        </p:txBody>
      </p:sp>
    </p:spTree>
    <p:extLst>
      <p:ext uri="{BB962C8B-B14F-4D97-AF65-F5344CB8AC3E}">
        <p14:creationId xmlns:p14="http://schemas.microsoft.com/office/powerpoint/2010/main" val="3981778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4FA1F-C31F-0832-B1B5-97D78B58E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7FCF00AC-4E36-1D7B-0647-48F1A10DA6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9536892"/>
              </p:ext>
            </p:extLst>
          </p:nvPr>
        </p:nvGraphicFramePr>
        <p:xfrm>
          <a:off x="643055" y="1645715"/>
          <a:ext cx="5452945" cy="42541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0588D84-78DD-7F4F-EB70-AC6EF84D6843}"/>
              </a:ext>
            </a:extLst>
          </p:cNvPr>
          <p:cNvSpPr txBox="1"/>
          <p:nvPr/>
        </p:nvSpPr>
        <p:spPr>
          <a:xfrm>
            <a:off x="6581008" y="1575663"/>
            <a:ext cx="5049714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Instore Channel Dominates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₹1,43,42,453 (Highest among all)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₹20,56,160 (Also the highest)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channel is the most significant contributor to both revenue and profit, suggesting it’s the most effective and possibly mature channel.</a:t>
            </a:r>
          </a:p>
          <a:p>
            <a:pPr>
              <a:spcBef>
                <a:spcPts val="600"/>
              </a:spcBef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Phone Delivery is the Second Strongest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₹17,22,160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₹2,49,466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Though far behind instore, phone delivery generates a decent chunk of revenue and profit, indicating its potential as a support or growth channel.</a:t>
            </a:r>
          </a:p>
          <a:p>
            <a:pPr>
              <a:spcBef>
                <a:spcPts val="600"/>
              </a:spcBef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Online Channel is Least Effective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₹2,87,866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₹37,705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revenue and profit are minimal, pointing to either underutilization, poor digital presence, or inefficiencies in the online channel.</a:t>
            </a:r>
          </a:p>
          <a:p>
            <a:pPr>
              <a:spcBef>
                <a:spcPts val="600"/>
              </a:spcBef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Profitability Trend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three channels are profitable (positive profit values).</a:t>
            </a:r>
          </a:p>
          <a:p>
            <a:pPr>
              <a:spcBef>
                <a:spcPts val="600"/>
              </a:spcBef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Margins (approximate)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Instore: ~14.3%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Delivery: ~14.5%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Online: ~1.3%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phone delivery has a slightly better margin than instore, the revenue base is much smaller.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5838B0C-45D1-F42C-A8EE-AB71201FEBC5}"/>
              </a:ext>
            </a:extLst>
          </p:cNvPr>
          <p:cNvCxnSpPr>
            <a:cxnSpLocks/>
          </p:cNvCxnSpPr>
          <p:nvPr/>
        </p:nvCxnSpPr>
        <p:spPr>
          <a:xfrm>
            <a:off x="6244683" y="1399477"/>
            <a:ext cx="0" cy="474666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516BAB7-6E88-8CDF-6D28-7A38C7C88733}"/>
              </a:ext>
            </a:extLst>
          </p:cNvPr>
          <p:cNvSpPr txBox="1"/>
          <p:nvPr/>
        </p:nvSpPr>
        <p:spPr>
          <a:xfrm>
            <a:off x="8409432" y="124268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D1B59A-A10A-7109-7B8B-96CE38BFFE2D}"/>
              </a:ext>
            </a:extLst>
          </p:cNvPr>
          <p:cNvSpPr txBox="1"/>
          <p:nvPr/>
        </p:nvSpPr>
        <p:spPr>
          <a:xfrm>
            <a:off x="4312235" y="701313"/>
            <a:ext cx="95872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 Performance Analysis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6573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9C4CB-AEA2-D13B-BFA4-DBA804C6D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4EF595-7383-C0AB-705F-53CD45BAC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5679985-E6E1-11F6-4DF3-D50EC8AF49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4356620"/>
              </p:ext>
            </p:extLst>
          </p:nvPr>
        </p:nvGraphicFramePr>
        <p:xfrm>
          <a:off x="561278" y="1483112"/>
          <a:ext cx="5352586" cy="26428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F2AAE0F-9BB7-93AE-4D5C-9BDA9BE972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5880336"/>
              </p:ext>
            </p:extLst>
          </p:nvPr>
        </p:nvGraphicFramePr>
        <p:xfrm>
          <a:off x="6278138" y="1483112"/>
          <a:ext cx="5353200" cy="26428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EF7C300-A080-D715-AEEB-3C7097295966}"/>
              </a:ext>
            </a:extLst>
          </p:cNvPr>
          <p:cNvSpPr txBox="1"/>
          <p:nvPr/>
        </p:nvSpPr>
        <p:spPr>
          <a:xfrm>
            <a:off x="2777065" y="845235"/>
            <a:ext cx="79163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Category-wise Revenue &amp; Profit Comparison – Weekday vs Weekend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BA0597-5D69-C605-1024-152907C9561D}"/>
              </a:ext>
            </a:extLst>
          </p:cNvPr>
          <p:cNvSpPr txBox="1"/>
          <p:nvPr/>
        </p:nvSpPr>
        <p:spPr>
          <a:xfrm>
            <a:off x="561278" y="4275692"/>
            <a:ext cx="60977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EBCDB9-4F91-4198-1C5F-146EB8CEFF74}"/>
              </a:ext>
            </a:extLst>
          </p:cNvPr>
          <p:cNvSpPr txBox="1"/>
          <p:nvPr/>
        </p:nvSpPr>
        <p:spPr>
          <a:xfrm>
            <a:off x="805415" y="4626188"/>
            <a:ext cx="10188649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Revenue vs Profit: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Toys &amp; Gifts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highest revenue but is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the highest in profit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possibly due to lower margins or higher discounts.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Appliances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second in revenue, is the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profitable.</a:t>
            </a:r>
          </a:p>
          <a:p>
            <a:pPr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Performing Categories: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Toys &amp; Gifts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leads in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weekdays, but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Appliances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takes the lead in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 profits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7396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D80D3-8802-059F-6D18-B048BC882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909A46-89C7-4C91-9FFE-10540DD7ED95}"/>
              </a:ext>
            </a:extLst>
          </p:cNvPr>
          <p:cNvSpPr txBox="1"/>
          <p:nvPr/>
        </p:nvSpPr>
        <p:spPr>
          <a:xfrm>
            <a:off x="3155210" y="798846"/>
            <a:ext cx="66161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Category-wise Revenue and Profit Performance Overview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1F1EBB-CE2F-E694-BC18-0DB6812FD9DC}"/>
              </a:ext>
            </a:extLst>
          </p:cNvPr>
          <p:cNvSpPr txBox="1"/>
          <p:nvPr/>
        </p:nvSpPr>
        <p:spPr>
          <a:xfrm>
            <a:off x="896054" y="4745173"/>
            <a:ext cx="11134420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Revenue Generators: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Toys &amp; Gifts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Baby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Appliances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the leading categories in terms of revenue, indicating high customer demand and sales volume.</a:t>
            </a:r>
          </a:p>
          <a:p>
            <a:pPr>
              <a:spcBef>
                <a:spcPts val="600"/>
              </a:spcBef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Profit Contributors: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Appliances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profitable category, despite being 3rd in revenue.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5575FB-2739-4D6B-3D71-B476754DD61C}"/>
              </a:ext>
            </a:extLst>
          </p:cNvPr>
          <p:cNvSpPr txBox="1"/>
          <p:nvPr/>
        </p:nvSpPr>
        <p:spPr>
          <a:xfrm>
            <a:off x="643053" y="4358125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39281CA8-0460-7CC3-C10A-812D4D4360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231222"/>
              </p:ext>
            </p:extLst>
          </p:nvPr>
        </p:nvGraphicFramePr>
        <p:xfrm>
          <a:off x="498088" y="1343722"/>
          <a:ext cx="573544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4BD0604-5AED-C771-2F9C-D425701BB0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3203333"/>
              </p:ext>
            </p:extLst>
          </p:nvPr>
        </p:nvGraphicFramePr>
        <p:xfrm>
          <a:off x="6341326" y="1343722"/>
          <a:ext cx="535258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672476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38A74-7F9B-CB7B-2E3A-10AECF766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F75F851-E2EC-8000-86F2-6691113B46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7287485"/>
              </p:ext>
            </p:extLst>
          </p:nvPr>
        </p:nvGraphicFramePr>
        <p:xfrm>
          <a:off x="587298" y="3721395"/>
          <a:ext cx="5508702" cy="22333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BD2E64A-A3DE-FC19-C2F6-E6638D86EA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9104636"/>
              </p:ext>
            </p:extLst>
          </p:nvPr>
        </p:nvGraphicFramePr>
        <p:xfrm>
          <a:off x="6311590" y="3721395"/>
          <a:ext cx="5293112" cy="22333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E01C8A3-C5D4-9126-5B0A-6DAEE556A6D7}"/>
              </a:ext>
            </a:extLst>
          </p:cNvPr>
          <p:cNvSpPr txBox="1"/>
          <p:nvPr/>
        </p:nvSpPr>
        <p:spPr>
          <a:xfrm>
            <a:off x="4388589" y="896112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Store-wise Performance Analysis (1/2)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CA75981-D84C-17B9-CB8B-C9CC380C39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0096197"/>
              </p:ext>
            </p:extLst>
          </p:nvPr>
        </p:nvGraphicFramePr>
        <p:xfrm>
          <a:off x="587296" y="1509823"/>
          <a:ext cx="5508703" cy="20998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2826C4E9-497F-9811-8D46-36E7AE7BCF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5913657"/>
              </p:ext>
            </p:extLst>
          </p:nvPr>
        </p:nvGraphicFramePr>
        <p:xfrm>
          <a:off x="6311589" y="1509823"/>
          <a:ext cx="5293112" cy="20998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197109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1E474-A34C-019C-C3FF-AAE7251D7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20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C6A4C4-DC1A-F42B-03E5-171E2FF97606}"/>
              </a:ext>
            </a:extLst>
          </p:cNvPr>
          <p:cNvSpPr/>
          <p:nvPr/>
        </p:nvSpPr>
        <p:spPr>
          <a:xfrm>
            <a:off x="579864" y="5018276"/>
            <a:ext cx="2222809" cy="9497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4.074765</a:t>
            </a:r>
            <a:r>
              <a:rPr lang="en-IN" dirty="0"/>
              <a:t> 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3400A5-C45A-BF77-1372-797CF6700A4C}"/>
              </a:ext>
            </a:extLst>
          </p:cNvPr>
          <p:cNvSpPr/>
          <p:nvPr/>
        </p:nvSpPr>
        <p:spPr>
          <a:xfrm>
            <a:off x="579864" y="4583379"/>
            <a:ext cx="2222809" cy="42089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(ST103)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0B86553-1A8F-5668-82C2-AA7AE1C00D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518985"/>
              </p:ext>
            </p:extLst>
          </p:nvPr>
        </p:nvGraphicFramePr>
        <p:xfrm>
          <a:off x="6466293" y="1287965"/>
          <a:ext cx="5145843" cy="27432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5281">
                  <a:extLst>
                    <a:ext uri="{9D8B030D-6E8A-4147-A177-3AD203B41FA5}">
                      <a16:colId xmlns:a16="http://schemas.microsoft.com/office/drawing/2014/main" val="1985586295"/>
                    </a:ext>
                  </a:extLst>
                </a:gridCol>
                <a:gridCol w="1715281">
                  <a:extLst>
                    <a:ext uri="{9D8B030D-6E8A-4147-A177-3AD203B41FA5}">
                      <a16:colId xmlns:a16="http://schemas.microsoft.com/office/drawing/2014/main" val="2478910530"/>
                    </a:ext>
                  </a:extLst>
                </a:gridCol>
                <a:gridCol w="1715281">
                  <a:extLst>
                    <a:ext uri="{9D8B030D-6E8A-4147-A177-3AD203B41FA5}">
                      <a16:colId xmlns:a16="http://schemas.microsoft.com/office/drawing/2014/main" val="1483504453"/>
                    </a:ext>
                  </a:extLst>
                </a:gridCol>
              </a:tblGrid>
              <a:tr h="25552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StoreID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84" marR="3584" marT="35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Seller_City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84" marR="3584" marT="358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Seller_state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84" marR="3584" marT="358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478690"/>
                  </a:ext>
                </a:extLst>
              </a:tr>
              <a:tr h="25552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ST103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Akkarampalle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Andhra Pradesh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046841"/>
                  </a:ext>
                </a:extLst>
              </a:tr>
              <a:tr h="18798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ST143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Tarsali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Gujarat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060006"/>
                  </a:ext>
                </a:extLst>
              </a:tr>
              <a:tr h="25552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ST106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Anakapalle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Andhra Pradesh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180682"/>
                  </a:ext>
                </a:extLst>
              </a:tr>
              <a:tr h="25552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ST132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Bheemavaram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Andhra Pradesh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077531"/>
                  </a:ext>
                </a:extLst>
              </a:tr>
              <a:tr h="25552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ST118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Anantapur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Andhra Pradesh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865740"/>
                  </a:ext>
                </a:extLst>
              </a:tr>
              <a:tr h="25552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ST167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Chirala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Andhra Pradesh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362691"/>
                  </a:ext>
                </a:extLst>
              </a:tr>
              <a:tr h="25552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ST186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Siddipet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Andhra Pradesh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59683"/>
                  </a:ext>
                </a:extLst>
              </a:tr>
              <a:tr h="25552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ST102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Badepalle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Andhra Pradesh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499191"/>
                  </a:ext>
                </a:extLst>
              </a:tr>
              <a:tr h="25552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ST125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Bestavaripeta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Andhra Pradesh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281800"/>
                  </a:ext>
                </a:extLst>
              </a:tr>
              <a:tr h="25552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ST218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Kallur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Andhra Pradesh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730343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18C3011-E406-AE80-3589-F8E8609A524B}"/>
              </a:ext>
            </a:extLst>
          </p:cNvPr>
          <p:cNvSpPr txBox="1"/>
          <p:nvPr/>
        </p:nvSpPr>
        <p:spPr>
          <a:xfrm>
            <a:off x="4175937" y="830743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Store-wise Performance Analysis (2/2)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474864-C9D9-4ED3-9F4F-B2230C33DDA7}"/>
              </a:ext>
            </a:extLst>
          </p:cNvPr>
          <p:cNvSpPr txBox="1"/>
          <p:nvPr/>
        </p:nvSpPr>
        <p:spPr>
          <a:xfrm>
            <a:off x="3295185" y="4846802"/>
            <a:ext cx="83169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Review Ratings: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ST103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highest performing store in revenue and profit, also maintains a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review score of 4.074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strong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satisfaction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E9857F-8186-0087-229C-C5004EC05099}"/>
              </a:ext>
            </a:extLst>
          </p:cNvPr>
          <p:cNvSpPr txBox="1"/>
          <p:nvPr/>
        </p:nvSpPr>
        <p:spPr>
          <a:xfrm>
            <a:off x="3295184" y="4382710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8B3796-0374-933B-D1FF-5FF457CAE35A}"/>
              </a:ext>
            </a:extLst>
          </p:cNvPr>
          <p:cNvSpPr txBox="1"/>
          <p:nvPr/>
        </p:nvSpPr>
        <p:spPr>
          <a:xfrm>
            <a:off x="3295184" y="5474993"/>
            <a:ext cx="85632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 Concentration: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of the top reviewed stores,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 out of 10 are located in Andhra Pradesh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a regional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concentration of high-performing stores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68CD70B0-9804-F8EC-DAF6-BED6D30355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2079649"/>
              </p:ext>
            </p:extLst>
          </p:nvPr>
        </p:nvGraphicFramePr>
        <p:xfrm>
          <a:off x="429746" y="1287965"/>
          <a:ext cx="573087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4351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5F776-1F8E-2FA0-8C6C-D0176DE56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21</a:t>
            </a:fld>
            <a:endParaRPr 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50CC11D-6397-7AD5-ACF7-9CAC90755A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5399485"/>
              </p:ext>
            </p:extLst>
          </p:nvPr>
        </p:nvGraphicFramePr>
        <p:xfrm>
          <a:off x="892099" y="1191175"/>
          <a:ext cx="10643392" cy="26283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F2CF2EF-0A69-1E42-AC1C-0DE728B7D305}"/>
              </a:ext>
            </a:extLst>
          </p:cNvPr>
          <p:cNvSpPr txBox="1"/>
          <p:nvPr/>
        </p:nvSpPr>
        <p:spPr>
          <a:xfrm>
            <a:off x="4240252" y="791065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Revenue Trends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E445D9-CBE1-A006-696C-262B4D9FAACE}"/>
              </a:ext>
            </a:extLst>
          </p:cNvPr>
          <p:cNvSpPr txBox="1"/>
          <p:nvPr/>
        </p:nvSpPr>
        <p:spPr>
          <a:xfrm>
            <a:off x="615752" y="3790721"/>
            <a:ext cx="10960496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  <a:p>
            <a:pPr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Growth Pattern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shows a strong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upward trend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January 2022 (₹0.09M)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August 2023 (₹1.23M)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Trends &amp; Spikes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revenue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in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August 2023 (₹1.23M)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2023 (₹1.22M)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peaks include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March 2023 (₹1.19M)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November 2022 (₹1.02M)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could reflect successful marketing campaigns, seasonal demand, or product launches.</a:t>
            </a:r>
          </a:p>
          <a:p>
            <a:pPr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Declines or Dips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sharp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decline in September 2023 (₹0.02M)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indicates either incomplete data, a reporting delay, or a serious performance drop.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 declines are observed in: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December 2022 to February 2023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June–July 2023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values slightly below ₹1M</a:t>
            </a:r>
          </a:p>
        </p:txBody>
      </p:sp>
    </p:spTree>
    <p:extLst>
      <p:ext uri="{BB962C8B-B14F-4D97-AF65-F5344CB8AC3E}">
        <p14:creationId xmlns:p14="http://schemas.microsoft.com/office/powerpoint/2010/main" val="17073236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EC507-E152-A38E-A79E-91221B101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22</a:t>
            </a:fld>
            <a:endParaRPr 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23C1E4B-3D08-469D-7503-5BA22F2406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7411992"/>
              </p:ext>
            </p:extLst>
          </p:nvPr>
        </p:nvGraphicFramePr>
        <p:xfrm>
          <a:off x="791737" y="1480324"/>
          <a:ext cx="10665695" cy="42848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83CAA25-450B-0787-D2E6-60CD977C38BA}"/>
              </a:ext>
            </a:extLst>
          </p:cNvPr>
          <p:cNvSpPr txBox="1"/>
          <p:nvPr/>
        </p:nvSpPr>
        <p:spPr>
          <a:xfrm>
            <a:off x="3738447" y="903250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Revenue and Customer Growth Trend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6721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B4C92-BF10-2AD4-D1BB-868B4A6E2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B3AF8-8B56-FC31-341F-8B50988A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23</a:t>
            </a:fld>
            <a:endParaRPr lang="en-US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04C6545-BAAD-D852-CC6B-C36521A46D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1840561"/>
              </p:ext>
            </p:extLst>
          </p:nvPr>
        </p:nvGraphicFramePr>
        <p:xfrm>
          <a:off x="866078" y="1700561"/>
          <a:ext cx="4014680" cy="19797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D5056AE-14AD-2CD7-D53F-4E159F1CF2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3279447"/>
              </p:ext>
            </p:extLst>
          </p:nvPr>
        </p:nvGraphicFramePr>
        <p:xfrm>
          <a:off x="866078" y="3977851"/>
          <a:ext cx="4014680" cy="20429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1D8FE11-7154-C140-312D-C74DBFDCAD92}"/>
              </a:ext>
            </a:extLst>
          </p:cNvPr>
          <p:cNvSpPr txBox="1"/>
          <p:nvPr/>
        </p:nvSpPr>
        <p:spPr>
          <a:xfrm>
            <a:off x="3152078" y="1002938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State-wise Revenue Performance (Top &amp; Bottom 5)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56616E-5B49-7DB0-29A0-C0CF5B55EC8E}"/>
              </a:ext>
            </a:extLst>
          </p:cNvPr>
          <p:cNvSpPr txBox="1"/>
          <p:nvPr/>
        </p:nvSpPr>
        <p:spPr>
          <a:xfrm>
            <a:off x="7985769" y="1634659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7E5C08-EF36-4E61-9153-DA5A2AB022DC}"/>
              </a:ext>
            </a:extLst>
          </p:cNvPr>
          <p:cNvCxnSpPr>
            <a:cxnSpLocks/>
          </p:cNvCxnSpPr>
          <p:nvPr/>
        </p:nvCxnSpPr>
        <p:spPr>
          <a:xfrm>
            <a:off x="5296013" y="1634659"/>
            <a:ext cx="0" cy="43861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AA94295-5D2F-7A8F-8740-2A4105460C7D}"/>
              </a:ext>
            </a:extLst>
          </p:cNvPr>
          <p:cNvSpPr txBox="1"/>
          <p:nvPr/>
        </p:nvSpPr>
        <p:spPr>
          <a:xfrm>
            <a:off x="5498275" y="2438529"/>
            <a:ext cx="6094138" cy="2778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Andhra Pradesh Leads Significantly:</a:t>
            </a:r>
            <a:endParaRPr lang="en-IN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With ₹11.55M, Andhra Pradesh generates the highest revenue, far surpassing other states.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It contributes the majority share among the top 5.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Big Drop from 1st to 2nd:</a:t>
            </a:r>
            <a:endParaRPr lang="en-IN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Gujarat, the second highest, only earns ₹1.63M, showing a large revenue gap after Andhra Pradesh.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Other top states (Chhattisgarh, Madhya Pradesh, Delhi) also fall well below ₹1M.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Weak Revenue Zones:</a:t>
            </a:r>
            <a:endParaRPr lang="en-IN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States like West Bengal (₹2.60K), Haryana (₹3.71K), and Delhi (₹4.31K) show very low performance in the bottom 5 chart.</a:t>
            </a:r>
          </a:p>
        </p:txBody>
      </p:sp>
    </p:spTree>
    <p:extLst>
      <p:ext uri="{BB962C8B-B14F-4D97-AF65-F5344CB8AC3E}">
        <p14:creationId xmlns:p14="http://schemas.microsoft.com/office/powerpoint/2010/main" val="39770234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E440A-DC6A-C5B2-23F0-457688AE2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E6E5F-8784-8A2B-32C5-9F044CDEF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24</a:t>
            </a:fld>
            <a:endParaRPr 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015F2E0-F069-4D2B-66F3-C5559C3485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9990785"/>
              </p:ext>
            </p:extLst>
          </p:nvPr>
        </p:nvGraphicFramePr>
        <p:xfrm>
          <a:off x="1025187" y="1590750"/>
          <a:ext cx="10337180" cy="43356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13C2D1B-524B-EFBB-4E2C-43C24E7B447E}"/>
              </a:ext>
            </a:extLst>
          </p:cNvPr>
          <p:cNvSpPr txBox="1"/>
          <p:nvPr/>
        </p:nvSpPr>
        <p:spPr>
          <a:xfrm>
            <a:off x="3238995" y="931614"/>
            <a:ext cx="72112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Popularity of Product Categories (in Millions)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152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12A9F-AF84-375B-96C1-75130DC36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43B495-589B-D8E3-0A0A-1E11820E3E8C}"/>
              </a:ext>
            </a:extLst>
          </p:cNvPr>
          <p:cNvSpPr txBox="1"/>
          <p:nvPr/>
        </p:nvSpPr>
        <p:spPr>
          <a:xfrm>
            <a:off x="5100452" y="847397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68D695-C00F-B4BB-B8F2-3F93CD761412}"/>
              </a:ext>
            </a:extLst>
          </p:cNvPr>
          <p:cNvSpPr txBox="1"/>
          <p:nvPr/>
        </p:nvSpPr>
        <p:spPr>
          <a:xfrm>
            <a:off x="757051" y="1944184"/>
            <a:ext cx="10441379" cy="3278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South Region Dominates Sales:</a:t>
            </a:r>
            <a:endParaRPr lang="en-IN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South leads significantly, especially with Toys &amp; Gifts at 2.04M, the highest category-sales across all regions.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Other strong categories in the South include Food &amp; Beverages, Home Appliances, and Luggage &amp; Accessories, each above 1M.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West Region Focused on Baby Products:</a:t>
            </a:r>
            <a:endParaRPr lang="en-IN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Baby category dominates in the West with 0.62M, followed by Toys &amp; Gifts and Computers &amp; Accessories, but none exceed 1M.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North Region Shows Balanced Distribution:</a:t>
            </a:r>
            <a:endParaRPr lang="en-IN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North has moderate sales across several categories, with Luggage &amp; Accessories leading at 0.32M.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Other notable categories include Home Appliances, Toys &amp; Gifts, and Food &amp; Beverages, all around the 0.2–0.3M mark.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2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East Region Has Lowest Sales:</a:t>
            </a:r>
            <a:endParaRPr lang="en-IN" sz="12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East shows the least activity, with all categories under 0.1M.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Home Appliances and Computers &amp; Accessories are the top categories, though still minimal.</a:t>
            </a:r>
          </a:p>
        </p:txBody>
      </p:sp>
    </p:spTree>
    <p:extLst>
      <p:ext uri="{BB962C8B-B14F-4D97-AF65-F5344CB8AC3E}">
        <p14:creationId xmlns:p14="http://schemas.microsoft.com/office/powerpoint/2010/main" val="1167678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E1262-0618-0DD3-410C-BA436201E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CB3BD9-E873-8A86-ED76-80659B7CE48D}"/>
              </a:ext>
            </a:extLst>
          </p:cNvPr>
          <p:cNvSpPr txBox="1"/>
          <p:nvPr/>
        </p:nvSpPr>
        <p:spPr>
          <a:xfrm>
            <a:off x="1767023" y="849951"/>
            <a:ext cx="90659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AND BOTTOM PERFORMING STORES IN TERMS OF REVENUE AND PROFIT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AFD2F7-726C-F7BE-84B5-6B443B6A2648}"/>
              </a:ext>
            </a:extLst>
          </p:cNvPr>
          <p:cNvSpPr txBox="1"/>
          <p:nvPr/>
        </p:nvSpPr>
        <p:spPr>
          <a:xfrm>
            <a:off x="8063559" y="2262224"/>
            <a:ext cx="3900139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Top vs Bottom Performance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(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StoreID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ST103)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outperforming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$3.30M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$0.49M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BOTTOM (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StoreID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ST354)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$0.15M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$0.02M</a:t>
            </a:r>
          </a:p>
          <a:p>
            <a:pPr>
              <a:spcBef>
                <a:spcPts val="600"/>
              </a:spcBef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Revenue Comparison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ST103 generates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22× more revenue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ST354.</a:t>
            </a:r>
          </a:p>
          <a:p>
            <a:pPr>
              <a:spcBef>
                <a:spcPts val="600"/>
              </a:spcBef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Profit Comparison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ST103 earns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24.5× more profit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ST354.</a:t>
            </a:r>
          </a:p>
          <a:p>
            <a:pPr>
              <a:spcBef>
                <a:spcPts val="600"/>
              </a:spcBef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Profit Margin (Profit ÷ Revenue)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ST103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(0.49 / 3.30) × 100 ≈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14.8%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ST354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(0.02 / 0.15) × 100 ≈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13.3%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7F366CE-3433-7AA1-F6FF-6A513C8BF3DE}"/>
              </a:ext>
            </a:extLst>
          </p:cNvPr>
          <p:cNvCxnSpPr>
            <a:cxnSpLocks/>
          </p:cNvCxnSpPr>
          <p:nvPr/>
        </p:nvCxnSpPr>
        <p:spPr>
          <a:xfrm>
            <a:off x="7967961" y="1621918"/>
            <a:ext cx="0" cy="43861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B64AD1A-E257-EB16-62D8-3A9B0D163002}"/>
              </a:ext>
            </a:extLst>
          </p:cNvPr>
          <p:cNvSpPr txBox="1"/>
          <p:nvPr/>
        </p:nvSpPr>
        <p:spPr>
          <a:xfrm>
            <a:off x="8604541" y="1648116"/>
            <a:ext cx="609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ADE490A-373B-64EC-8D94-34F2E6D99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844480"/>
              </p:ext>
            </p:extLst>
          </p:nvPr>
        </p:nvGraphicFramePr>
        <p:xfrm>
          <a:off x="554090" y="1621918"/>
          <a:ext cx="7095582" cy="1828800"/>
        </p:xfrm>
        <a:graphic>
          <a:graphicData uri="http://schemas.openxmlformats.org/drawingml/2006/table">
            <a:tbl>
              <a:tblPr/>
              <a:tblGrid>
                <a:gridCol w="2365194">
                  <a:extLst>
                    <a:ext uri="{9D8B030D-6E8A-4147-A177-3AD203B41FA5}">
                      <a16:colId xmlns:a16="http://schemas.microsoft.com/office/drawing/2014/main" val="3448488889"/>
                    </a:ext>
                  </a:extLst>
                </a:gridCol>
                <a:gridCol w="2365194">
                  <a:extLst>
                    <a:ext uri="{9D8B030D-6E8A-4147-A177-3AD203B41FA5}">
                      <a16:colId xmlns:a16="http://schemas.microsoft.com/office/drawing/2014/main" val="208449451"/>
                    </a:ext>
                  </a:extLst>
                </a:gridCol>
                <a:gridCol w="2365194">
                  <a:extLst>
                    <a:ext uri="{9D8B030D-6E8A-4147-A177-3AD203B41FA5}">
                      <a16:colId xmlns:a16="http://schemas.microsoft.com/office/drawing/2014/main" val="38221895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ST103 (TOP)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ST354 (BOTTOM)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730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Revenue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3.30M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128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0.49M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887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24,952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103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 Margin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308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Revenue/Customer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~132.3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~268.3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01838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368098AE-6D75-95D3-4B9B-835D71030A8C}"/>
              </a:ext>
            </a:extLst>
          </p:cNvPr>
          <p:cNvSpPr txBox="1"/>
          <p:nvPr/>
        </p:nvSpPr>
        <p:spPr>
          <a:xfrm>
            <a:off x="1154567" y="4328141"/>
            <a:ext cx="6339050" cy="907941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for ST354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Advertising: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geo-targeted online ads and local influencers to raise awareness.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Referral Program: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Reward existing customers for bringing in new ones.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Campaigns: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 limited-time offers or events to draw attention.</a:t>
            </a:r>
          </a:p>
        </p:txBody>
      </p:sp>
    </p:spTree>
    <p:extLst>
      <p:ext uri="{BB962C8B-B14F-4D97-AF65-F5344CB8AC3E}">
        <p14:creationId xmlns:p14="http://schemas.microsoft.com/office/powerpoint/2010/main" val="24282549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466FE-A040-2E13-3F9C-2D208CC2E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6C42C-9FBA-D828-4C7A-D4C6DDA9D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74EA30-BB7C-1B57-9DF9-C8BD5545D9CE}"/>
              </a:ext>
            </a:extLst>
          </p:cNvPr>
          <p:cNvSpPr txBox="1"/>
          <p:nvPr/>
        </p:nvSpPr>
        <p:spPr>
          <a:xfrm>
            <a:off x="2087063" y="825395"/>
            <a:ext cx="96904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AND BOTTOM PRODUCTS BY REVENUE AND PROFIT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5639347-A87C-68D3-9B10-82505217B6BE}"/>
              </a:ext>
            </a:extLst>
          </p:cNvPr>
          <p:cNvCxnSpPr>
            <a:cxnSpLocks/>
          </p:cNvCxnSpPr>
          <p:nvPr/>
        </p:nvCxnSpPr>
        <p:spPr>
          <a:xfrm>
            <a:off x="7267317" y="1648116"/>
            <a:ext cx="0" cy="43861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8AC0D3A-1844-7C11-4B40-69B7B3D2D9A8}"/>
              </a:ext>
            </a:extLst>
          </p:cNvPr>
          <p:cNvSpPr txBox="1"/>
          <p:nvPr/>
        </p:nvSpPr>
        <p:spPr>
          <a:xfrm>
            <a:off x="8604541" y="1648116"/>
            <a:ext cx="609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EFC3E91-8189-FF89-69FE-111ABAB131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416703"/>
              </p:ext>
            </p:extLst>
          </p:nvPr>
        </p:nvGraphicFramePr>
        <p:xfrm>
          <a:off x="604236" y="1761893"/>
          <a:ext cx="5841103" cy="104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969">
                  <a:extLst>
                    <a:ext uri="{9D8B030D-6E8A-4147-A177-3AD203B41FA5}">
                      <a16:colId xmlns:a16="http://schemas.microsoft.com/office/drawing/2014/main" val="1187370851"/>
                    </a:ext>
                  </a:extLst>
                </a:gridCol>
                <a:gridCol w="2966224">
                  <a:extLst>
                    <a:ext uri="{9D8B030D-6E8A-4147-A177-3AD203B41FA5}">
                      <a16:colId xmlns:a16="http://schemas.microsoft.com/office/drawing/2014/main" val="2147232623"/>
                    </a:ext>
                  </a:extLst>
                </a:gridCol>
                <a:gridCol w="1103971">
                  <a:extLst>
                    <a:ext uri="{9D8B030D-6E8A-4147-A177-3AD203B41FA5}">
                      <a16:colId xmlns:a16="http://schemas.microsoft.com/office/drawing/2014/main" val="1447553195"/>
                    </a:ext>
                  </a:extLst>
                </a:gridCol>
                <a:gridCol w="958939">
                  <a:extLst>
                    <a:ext uri="{9D8B030D-6E8A-4147-A177-3AD203B41FA5}">
                      <a16:colId xmlns:a16="http://schemas.microsoft.com/office/drawing/2014/main" val="1747048249"/>
                    </a:ext>
                  </a:extLst>
                </a:gridCol>
              </a:tblGrid>
              <a:tr h="21844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Revenue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269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bb50f2e236e5eea0100680137654686c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66,907.81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3,682.81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520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Bottom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46fce52cef5caa7cc225a5531c946c8b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9.59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7.39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447109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DC492EF-21CF-C3F4-B622-EEB2064E16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797910"/>
              </p:ext>
            </p:extLst>
          </p:nvPr>
        </p:nvGraphicFramePr>
        <p:xfrm>
          <a:off x="604236" y="3429000"/>
          <a:ext cx="5841103" cy="104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969">
                  <a:extLst>
                    <a:ext uri="{9D8B030D-6E8A-4147-A177-3AD203B41FA5}">
                      <a16:colId xmlns:a16="http://schemas.microsoft.com/office/drawing/2014/main" val="1187370851"/>
                    </a:ext>
                  </a:extLst>
                </a:gridCol>
                <a:gridCol w="2966224">
                  <a:extLst>
                    <a:ext uri="{9D8B030D-6E8A-4147-A177-3AD203B41FA5}">
                      <a16:colId xmlns:a16="http://schemas.microsoft.com/office/drawing/2014/main" val="2147232623"/>
                    </a:ext>
                  </a:extLst>
                </a:gridCol>
                <a:gridCol w="1103971">
                  <a:extLst>
                    <a:ext uri="{9D8B030D-6E8A-4147-A177-3AD203B41FA5}">
                      <a16:colId xmlns:a16="http://schemas.microsoft.com/office/drawing/2014/main" val="1447553195"/>
                    </a:ext>
                  </a:extLst>
                </a:gridCol>
                <a:gridCol w="958939">
                  <a:extLst>
                    <a:ext uri="{9D8B030D-6E8A-4147-A177-3AD203B41FA5}">
                      <a16:colId xmlns:a16="http://schemas.microsoft.com/office/drawing/2014/main" val="1747048249"/>
                    </a:ext>
                  </a:extLst>
                </a:gridCol>
              </a:tblGrid>
              <a:tr h="21844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Revenue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269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d1c427060a0f73f6b889a5c7c61f2ac4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14,325.10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62,140.55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520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Bottom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34dfc6386b7550503bd2e582ef45d041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0.059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173.059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4471092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14F03B2A-9F79-D824-2D50-6CD9A7E2D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3951" y="2195001"/>
            <a:ext cx="4453246" cy="201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Based on Revenue (First Table):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 Revenue Product: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bb50f2e236e5eea0100680137654686c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Revenue: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66,907.81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Profit: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3,682.81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Bottom Revenue Product: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46fce52cef5caa7cc225a5531c946c8b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Revenue: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9.59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Profit: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7.39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68B7DE8-E533-9D0D-F034-5E7E3DC6F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3951" y="4176778"/>
            <a:ext cx="5127733" cy="1831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Based on Profit (Second Table):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 Profit Product: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d1c427060a0f73f6b889a5c7c61f2ac4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Profit: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14,325.10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Revenue: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62,140.55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Bottom Profit Product: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34dfc6386b7550503bd2e582ef45d041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Profit: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0.059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Revenue: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173.059</a:t>
            </a:r>
          </a:p>
        </p:txBody>
      </p:sp>
    </p:spTree>
    <p:extLst>
      <p:ext uri="{BB962C8B-B14F-4D97-AF65-F5344CB8AC3E}">
        <p14:creationId xmlns:p14="http://schemas.microsoft.com/office/powerpoint/2010/main" val="1649712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21D9A-1CA0-B2A2-8DA3-66BD759AB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28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42F56C-A432-4FFB-C4C3-384A87B084CE}"/>
              </a:ext>
            </a:extLst>
          </p:cNvPr>
          <p:cNvSpPr txBox="1"/>
          <p:nvPr/>
        </p:nvSpPr>
        <p:spPr>
          <a:xfrm>
            <a:off x="1812073" y="823849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Based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(1/2)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AC7B168-7D64-0D6E-D21B-25C0FC1C41C6}"/>
              </a:ext>
            </a:extLst>
          </p:cNvPr>
          <p:cNvCxnSpPr>
            <a:cxnSpLocks/>
          </p:cNvCxnSpPr>
          <p:nvPr/>
        </p:nvCxnSpPr>
        <p:spPr>
          <a:xfrm>
            <a:off x="8841327" y="1506085"/>
            <a:ext cx="0" cy="45496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2407C5F-9B07-F9C8-749D-FD0224FCE8DD}"/>
              </a:ext>
            </a:extLst>
          </p:cNvPr>
          <p:cNvSpPr txBox="1"/>
          <p:nvPr/>
        </p:nvSpPr>
        <p:spPr>
          <a:xfrm>
            <a:off x="9677400" y="1402353"/>
            <a:ext cx="251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18379EC-ED42-2C03-1A89-C871193F8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2134" y="1803694"/>
            <a:ext cx="3165377" cy="346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Demographics: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2438" marR="0" lvl="0" indent="-1825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Female Customers (F): 67,608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2438" marR="0" lvl="0" indent="-1825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Male Customers (M): 29,195</a:t>
            </a:r>
          </a:p>
          <a:p>
            <a:pPr marL="452438" marR="0" lvl="0" indent="-1825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Female customers make up over </a:t>
            </a: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the total customer 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 Distribution: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2438" indent="-1825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by Females: 67,679</a:t>
            </a:r>
          </a:p>
          <a:p>
            <a:pPr marL="452438" indent="-1825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by Males: 29,212</a:t>
            </a:r>
          </a:p>
          <a:p>
            <a:pPr marL="452438" indent="-1825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pattern closely mirrors customer count.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Customer Spend: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2438" marR="0" lvl="0" indent="-182563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Females: 159.76</a:t>
            </a:r>
          </a:p>
          <a:p>
            <a:pPr marL="452438" indent="-1825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Males: 159.1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Customer Spend: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2438" indent="-1825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Females: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10.80 M  </a:t>
            </a:r>
            <a:endParaRPr lang="en-US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2438" indent="-182563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Males: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4.65  M</a:t>
            </a:r>
            <a:endParaRPr lang="en-US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67F5A96-7B5C-9297-73BB-D6FFACC69F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4905689"/>
              </p:ext>
            </p:extLst>
          </p:nvPr>
        </p:nvGraphicFramePr>
        <p:xfrm>
          <a:off x="587297" y="1432932"/>
          <a:ext cx="4079192" cy="21020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EE441393-D17F-FA9D-A84A-B1FD53FC10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2395723"/>
              </p:ext>
            </p:extLst>
          </p:nvPr>
        </p:nvGraphicFramePr>
        <p:xfrm>
          <a:off x="4859143" y="1432932"/>
          <a:ext cx="3760748" cy="21020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31E59C6D-045F-1535-B747-E168FD07CD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457368"/>
              </p:ext>
            </p:extLst>
          </p:nvPr>
        </p:nvGraphicFramePr>
        <p:xfrm>
          <a:off x="587297" y="3796318"/>
          <a:ext cx="4079192" cy="22594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09E9BD0C-1623-3362-FA84-1C6377D677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2981354"/>
              </p:ext>
            </p:extLst>
          </p:nvPr>
        </p:nvGraphicFramePr>
        <p:xfrm>
          <a:off x="4859143" y="3774687"/>
          <a:ext cx="3760745" cy="2281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2448030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D4C32-36B9-8B90-F21B-560B914CC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29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535DB0-495C-CF9F-FD7F-230046AFEEFB}"/>
              </a:ext>
            </a:extLst>
          </p:cNvPr>
          <p:cNvSpPr txBox="1"/>
          <p:nvPr/>
        </p:nvSpPr>
        <p:spPr>
          <a:xfrm>
            <a:off x="8408630" y="1338942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35EEB2-D833-F17A-9879-7B73CEE568EB}"/>
              </a:ext>
            </a:extLst>
          </p:cNvPr>
          <p:cNvSpPr txBox="1"/>
          <p:nvPr/>
        </p:nvSpPr>
        <p:spPr>
          <a:xfrm>
            <a:off x="3047198" y="785189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Based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(2/2)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360F7032-5320-184A-B77C-452F5750A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240" y="1902528"/>
            <a:ext cx="4664803" cy="1831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Profit Contribution: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Females (F): 1.53 M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Males (M): 0.65 M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Female customers contribute to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~70% of total profit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Profit Per Customer: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Females: 23.67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Males: 23.29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profit per customer is almost identical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across genders.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6C1777-C391-ACE6-755F-3A1B7A3D100F}"/>
              </a:ext>
            </a:extLst>
          </p:cNvPr>
          <p:cNvCxnSpPr>
            <a:cxnSpLocks/>
          </p:cNvCxnSpPr>
          <p:nvPr/>
        </p:nvCxnSpPr>
        <p:spPr>
          <a:xfrm>
            <a:off x="6490013" y="1338942"/>
            <a:ext cx="0" cy="454969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333761A-4AEA-59E4-A1E3-3258064E72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9355152"/>
              </p:ext>
            </p:extLst>
          </p:nvPr>
        </p:nvGraphicFramePr>
        <p:xfrm>
          <a:off x="605821" y="1338942"/>
          <a:ext cx="5490177" cy="22759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B405705-7D30-0C2B-8DF8-495F131933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9992623"/>
              </p:ext>
            </p:extLst>
          </p:nvPr>
        </p:nvGraphicFramePr>
        <p:xfrm>
          <a:off x="605821" y="3799333"/>
          <a:ext cx="5490176" cy="22734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2290589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2AE17AD-42BC-A5E2-4C03-7544DC59A6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0780" y="836342"/>
            <a:ext cx="6606652" cy="365126"/>
          </a:xfrm>
        </p:spPr>
        <p:txBody>
          <a:bodyPr>
            <a:normAutofit fontScale="92500" lnSpcReduction="20000"/>
          </a:bodyPr>
          <a:lstStyle/>
          <a:p>
            <a:r>
              <a:rPr lang="en-US" sz="20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IN" sz="2000" b="1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B89EE-544B-249C-87A1-1B2FDF479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30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42C485-474F-E3EF-D207-C098927EA5E2}"/>
              </a:ext>
            </a:extLst>
          </p:cNvPr>
          <p:cNvSpPr txBox="1"/>
          <p:nvPr/>
        </p:nvSpPr>
        <p:spPr>
          <a:xfrm>
            <a:off x="783374" y="1565384"/>
            <a:ext cx="9888344" cy="3106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Female-Focused Campaigns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 customers dominate both spending and profit share (~70%).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 personalized email/SMS campaigns around women-centric themes or products.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exclusive discounts or early access for top female buyers.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female customer data to refine product offerings and design.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 Male Customer Base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Males have similar profit potential per customer but are underrepresented.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male segments through platforms where they are more active (e.g., YouTube, Instagram, sports sites).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Bundle or cross-sell products often bought by female customers as gifts for men.</a:t>
            </a:r>
          </a:p>
        </p:txBody>
      </p:sp>
    </p:spTree>
    <p:extLst>
      <p:ext uri="{BB962C8B-B14F-4D97-AF65-F5344CB8AC3E}">
        <p14:creationId xmlns:p14="http://schemas.microsoft.com/office/powerpoint/2010/main" val="6180960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0EC15-DDD8-C265-87CF-56BBF25B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31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A8D48CC-6F91-A4FE-C539-9EF4756C48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117549"/>
              </p:ext>
            </p:extLst>
          </p:nvPr>
        </p:nvGraphicFramePr>
        <p:xfrm>
          <a:off x="791737" y="1476296"/>
          <a:ext cx="6222378" cy="27061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8085">
                  <a:extLst>
                    <a:ext uri="{9D8B030D-6E8A-4147-A177-3AD203B41FA5}">
                      <a16:colId xmlns:a16="http://schemas.microsoft.com/office/drawing/2014/main" val="3582415840"/>
                    </a:ext>
                  </a:extLst>
                </a:gridCol>
                <a:gridCol w="1701431">
                  <a:extLst>
                    <a:ext uri="{9D8B030D-6E8A-4147-A177-3AD203B41FA5}">
                      <a16:colId xmlns:a16="http://schemas.microsoft.com/office/drawing/2014/main" val="1762348876"/>
                    </a:ext>
                  </a:extLst>
                </a:gridCol>
                <a:gridCol w="1701431">
                  <a:extLst>
                    <a:ext uri="{9D8B030D-6E8A-4147-A177-3AD203B41FA5}">
                      <a16:colId xmlns:a16="http://schemas.microsoft.com/office/drawing/2014/main" val="650261546"/>
                    </a:ext>
                  </a:extLst>
                </a:gridCol>
                <a:gridCol w="1701431">
                  <a:extLst>
                    <a:ext uri="{9D8B030D-6E8A-4147-A177-3AD203B41FA5}">
                      <a16:colId xmlns:a16="http://schemas.microsoft.com/office/drawing/2014/main" val="982959666"/>
                    </a:ext>
                  </a:extLst>
                </a:gridCol>
              </a:tblGrid>
              <a:tr h="30803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Orders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of Customers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Customers</a:t>
                      </a:r>
                      <a:endParaRPr lang="en-IN" sz="12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Profit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592237"/>
                  </a:ext>
                </a:extLst>
              </a:tr>
              <a:tr h="29976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 Time Buyer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96,767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21,80,367.87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352229"/>
                  </a:ext>
                </a:extLst>
              </a:tr>
              <a:tr h="29976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Repeat Buyers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994.94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210434"/>
                  </a:ext>
                </a:extLst>
              </a:tr>
              <a:tr h="29976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Repeat Buyers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435.44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522059"/>
                  </a:ext>
                </a:extLst>
              </a:tr>
              <a:tr h="29976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Repeat Buyers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78.10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335957"/>
                  </a:ext>
                </a:extLst>
              </a:tr>
              <a:tr h="29976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Repeat Buyers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185.63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502348"/>
                  </a:ext>
                </a:extLst>
              </a:tr>
              <a:tr h="29976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Repeat Buyers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349.94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117590"/>
                  </a:ext>
                </a:extLst>
              </a:tr>
              <a:tr h="29976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Repeat Buyers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236.79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31356"/>
                  </a:ext>
                </a:extLst>
              </a:tr>
              <a:tr h="29976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Repeat Buyers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455.65 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30484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8BA0BB4-2A1C-81D3-EC95-1A2D720B0C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271812"/>
              </p:ext>
            </p:extLst>
          </p:nvPr>
        </p:nvGraphicFramePr>
        <p:xfrm>
          <a:off x="7606915" y="1476296"/>
          <a:ext cx="4170557" cy="11633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390185">
                  <a:extLst>
                    <a:ext uri="{9D8B030D-6E8A-4147-A177-3AD203B41FA5}">
                      <a16:colId xmlns:a16="http://schemas.microsoft.com/office/drawing/2014/main" val="2525840106"/>
                    </a:ext>
                  </a:extLst>
                </a:gridCol>
                <a:gridCol w="1390186">
                  <a:extLst>
                    <a:ext uri="{9D8B030D-6E8A-4147-A177-3AD203B41FA5}">
                      <a16:colId xmlns:a16="http://schemas.microsoft.com/office/drawing/2014/main" val="1225412180"/>
                    </a:ext>
                  </a:extLst>
                </a:gridCol>
                <a:gridCol w="1390186">
                  <a:extLst>
                    <a:ext uri="{9D8B030D-6E8A-4147-A177-3AD203B41FA5}">
                      <a16:colId xmlns:a16="http://schemas.microsoft.com/office/drawing/2014/main" val="109714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of Buyers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Customers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Profit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668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 Time Buyer</a:t>
                      </a:r>
                    </a:p>
                    <a:p>
                      <a:pPr algn="ctr"/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96,767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21,80,367.87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1175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Repeat Buyers</a:t>
                      </a:r>
                    </a:p>
                    <a:p>
                      <a:pPr algn="ctr"/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2,736.49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17388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5E4AD19-21A6-84A4-41CF-E966D5349D74}"/>
              </a:ext>
            </a:extLst>
          </p:cNvPr>
          <p:cNvSpPr txBox="1"/>
          <p:nvPr/>
        </p:nvSpPr>
        <p:spPr>
          <a:xfrm>
            <a:off x="4900961" y="973662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Behaviour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A4B5BD-D86F-6A50-5166-45D3C7B01202}"/>
              </a:ext>
            </a:extLst>
          </p:cNvPr>
          <p:cNvSpPr txBox="1"/>
          <p:nvPr/>
        </p:nvSpPr>
        <p:spPr>
          <a:xfrm>
            <a:off x="7382098" y="3279634"/>
            <a:ext cx="471540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Dominance of One-Time Buyers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Customers: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One-time buyers account for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96,767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customers, while repeat buyers are just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Base Share: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buyers make up only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0.037%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total customer base (36 out of 96,803).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7A5FBA-E04C-787A-2EF6-A848EC191BAA}"/>
              </a:ext>
            </a:extLst>
          </p:cNvPr>
          <p:cNvSpPr txBox="1"/>
          <p:nvPr/>
        </p:nvSpPr>
        <p:spPr>
          <a:xfrm>
            <a:off x="8728670" y="2739727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A0DE9C6-5E40-C3BF-AE58-1A170E99D150}"/>
              </a:ext>
            </a:extLst>
          </p:cNvPr>
          <p:cNvCxnSpPr>
            <a:cxnSpLocks/>
          </p:cNvCxnSpPr>
          <p:nvPr/>
        </p:nvCxnSpPr>
        <p:spPr>
          <a:xfrm>
            <a:off x="7237137" y="2924393"/>
            <a:ext cx="0" cy="31864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2B97C8E-6E62-6F8E-3490-53BC20AA6E42}"/>
              </a:ext>
            </a:extLst>
          </p:cNvPr>
          <p:cNvSpPr txBox="1"/>
          <p:nvPr/>
        </p:nvSpPr>
        <p:spPr>
          <a:xfrm>
            <a:off x="7382099" y="4638821"/>
            <a:ext cx="48099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Contribution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One-Time Buyers: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₹21,80,367.87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profit.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Buyers: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 just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₹2,736.49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profit.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Share: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buyers contribute only about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0.13%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total profit, despite multiple purchases.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A7B718-5438-427B-3941-4F5B2A064A31}"/>
              </a:ext>
            </a:extLst>
          </p:cNvPr>
          <p:cNvSpPr txBox="1"/>
          <p:nvPr/>
        </p:nvSpPr>
        <p:spPr>
          <a:xfrm>
            <a:off x="791737" y="4471924"/>
            <a:ext cx="60941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Loyalty &amp; Retention Program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buyers (regardless of gender) have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profit per customer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one-time buyers.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 a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rewards program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encourage second purchases (e.g., points, coupons).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referral bonuses especially targeting frequent female customers to bring in others.</a:t>
            </a:r>
          </a:p>
        </p:txBody>
      </p:sp>
    </p:spTree>
    <p:extLst>
      <p:ext uri="{BB962C8B-B14F-4D97-AF65-F5344CB8AC3E}">
        <p14:creationId xmlns:p14="http://schemas.microsoft.com/office/powerpoint/2010/main" val="4951633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5D975-0E4D-D26D-AB66-1E7E30A7C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32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77376B-872B-05DA-DA26-93E89DE33CCF}"/>
              </a:ext>
            </a:extLst>
          </p:cNvPr>
          <p:cNvSpPr txBox="1"/>
          <p:nvPr/>
        </p:nvSpPr>
        <p:spPr>
          <a:xfrm>
            <a:off x="2734836" y="875591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RFM Segmentation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40CBFCD-A712-1750-BECA-F6B31E845B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396718"/>
              </p:ext>
            </p:extLst>
          </p:nvPr>
        </p:nvGraphicFramePr>
        <p:xfrm>
          <a:off x="5835341" y="1546225"/>
          <a:ext cx="5769981" cy="44361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5030">
                  <a:extLst>
                    <a:ext uri="{9D8B030D-6E8A-4147-A177-3AD203B41FA5}">
                      <a16:colId xmlns:a16="http://schemas.microsoft.com/office/drawing/2014/main" val="185414871"/>
                    </a:ext>
                  </a:extLst>
                </a:gridCol>
                <a:gridCol w="1672683">
                  <a:extLst>
                    <a:ext uri="{9D8B030D-6E8A-4147-A177-3AD203B41FA5}">
                      <a16:colId xmlns:a16="http://schemas.microsoft.com/office/drawing/2014/main" val="3939547781"/>
                    </a:ext>
                  </a:extLst>
                </a:gridCol>
                <a:gridCol w="2592268">
                  <a:extLst>
                    <a:ext uri="{9D8B030D-6E8A-4147-A177-3AD203B41FA5}">
                      <a16:colId xmlns:a16="http://schemas.microsoft.com/office/drawing/2014/main" val="198076862"/>
                    </a:ext>
                  </a:extLst>
                </a:gridCol>
              </a:tblGrid>
              <a:tr h="2862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RFM Score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Segment Name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85353"/>
                  </a:ext>
                </a:extLst>
              </a:tr>
              <a:tr h="114482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11–12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Premium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customers — very recent, frequent, and high-spending.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5424315"/>
                  </a:ext>
                </a:extLst>
              </a:tr>
              <a:tr h="85861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9–10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Gold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customers — recent, frequent, and good spending.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18154"/>
                  </a:ext>
                </a:extLst>
              </a:tr>
              <a:tr h="100171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7-8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Silver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 value customers — active, but not top-tier in all metrics.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423355"/>
                  </a:ext>
                </a:extLst>
              </a:tr>
              <a:tr h="114482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3–6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attention — less recent, lower frequency or spending; room to improve.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346550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B686091-330F-2C72-7E2D-2A345F7C0E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693674"/>
              </p:ext>
            </p:extLst>
          </p:nvPr>
        </p:nvGraphicFramePr>
        <p:xfrm>
          <a:off x="586678" y="154622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312813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F9FFCE1-E057-415B-A971-88EC7E22A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2C0474-76E8-400D-AE04-71FA8D0426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9" y="971397"/>
            <a:ext cx="6838596" cy="1333860"/>
          </a:xfrm>
        </p:spPr>
        <p:txBody>
          <a:bodyPr anchor="t">
            <a:normAutofit/>
          </a:bodyPr>
          <a:lstStyle/>
          <a:p>
            <a:r>
              <a:rPr lang="en-US" sz="6000" dirty="0"/>
              <a:t>THANK YOU</a:t>
            </a:r>
            <a:endParaRPr lang="en-IN" sz="6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346557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19D4FD65-54E1-1BA7-AEFE-5C5CEA816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5322" y="1155005"/>
            <a:ext cx="4547984" cy="454798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58401B5-5F1B-4D21-9AC3-AAEC8D366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1704" y="6300216"/>
            <a:ext cx="729360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80DF1-7357-204B-A4AC-0A3033437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100361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6063</TotalTime>
  <Words>3627</Words>
  <Application>Microsoft Office PowerPoint</Application>
  <PresentationFormat>Widescreen</PresentationFormat>
  <Paragraphs>786</Paragraphs>
  <Slides>33</Slides>
  <Notes>4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Aptos</vt:lpstr>
      <vt:lpstr>Aptos Narrow</vt:lpstr>
      <vt:lpstr>Arial</vt:lpstr>
      <vt:lpstr>Bierstadt</vt:lpstr>
      <vt:lpstr>Bierstadt (Body)</vt:lpstr>
      <vt:lpstr>Symbol</vt:lpstr>
      <vt:lpstr>Tahoma</vt:lpstr>
      <vt:lpstr>Times New Roman</vt:lpstr>
      <vt:lpstr>GestaltVTI</vt:lpstr>
      <vt:lpstr>RETAIL DATA ANALYSIS</vt:lpstr>
      <vt:lpstr>Customers360</vt:lpstr>
      <vt:lpstr>Orders360</vt:lpstr>
      <vt:lpstr>Store360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276</cp:revision>
  <dcterms:created xsi:type="dcterms:W3CDTF">2025-04-13T11:22:23Z</dcterms:created>
  <dcterms:modified xsi:type="dcterms:W3CDTF">2025-05-10T15:17:21Z</dcterms:modified>
</cp:coreProperties>
</file>