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5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6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7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8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ink/ink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70" r:id="rId6"/>
    <p:sldId id="271" r:id="rId7"/>
    <p:sldId id="263" r:id="rId8"/>
    <p:sldId id="281" r:id="rId9"/>
    <p:sldId id="282" r:id="rId10"/>
    <p:sldId id="283" r:id="rId11"/>
    <p:sldId id="286" r:id="rId12"/>
    <p:sldId id="285" r:id="rId13"/>
    <p:sldId id="288" r:id="rId14"/>
    <p:sldId id="273" r:id="rId15"/>
    <p:sldId id="278" r:id="rId16"/>
    <p:sldId id="266" r:id="rId17"/>
    <p:sldId id="279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54EC50E-DF1F-4041-B404-24200307EDAA}">
          <p14:sldIdLst>
            <p14:sldId id="256"/>
            <p14:sldId id="257"/>
            <p14:sldId id="259"/>
            <p14:sldId id="260"/>
            <p14:sldId id="270"/>
            <p14:sldId id="271"/>
            <p14:sldId id="263"/>
            <p14:sldId id="281"/>
            <p14:sldId id="282"/>
            <p14:sldId id="283"/>
            <p14:sldId id="286"/>
            <p14:sldId id="285"/>
            <p14:sldId id="288"/>
            <p14:sldId id="273"/>
            <p14:sldId id="278"/>
            <p14:sldId id="266"/>
            <p14:sldId id="279"/>
          </p14:sldIdLst>
        </p14:section>
        <p14:section name="Appendix" id="{48F1F41A-66D3-4F80-BE70-E5DC0AACE62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557" autoAdjust="0"/>
  </p:normalViewPr>
  <p:slideViewPr>
    <p:cSldViewPr snapToGrid="0">
      <p:cViewPr varScale="1">
        <p:scale>
          <a:sx n="57" d="100"/>
          <a:sy n="57" d="100"/>
        </p:scale>
        <p:origin x="9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12:04.6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1626 367 24518,'-1'14'0,"-1"0"0,-1 1 0,-1-1 0,-2 0 0,-1 0 0,-1 0 0,-1 0 0,-1-1 0,-2 1 0,-1-1 0,-1 0 0,-1 0 0,-1-1 0,-1 0 0,-1 0 0,-2-1 0,0 0 0,-1 0 0,-1 0 0,-1-1 0,-1-1 0,-1 0 0,0 0 0,-1-1 0,-1 0 0,-1-1 0,0 0 0,-1-1 0,0 0 0,-1-1 0,0 0 0,0-1 0,-1 0 0,0-1 0,-1-1 0,1 0 0,-1 0 0,0-1 0,0-1 0,0 0 0,0-1 0,1-1 0,-1 0 0,0 0 0,1-1 0,0-1 0,1 0 0,0-1 0,0 0 0,1-1 0,0 0 0,1-1 0,0 0 0,1-1 0,1 0 0,1-1 0,0 0 0,1 0 0,1-1 0,1-1 0,1 0 0,1 0 0,0 0 0,2-1 0,1 0 0,1 0 0,1-1 0,1 0 0,1 0 0,1-1 0,2 1 0,1-1 0,1 0 0,1 0 0,1 0 0,2 0 0,1-1 0,1 1 0,1 0 0,2-1 0,1 1 0,1 0 0,1-1 0,2 1 0,1 0 0,1 0 0,1 1 0,1-1 0,2 1 0,1-1 0,1 1 0,1 1 0,1-1 0,1 1 0,1 1 0,2-1 0,0 1 0,1 0 0,1 1 0,1 0 0,1 0 0,1 1 0,0 1 0,1-1 0,1 2 0,1-1 0,0 2 0,1-1 0,0 1 0,1 1 0,0 1 0,0-1 0,1 2 0,0 0 0,1 0 0,0 1 0,-1 1 0,1 0 0,0 1 0,0 0 0,0 1 0,0 0 0,-1 1 0,1 1 0,-1 0 0,0 0 0,-1 2 0,0-1 0,0 1 0,-1 1 0,0 1 0,-1-1 0,0 2 0,-1-1 0,-1 2 0,-1-1 0,0 1 0,-1 1 0,-1 0 0,-1 0 0,-1 1 0,-1 0 0,0 1 0,-2-1 0,-1 1 0,-1 1 0,-1-1 0,-1 1 0,-1 1 0,-1-1 0,-2 1 0,-1-1 0,-1 1 0,-1 0 0,-1 0 0,-2 1 0,-1-1 0,-1 0 0,-1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12:04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2118 279 24518,'-1'11'0,"-2"0"0,-1 0 0,-1 0 0,-3 0 0,-1-1 0,-1 1 0,-2-1 0,-2 1 0,-1-1 0,-2 0 0,-1 0 0,-1 0 0,-2-1 0,-2 0 0,-1 0 0,-1 0 0,-1-1 0,-2 1 0,0-2 0,-2 1 0,-1-1 0,-2 0 0,0 0 0,-1-1 0,-1 0 0,-1 0 0,0-1 0,-2 0 0,0-1 0,-1 0 0,0 0 0,-1-1 0,0-1 0,0 1 0,-1-1 0,-1-1 0,1 0 0,0 0 0,-1-1 0,0 0 0,1-1 0,0 0 0,-1 0 0,1-1 0,1-1 0,0 1 0,0-1 0,1-1 0,0 0 0,1 0 0,0-1 0,2 0 0,0-1 0,1 0 0,1 0 0,1-1 0,0 0 0,2 0 0,1-1 0,2 1 0,0-2 0,2 1 0,1-1 0,1 0 0,1 0 0,2 0 0,2-1 0,1 0 0,1 0 0,2 0 0,1-1 0,2 1 0,2-1 0,1 1 0,1-1 0,3 0 0,1 0 0,1 0 0,2 0 0,2 0 0,2 0 0,1 1 0,1-1 0,3 0 0,1 0 0,1 1 0,2-1 0,2 1 0,1 0 0,2 0 0,1 0 0,1 0 0,2 1 0,2-1 0,1 1 0,1 1 0,1-1 0,2 1 0,0 0 0,2 1 0,1-1 0,2 1 0,0 1 0,1-1 0,1 2 0,1-1 0,0 1 0,2 0 0,0 1 0,1 0 0,0 0 0,1 1 0,0 0 0,0 1 0,1 0 0,1 0 0,-1 1 0,0 1 0,1-1 0,0 2 0,-1-1 0,0 1 0,1 1 0,-1 0 0,-1 0 0,0 1 0,0 0 0,-1 1 0,0 0 0,-1 0 0,0 1 0,-2 0 0,0 1 0,-1-1 0,-1 2 0,-1-1 0,0 1 0,-2 1 0,-1-1 0,-2 1 0,0 0 0,-2 1 0,-1-1 0,-1 1 0,-1 1 0,-2-1 0,-2 1 0,-1 0 0,-1 0 0,-2 0 0,-1 0 0,-2 1 0,-2-1 0,-1 1 0,-1 0 0,-3 0 0,-1-1 0,-1 1 0,-2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30:38.2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3013 397 24518,'-2'15'0,"-2"1"0,-2 0 0,-1-1 0,-4 1 0,-2-2 0,-1 2 0,-3-2 0,-3 2 0,-2-2 0,-2 0 0,-1 0 0,-2 1 0,-3-2 0,-3-1 0,-1 1 0,-2 0 0,-1-2 0,-3 2 0,1-3 0,-4 1 0,-1-1 0,-3 0 0,0 0 0,-1-1 0,-2-1 0,-1 1 0,-1-2 0,-2 0 0,0-1 0,-1-1 0,-1 1 0,-1-2 0,1-1 0,-1 2 0,-2-3 0,0 0 0,0-1 0,1 1 0,-2-2 0,1 0 0,0-2 0,1 1 0,-2-1 0,2 0 0,1-3 0,0 2 0,0-1 0,2-2 0,-1 1 0,2-1 0,0-1 0,3 0 0,0-2 0,1 1 0,2-1 0,1-1 0,0 0 0,3 0 0,1-1 0,3 1 0,0-3 0,3 2 0,2-2 0,1 0 0,1 1 0,3-1 0,3-2 0,1 1 0,2 0 0,3 0 0,1-2 0,3 2 0,3-2 0,1 2 0,1-2 0,5 1 0,2-1 0,0 0 0,4 1 0,2-1 0,4 1 0,0 0 0,2 0 0,5-1 0,1 0 0,1 2 0,3-1 0,3 0 0,1 1 0,3 0 0,2 0 0,1-1 0,3 3 0,3-3 0,1 3 0,1 0 0,2-1 0,3 2 0,0 0 0,3 1 0,1-2 0,3 2 0,0 2 0,1-2 0,2 3 0,1-2 0,0 2 0,3 0 0,0 1 0,2 1 0,-1-1 0,2 2 0,0-1 0,0 3 0,1-1 0,2 0 0,-2 1 0,1 2 0,0-1 0,1 2 0,-2-1 0,1 2 0,0 1 0,0 0 0,-2-1 0,-1 3 0,1-1 0,-1 2 0,-1-1 0,-1 1 0,0 1 0,-2 0 0,-1 2 0,-1-2 0,-2 3 0,-1-2 0,0 2 0,-3 2 0,-1-2 0,-4 1 0,1 0 0,-3 2 0,-1-1 0,-2 0 0,-1 3 0,-3-3 0,-3 3 0,-2-1 0,-1 0 0,-2 0 0,-2 1 0,-3 0 0,-3-1 0,-1 2 0,-2 0 0,-4-1 0,-1 0 0,-2 0 0,-2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36:44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3816 267 24512,'-1'11'0,"-4"-1"0,-2 1 0,-3-1 0,-3 0 0,-3 0 0,-3 1 0,-3-1 0,-3 0 0,-2-1 0,-3 1 0,-3-1 0,-2 1 0,-3-1 0,-2-1 0,-3 1 0,-2-1 0,-3 1 0,-2-2 0,-2 1 0,-2-1 0,-2 0 0,-1 0 0,-3-1 0,-2 0 0,-1 0 0,-1-1 0,-2 0 0,-2 0 0,-1-1 0,0 0 0,-2-1 0,-1 0 0,0 0 0,-1-1 0,-1 0 0,0-1 0,-1 0 0,0 0 0,0-1 0,0 0 0,1-1 0,-1 0 0,1 0 0,0-1 0,1 0 0,0-1 0,2 0 0,0 0 0,1-1 0,2 0 0,0-1 0,2 0 0,1 0 0,2-1 0,2 0 0,1 0 0,2-1 0,2 0 0,2 0 0,2-1 0,2 1 0,3-2 0,2 1 0,2-1 0,2 1 0,4-1 0,1-1 0,4 1 0,2-1 0,2 1 0,4-1 0,2 0 0,3-1 0,3 1 0,3 0 0,3 0 0,2-1 0,4 1 0,2-1 0,4 1 0,2-1 0,4 1 0,2-1 0,3 1 0,3 0 0,3 0 0,3 0 0,2 0 0,4 0 0,2 0 0,2 1 0,4 0 0,1 0 0,4 0 0,2 0 0,2 1 0,2 0 0,3 0 0,2 0 0,2 1 0,2 0 0,2 1 0,2-1 0,1 1 0,2 1 0,2-1 0,1 1 0,2 1 0,0 0 0,2 0 0,1 0 0,0 1 0,2 1 0,0-1 0,1 2 0,0-1 0,1 1 0,-1 0 0,1 1 0,0 0 0,0 1 0,0 0 0,-1 1 0,0-1 0,-1 2 0,-1-1 0,0 1 0,-1 1 0,-2 0 0,0 0 0,-1 0 0,-2 1 0,-2 1 0,-1-1 0,-1 1 0,-2 1 0,-3-1 0,-1 1 0,-2 0 0,-2 1 0,-2 0 0,-2 0 0,-3 0 0,-2 1 0,-3 0 0,-2 0 0,-3 0 0,-2 0 0,-3 1 0,-3 0 0,-2 0 0,-3 0 0,-3 0 0,-3 0 0,-3 0 0,-3 1 0,-3-1 0,-2 1 0,-4-1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43:34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24525,'0'857'0,"7102"-857"0,-7102-857 0,-7102 857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43:34.709"/>
    </inkml:context>
    <inkml:brush xml:id="br0">
      <inkml:brushProperty name="width" value="0.05" units="cm"/>
      <inkml:brushProperty name="height" value="0.05" units="cm"/>
      <inkml:brushProperty name="color" value="#FF0000"/>
    </inkml:brush>
  </inkml:definitions>
  <inkml:trace contextRef="#ctx0" brushRef="#br0">2124 583 24512,'-1'22'0,"-1"2"0,-2-2 0,-2 1 0,-1 0 0,-3-1 0,0 0 0,-2 0 0,-2-1 0,-1 1 0,-1-1 0,-2-1 0,-2 1 0,-1-2 0,-1 1 0,-3-1 0,0-2 0,-1 1 0,-2-1 0,-1-1 0,0 1 0,-3-2 0,0-1 0,-2 0 0,0-1 0,-1 0 0,-1-2 0,-1 0 0,0-1 0,-1-2 0,-1 1 0,-1-1 0,1-1 0,-2-2 0,1 0 0,-2-1 0,1-1 0,0-1 0,-1 0 0,0-2 0,1 0 0,-1-2 0,0 0 0,1-1 0,-1-1 0,3-1 0,-3 0 0,3-2 0,-1-1 0,2-1 0,0 1 0,0-2 0,2-1 0,0 0 0,1-2 0,0 0 0,2-1 0,1 0 0,0-1 0,3-2 0,0 1 0,1-1 0,2-1 0,0 1 0,3-2 0,0-1 0,2 1 0,1-2 0,2 1 0,1-1 0,2-1 0,1 1 0,3-1 0,0 0 0,2 0 0,2-1 0,1 0 0,2 1 0,1-2 0,2 2 0,2-1 0,2 0 0,1 0 0,2 1 0,1-1 0,2 1 0,2 0 0,0 0 0,3 1 0,1-1 0,2 2 0,1-1 0,2 0 0,1 1 0,2 1 0,0 0 0,3 1 0,0 0 0,2 1 0,1 1 0,0 0 0,3 2 0,0-2 0,1 4 0,2-2 0,0 2 0,1 0 0,0 1 0,2 1 0,0 1 0,0 1 0,2 0 0,-1 2 0,3-1 0,-3 3 0,3 0 0,-1 1 0,1 1 0,0 0 0,-1 2 0,1 0 0,0 2 0,-1 0 0,0 1 0,1 1 0,-2 0 0,1 3 0,-2-1 0,1 2 0,-1 0 0,-1 1 0,-1 1 0,0 1 0,-1 1 0,-1 0 0,-1 2 0,0-2 0,-2 4 0,0-2 0,-3 2 0,0 0 0,-1 1 0,-2 1 0,-1 0 0,0 1 0,-3 0 0,-1 1 0,-1 1 0,-2 0 0,-2-1 0,-1 2 0,-1-1 0,-2 1 0,-2 0 0,0 0 0,-3 1 0,-1-1 0,-2 1 0,-2 0 0,-1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43:34.710"/>
    </inkml:context>
    <inkml:brush xml:id="br0">
      <inkml:brushProperty name="width" value="0.05" units="cm"/>
      <inkml:brushProperty name="height" value="0.05" units="cm"/>
      <inkml:brushProperty name="color" value="#0315B4"/>
    </inkml:brush>
  </inkml:definitions>
  <inkml:trace contextRef="#ctx0" brushRef="#br0">0 0 24524,'0'874'0,"1816"-874"0,-1816-874 0,-1816 874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0:32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24524,'0'874'0,"4162"-874"0,-4162-874 0,-4162 874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2:51.957"/>
    </inkml:context>
    <inkml:brush xml:id="br0">
      <inkml:brushProperty name="width" value="0.05" units="cm"/>
      <inkml:brushProperty name="height" value="0.05" units="cm"/>
      <inkml:brushProperty name="color" value="#0315B4"/>
    </inkml:brush>
  </inkml:definitions>
  <inkml:trace contextRef="#ctx0" brushRef="#br0">0 0 24524,'0'599'0,"4242"-599"0,-4242-599 0,-4242 599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6:24.141"/>
    </inkml:context>
    <inkml:brush xml:id="br0">
      <inkml:brushProperty name="width" value="0.05" units="cm"/>
      <inkml:brushProperty name="height" value="0.05" units="cm"/>
      <inkml:brushProperty name="color" value="#0315B4"/>
    </inkml:brush>
  </inkml:definitions>
  <inkml:trace contextRef="#ctx0" brushRef="#br0">2662 602 24512,'-1'23'0,"-1"2"0,-4-2 0,-1 0 0,-2 1 0,-3 0 0,0-2 0,-4 0 0,-1 1 0,-2-1 0,-2-1 0,-1 1 0,-3-1 0,-1-1 0,-2 0 0,-3 0 0,0-3 0,-2 2 0,-2-1 0,-1-1 0,-1 0 0,-3-2 0,-1 0 0,0-1 0,-2 0 0,-1-1 0,-1-1 0,-2-1 0,1-1 0,-2-1 0,-1 0 0,-1 0 0,1-3 0,-2 0 0,0-1 0,-1-1 0,0-1 0,2-1 0,-3 0 0,1-2 0,0 0 0,-1-2 0,1 0 0,0-1 0,0-1 0,2-1 0,-2-1 0,3 0 0,-1-3 0,3 0 0,-2 0 0,2-1 0,2-1 0,-1-1 0,2-1 0,0-1 0,4 0 0,-1-1 0,2 0 0,1-2 0,2 0 0,1-1 0,3-1 0,-1 2 0,5-3 0,-2 0 0,4 0 0,2-1 0,1-1 0,2 1 0,1-1 0,3-1 0,3 1 0,0 0 0,3-2 0,2 0 0,2 1 0,2 0 0,1-2 0,3 2 0,2 0 0,3-1 0,1 0 0,2 1 0,2 0 0,2 0 0,3 0 0,0 1 0,3 0 0,3-1 0,1 2 0,2 0 0,1-1 0,2 2 0,4 0 0,-2 1 0,5 0 0,-1 0 0,3 2 0,1 0 0,2 0 0,1 2 0,2-1 0,-1 3 0,4-1 0,0 1 0,2 1 0,-1 1 0,2 1 0,2 1 0,-2 0 0,3 1 0,-1 1 0,3 1 0,-2 1 0,2 1 0,0 1 0,0 1 0,1 0 0,-1 2 0,0 0 0,1 2 0,-3 0 0,2 1 0,0 1 0,-1 1 0,0 1 0,-2 1 0,1 1 0,-1 1 0,-1 0 0,-2 1 0,1 1 0,-2 1 0,-1 1 0,-1 1 0,-2-1 0,0 3 0,-1-1 0,-3 2 0,-1 0 0,-1 0 0,-2 2 0,-2 0 0,0 0 0,-3 1 0,-2 0 0,-1 2 0,-3-1 0,-1 0 0,-2 2 0,-2-1 0,-1 0 0,-4 1 0,0 0 0,-3 0 0,-2 0 0,-1 1 0,-4 0 0,-1-1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6:39.43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0 24575,'0'0'0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6:39.93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846.66669"/>
      <inkml:brushProperty name="anchorY" value="-846.66669"/>
      <inkml:brushProperty name="scaleFactor" value="0.5"/>
    </inkml:brush>
  </inkml:definitions>
  <inkml:trace contextRef="#ctx0" brushRef="#br0">1 0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5:03:57.8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4209 629 24493,'-2'26'0,"-3"-2"0,-3 1 0,-4-1 0,-1 1 0,-5-1 0,-3 0 0,-2-1 0,-4 0 0,-4 0 0,-2 0 0,-4-1 0,-2 0 0,-2 0 0,-3-1 0,-5-2 0,1 2 0,-6-3 0,-1 1 0,-1-1 0,-4-2 0,-2 2 0,-2-3 0,-2 0 0,-1 0 0,-3-3 0,-2 1 0,0-2 0,-3 0 0,-1-1 0,1-1 0,-5-1 0,1-1 0,-1 0 0,1-2 0,-2 0 0,-3-2 0,3-1 0,-2-1 0,1 1 0,-1-4 0,0 1 0,1-1 0,1-1 0,-1-2 0,1 0 0,2-2 0,-1 0 0,3-1 0,-1-1 0,3-1 0,1-1 0,0 0 0,3-2 0,1 1 0,2-3 0,2 0 0,2 0 0,2-3 0,4 2 0,0-2 0,4-1 0,1 1 0,3-3 0,4 2 0,1-2 0,2-1 0,5 0 0,1 0 0,4-1 0,4 0 0,2 0 0,2 0 0,5-1 0,1 0 0,5-1 0,3 1 0,3-1 0,2 1 0,6-2 0,0 2 0,6-1 0,2 0 0,3 1 0,3 0 0,5 0 0,1 0 0,5-1 0,2 2 0,2 0 0,4 1 0,4-1 0,1 2 0,5 0 0,2 0 0,1 0 0,4 2 0,3 0 0,1 0 0,4 1 0,0 1 0,4 1 0,2 0 0,2 1 0,2 1 0,2 1 0,1 1 0,3 0 0,0 1 0,1 1 0,3 1 0,-1 1 0,3 1 0,-1 0 0,2 2 0,1 1 0,-1 1 0,1 0 0,1 1 0,0 2 0,-1 0 0,1 2 0,-2 1 0,3 0 0,-3 1 0,-2 1 0,1 2 0,-1 0 0,1 1 0,-5 1 0,1 1 0,-1 1 0,-3 1 0,0 0 0,-2 1 0,-3 1 0,-1 1 0,-2 1 0,-2 0 0,-2 1 0,-4 1 0,-1 1 0,-1 0 0,-6 0 0,1 2 0,-5 0 0,-3 0 0,-2 0 0,-2 2 0,-4-1 0,-2 1 0,-4 0 0,-4 2 0,-2-1 0,-3 0 0,-5 0 0,-1 0 0,-4 1 0,-3 0 0,-3-1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6:39.43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0 24575,'0'0'0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6:39.93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846.66669"/>
      <inkml:brushProperty name="anchorY" value="-846.66669"/>
      <inkml:brushProperty name="scaleFactor" value="0.5"/>
    </inkml:brush>
  </inkml:definitions>
  <inkml:trace contextRef="#ctx0" brushRef="#br0">1 0 24575,'0'0'0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7:17:22.837"/>
    </inkml:context>
    <inkml:brush xml:id="br0">
      <inkml:brushProperty name="width" value="0.05" units="cm"/>
      <inkml:brushProperty name="height" value="0.05" units="cm"/>
      <inkml:brushProperty name="color" value="#0315B4"/>
    </inkml:brush>
  </inkml:definitions>
  <inkml:trace contextRef="#ctx0" brushRef="#br0">0 0 24524,'0'599'0,"4242"-599"0,-4242-599 0,-4242 599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7:19:32.792"/>
    </inkml:context>
    <inkml:brush xml:id="br0">
      <inkml:brushProperty name="width" value="0.05" units="cm"/>
      <inkml:brushProperty name="height" value="0.05" units="cm"/>
      <inkml:brushProperty name="color" value="#0315B4"/>
    </inkml:brush>
  </inkml:definitions>
  <inkml:trace contextRef="#ctx0" brushRef="#br0">0 0 24524,'0'939'0,"2760"-939"0,-2760-939 0,-2760 939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5:03:57.8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2173 546 24493,'-1'22'0,"-2"-1"0,-1 1 0,-2-1 0,-1 0 0,-2 0 0,-2 0 0,-1-1 0,-2 0 0,-2 0 0,-1 0 0,-2-1 0,-1 0 0,-1 0 0,-2-1 0,-2-1 0,0 1 0,-3-2 0,0 0 0,-1 0 0,-2-2 0,-1 1 0,-1-2 0,-1 0 0,-1 0 0,-1-2 0,-1 0 0,0-1 0,-2-1 0,0 0 0,0-1 0,-2-1 0,0-1 0,0 0 0,0-2 0,-1 0 0,-1-1 0,1-1 0,-1-1 0,1 0 0,-1-2 0,0 0 0,1-1 0,0-1 0,0-1 0,0 0 0,1-2 0,0 0 0,1-1 0,0-1 0,1-1 0,1 0 0,0-1 0,1-1 0,1 0 0,1-2 0,1 0 0,1 0 0,1-2 0,2 1 0,0-2 0,2 0 0,1 0 0,1-2 0,2 1 0,1-1 0,1-1 0,2 0 0,1 0 0,2-1 0,2 0 0,1 0 0,1 0 0,3-1 0,0 0 0,3 0 0,1 0 0,2-1 0,1 1 0,3-1 0,0 1 0,3-1 0,1 1 0,2 0 0,1 0 0,3 0 0,0 0 0,3 0 0,1 1 0,1 0 0,2 1 0,2-1 0,1 1 0,2 1 0,1 0 0,1 0 0,2 1 0,1 1 0,1-1 0,2 2 0,0 0 0,2 1 0,1 0 0,1 1 0,1 1 0,1 1 0,1 0 0,1 1 0,0 0 0,1 2 0,1 0 0,0 1 0,1 1 0,0 0 0,1 1 0,0 2 0,0 0 0,0 1 0,1 0 0,0 2 0,-1 0 0,1 2 0,-1 0 0,1 1 0,-1 0 0,-1 2 0,0 1 0,0 0 0,0 1 0,-2 1 0,0 0 0,0 2 0,-2 0 0,0 1 0,-1 0 0,-1 1 0,-1 1 0,-1 1 0,-1 0 0,-1 1 0,-2 0 0,-1 2 0,0-1 0,-3 1 0,0 1 0,-2 0 0,-2 0 0,-1 1 0,-1 1 0,-2-1 0,-1 1 0,-2 0 0,-2 1 0,-1 0 0,-2 0 0,-2 0 0,-1 0 0,-2 0 0,-1 1 0,-2-1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6:39.43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0 24575,'0'0'0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6:39.93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846.66669"/>
      <inkml:brushProperty name="anchorY" value="-846.66669"/>
      <inkml:brushProperty name="scaleFactor" value="0.5"/>
    </inkml:brush>
  </inkml:definitions>
  <inkml:trace contextRef="#ctx0" brushRef="#br0">1 0 24575,'0'0'0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5:10:18.818"/>
    </inkml:context>
    <inkml:brush xml:id="br0">
      <inkml:brushProperty name="width" value="0.035" units="cm"/>
      <inkml:brushProperty name="height" value="0.035" units="cm"/>
      <inkml:brushProperty name="color" value="#0315B4"/>
    </inkml:brush>
  </inkml:definitions>
  <inkml:trace contextRef="#ctx0" brushRef="#br0">3251 361 24493,'-2'15'0,"-2"-2"0,-2 2 0,-3-1 0,-2 0 0,-2 0 0,-4 0 0,-1-1 0,-2 0 0,-4 0 0,-2 0 0,-2 0 0,-2 0 0,-2-1 0,-2 0 0,-3-1 0,-1 1 0,-4-1 0,0-1 0,-1 1 0,-3-2 0,-2 1 0,-2-1 0,-1-1 0,-1 1 0,-2-2 0,-1 0 0,0 0 0,-4-1 0,1 0 0,-1-1 0,-2 0 0,0-1 0,-1 0 0,1-2 0,-2 1 0,-1-1 0,1-1 0,-1 0 0,1 0 0,-1-2 0,-1 0 0,2 0 0,1-1 0,-1-1 0,0 1 0,2-2 0,-1 0 0,2-1 0,0 0 0,2-1 0,1 0 0,0-1 0,2 0 0,1 0 0,2-2 0,1 1 0,2-1 0,1-1 0,3 1 0,0-2 0,3 1 0,2-1 0,1-1 0,3 1 0,1-1 0,2 0 0,4-1 0,0 0 0,4 0 0,2 0 0,2 0 0,2 0 0,4-1 0,0 0 0,4 0 0,2 0 0,3-1 0,2 2 0,4-2 0,0 1 0,4 0 0,2 0 0,3 0 0,2 0 0,4 0 0,0 0 0,4 0 0,2 1 0,2 0 0,2 0 0,4 0 0,0 0 0,4 2 0,2-1 0,1 0 0,3 1 0,1 0 0,2 0 0,3 1 0,0 0 0,3 1 0,1-1 0,2 2 0,1 0 0,2 1 0,1-1 0,2 2 0,0-1 0,1 2 0,2-1 0,0 2 0,2 0 0,-1 0 0,2 1 0,0 1 0,-1 0 0,1 0 0,2 1 0,-1 1 0,-1 0 0,1 1 0,-1 1 0,1 0 0,-1 0 0,-2 1 0,1 1 0,-1 0 0,0 0 0,-2 2 0,-1-1 0,1 2 0,-4-1 0,0 2 0,-1-1 0,-2 1 0,-1 0 0,-1 2 0,-2-1 0,-2 1 0,-3 0 0,-1 1 0,0 0 0,-4 0 0,-1 1 0,-3 0 0,-2-1 0,-2 2 0,-2 0 0,-2 0 0,-2 0 0,-4 0 0,-2 1 0,-1 0 0,-4 0 0,-2 0 0,-2 0 0,-3 0 0,-2 0 0,-2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5:10:34.349"/>
    </inkml:context>
    <inkml:brush xml:id="br0">
      <inkml:brushProperty name="width" value="0.035" units="cm"/>
      <inkml:brushProperty name="height" value="0.035" units="cm"/>
      <inkml:brushProperty name="color" value="#0315B4"/>
    </inkml:brush>
  </inkml:definitions>
  <inkml:trace contextRef="#ctx0" brushRef="#br0">2934 393 24493,'-2'16'0,"-2"-1"0,-1 0 0,-3 1 0,-2-1 0,-2 0 0,-3 0 0,-1-1 0,-3 1 0,-2-1 0,-2 0 0,-3 0 0,-1 0 0,-1-1 0,-3 0 0,-3 0 0,0 0 0,-4-2 0,0 1 0,-1-1 0,-3-1 0,-1 1 0,-1-2 0,-2 1 0,-1-1 0,-2-1 0,-1 0 0,0-1 0,-3-1 0,1 1 0,-1-1 0,-2-1 0,-1-1 0,1 0 0,0-1 0,-2 0 0,-1-1 0,1 0 0,-1-2 0,1 1 0,-1-2 0,0 1 0,2-2 0,-1 0 0,0-1 0,0 0 0,2-1 0,0 0 0,1-1 0,0-1 0,1-1 0,2 1 0,-1-1 0,2-1 0,2 0 0,1-1 0,1-1 0,1 1 0,2-2 0,2 1 0,1-1 0,2-1 0,2 1 0,0-2 0,4 0 0,1 0 0,1 0 0,3-1 0,2 0 0,2 0 0,2 0 0,3-1 0,0 1 0,5-1 0,-1 0 0,5 0 0,0-1 0,4 1 0,1 0 0,4-1 0,0 1 0,4-1 0,1 1 0,4 0 0,0-1 0,5 1 0,-1 0 0,5 0 0,0 1 0,3-1 0,2 2 0,2-2 0,2 2 0,3 0 0,1 0 0,1 0 0,4 1 0,0 0 0,2 0 0,2 1 0,1 0 0,2 1 0,2 0 0,1 1 0,1 0 0,1 1 0,2 0 0,2 1 0,-1 0 0,2 1 0,1 0 0,0 1 0,1 1 0,0 0 0,2 0 0,0 2 0,0 0 0,-1 0 0,2 1 0,0 1 0,-1 0 0,1 1 0,-1 1 0,1 0 0,-1 0 0,-2 2 0,0 0 0,1 0 0,-1 1 0,-2 1 0,-1 0 0,1 1 0,-3 0 0,0 1 0,-1 0 0,-2 1 0,-1 0 0,-2 1 0,-1 0 0,-1 1 0,-3 0 0,-1 1 0,0 0 0,-4 0 0,0 1 0,-3 0 0,-3 0 0,-1 0 0,-1 2 0,-3-2 0,-2 2 0,-2-1 0,-3 1 0,-1 0 0,-3 0 0,-2 1 0,-2-1 0,-3 0 0,-1 1 0,-2-1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6:39.43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0 24575,'0'0'0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6T14:56:39.936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846.66669"/>
      <inkml:brushProperty name="anchorY" value="-846.66669"/>
      <inkml:brushProperty name="scaleFactor" value="0.5"/>
    </inkml:brush>
  </inkml:definitions>
  <inkml:trace contextRef="#ctx0" brushRef="#br0">1 0 24575,'0'0'0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5T19:33:15.9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16161 1208 24541,'-6'47'0,"-13"1"0,-12-1 0,-13 0 0,-11 0 0,-13-1 0,-13 0 0,-11-1 0,-12 0 0,-11-1 0,-12 0 0,-12-2 0,-10 0 0,-12-1 0,-10-1 0,-10-1 0,-11-1 0,-9-2 0,-10 0 0,-9-2 0,-9-1 0,-8-2 0,-8-1 0,-8-1 0,-7-2 0,-8-1 0,-5-2 0,-7-2 0,-6-1 0,-4-2 0,-6-2 0,-4-2 0,-3-1 0,-4-2 0,-3-2 0,-3-1 0,-1-3 0,-2-1 0,0-2 0,-2-3 0,1 0 0,0-3 0,2-2 0,0-1 0,3-3 0,2-1 0,3-2 0,3-2 0,5-1 0,3-2 0,5-2 0,6-2 0,5-1 0,6-2 0,7-2 0,7-1 0,7-2 0,8-1 0,7-1 0,10-2 0,8-1 0,9-2 0,10 0 0,9-2 0,11-1 0,10-1 0,10-1 0,12-1 0,10 0 0,12-2 0,11 0 0,12-1 0,12 0 0,12-1 0,12 0 0,12-1 0,13 0 0,12 0 0,12-1 0,13 1 0,12 0 0,13-1 0,12 1 0,12 0 0,13 0 0,12 1 0,12 0 0,12 1 0,12 0 0,12 1 0,11 1 0,12 0 0,10 1 0,12 1 0,10 1 0,10 1 0,11 2 0,9 0 0,10 1 0,9 2 0,8 1 0,10 2 0,7 1 0,8 1 0,7 2 0,7 2 0,7 1 0,6 1 0,5 3 0,6 1 0,5 1 0,3 3 0,5 1 0,3 2 0,3 2 0,2 2 0,3 1 0,0 2 0,2 3 0,0 1 0,1 2 0,-2 1 0,0 3 0,-2 2 0,-1 1 0,-3 2 0,-3 2 0,-4 2 0,-3 1 0,-4 3 0,-6 1 0,-4 1 0,-6 3 0,-7 1 0,-5 1 0,-8 2 0,-7 2 0,-8 1 0,-8 1 0,-8 2 0,-9 1 0,-9 2 0,-10 1 0,-9 0 0,-11 2 0,-10 1 0,-10 1 0,-12 1 0,-10 1 0,-12 0 0,-12 1 0,-11 1 0,-12 0 0,-11 1 0,-13 0 0,-13 1 0,-11 0 0,-13 0 0,-12 1 0,-13-1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0565DD-64C6-41CA-AE3E-0A0FAA379D4D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C6627-ADE0-4573-B6B9-987D084D5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393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C6627-ADE0-4573-B6B9-987D084D51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659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C6627-ADE0-4573-B6B9-987D084D51C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668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10844-A1F1-51A7-E0A4-A4D149BAE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BD1036-32E4-38A8-D854-361713164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1B4D0B-CAC6-4CA3-9DEE-67CCF7A65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8939A-2F70-CF98-47E5-97BC3DAB5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C6627-ADE0-4573-B6B9-987D084D51C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826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60842-EDAE-4683-4AE3-D3D387171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C858C-CBB4-2E0F-0EBF-C9A6E596C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B7186-0587-5CE6-8A48-58897FD87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49160-E300-166C-79E1-D95BF3F19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C6627-ADE0-4573-B6B9-987D084D51C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5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53875-3F15-3D6A-DDCE-CCC6D2914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C96D5-00A8-A973-6C42-9568DE787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5C6583-FC10-91B8-AD55-3D12FCE97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E9ECC-1401-D715-3CDD-AF5B57E38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C6627-ADE0-4573-B6B9-987D084D51C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07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603A4-D93A-7554-7148-E51B84F7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E1C04-FC56-E6F8-746C-C732E7ED8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39FED3-58AB-5215-FEB2-DED5852A5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9C737-7B1D-677F-AA50-0C5FF42A7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C6627-ADE0-4573-B6B9-987D084D51C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715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D3A1B-C227-84AB-58A5-C4DD889A4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2B0514-FF9B-A96C-C087-20CB0385D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8B1EAC-DABC-BFE8-1CEB-924614211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C9BE0-4A74-EAF5-E5E5-83FEA3B37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C6627-ADE0-4573-B6B9-987D084D51C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4227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A4A95-A18A-E470-75A5-273CC5DDC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64ABE-904B-1D5A-5E61-606C34F78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20125-50BA-9575-D557-3859BA22B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5BCB3-AA6A-E2CE-F934-B5C0BDD78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C6627-ADE0-4573-B6B9-987D084D51C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010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5/10/2025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09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5/10/2025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244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5/10/2025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832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5/10/2025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230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5/10/2025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0510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5/10/2025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576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5/10/2025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693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5/10/2025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6912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5/10/2025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26787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5/10/2025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023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5/10/2025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93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5/10/2025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586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45" r:id="rId6"/>
    <p:sldLayoutId id="2147483741" r:id="rId7"/>
    <p:sldLayoutId id="2147483742" r:id="rId8"/>
    <p:sldLayoutId id="2147483743" r:id="rId9"/>
    <p:sldLayoutId id="2147483744" r:id="rId10"/>
    <p:sldLayoutId id="214748374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tm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tmp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1.xml"/><Relationship Id="rId4" Type="http://schemas.openxmlformats.org/officeDocument/2006/relationships/image" Target="../media/image10.tm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tmp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3.xml"/><Relationship Id="rId4" Type="http://schemas.openxmlformats.org/officeDocument/2006/relationships/image" Target="../media/image12.tm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customXml" Target="../ink/ink9.xml"/><Relationship Id="rId18" Type="http://schemas.openxmlformats.org/officeDocument/2006/relationships/image" Target="../media/image24.png"/><Relationship Id="rId3" Type="http://schemas.openxmlformats.org/officeDocument/2006/relationships/image" Target="../media/image13.tmp"/><Relationship Id="rId7" Type="http://schemas.openxmlformats.org/officeDocument/2006/relationships/image" Target="../media/image18.png"/><Relationship Id="rId12" Type="http://schemas.openxmlformats.org/officeDocument/2006/relationships/image" Target="../media/image14.tmp"/><Relationship Id="rId17" Type="http://schemas.openxmlformats.org/officeDocument/2006/relationships/customXml" Target="../ink/ink11.xml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10.xml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5" Type="http://schemas.openxmlformats.org/officeDocument/2006/relationships/image" Target="../media/image15.tmp"/><Relationship Id="rId10" Type="http://schemas.openxmlformats.org/officeDocument/2006/relationships/customXml" Target="../ink/ink8.xml"/><Relationship Id="rId19" Type="http://schemas.openxmlformats.org/officeDocument/2006/relationships/customXml" Target="../ink/ink12.xml"/><Relationship Id="rId4" Type="http://schemas.openxmlformats.org/officeDocument/2006/relationships/customXml" Target="../ink/ink5.xml"/><Relationship Id="rId9" Type="http://schemas.openxmlformats.org/officeDocument/2006/relationships/image" Target="../media/image19.png"/><Relationship Id="rId1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13" Type="http://schemas.openxmlformats.org/officeDocument/2006/relationships/customXml" Target="../ink/ink17.xml"/><Relationship Id="rId3" Type="http://schemas.openxmlformats.org/officeDocument/2006/relationships/image" Target="../media/image16.tmp"/><Relationship Id="rId7" Type="http://schemas.openxmlformats.org/officeDocument/2006/relationships/image" Target="../media/image28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11" Type="http://schemas.openxmlformats.org/officeDocument/2006/relationships/customXml" Target="../ink/ink16.xml"/><Relationship Id="rId5" Type="http://schemas.openxmlformats.org/officeDocument/2006/relationships/image" Target="../media/image27.png"/><Relationship Id="rId10" Type="http://schemas.openxmlformats.org/officeDocument/2006/relationships/image" Target="../media/image17.tmp"/><Relationship Id="rId4" Type="http://schemas.openxmlformats.org/officeDocument/2006/relationships/customXml" Target="../ink/ink13.xml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customXml" Target="../ink/ink22.xml"/><Relationship Id="rId3" Type="http://schemas.openxmlformats.org/officeDocument/2006/relationships/image" Target="../media/image18.tmp"/><Relationship Id="rId7" Type="http://schemas.openxmlformats.org/officeDocument/2006/relationships/image" Target="../media/image28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11" Type="http://schemas.openxmlformats.org/officeDocument/2006/relationships/customXml" Target="../ink/ink21.xml"/><Relationship Id="rId5" Type="http://schemas.openxmlformats.org/officeDocument/2006/relationships/image" Target="../media/image32.png"/><Relationship Id="rId10" Type="http://schemas.openxmlformats.org/officeDocument/2006/relationships/image" Target="../media/image19.tmp"/><Relationship Id="rId4" Type="http://schemas.openxmlformats.org/officeDocument/2006/relationships/customXml" Target="../ink/ink18.xml"/><Relationship Id="rId9" Type="http://schemas.openxmlformats.org/officeDocument/2006/relationships/image" Target="../media/image29.png"/><Relationship Id="rId1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customXml" Target="../ink/ink24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B8E508B8-8DEF-B8CF-53E2-AF9CE7C9E4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78" b="9865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1C2F3FA0-960A-435A-AC72-8ADCBF50F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1139"/>
            <a:ext cx="12192000" cy="164455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A35B83-DFEA-AAFE-C434-A7726FE7C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644" y="4675366"/>
            <a:ext cx="10268712" cy="846223"/>
          </a:xfrm>
        </p:spPr>
        <p:txBody>
          <a:bodyPr anchor="b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RETAIL Store DATA ANALYSIS</a:t>
            </a:r>
            <a:endParaRPr lang="en-IN" sz="5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26D85-4ACD-8964-6025-58192FB1D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644" y="5545443"/>
            <a:ext cx="10268712" cy="513449"/>
          </a:xfrm>
        </p:spPr>
        <p:txBody>
          <a:bodyPr anchor="t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–Ramya P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6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CD7F8D-11B9-F727-4319-8D3D55E11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US" sz="5000" dirty="0"/>
              <a:t>PROBLEM STATEMENT</a:t>
            </a:r>
            <a:endParaRPr lang="en-IN" sz="5000" dirty="0"/>
          </a:p>
        </p:txBody>
      </p:sp>
      <p:pic>
        <p:nvPicPr>
          <p:cNvPr id="7" name="Graphic 6" descr="Business Growth">
            <a:extLst>
              <a:ext uri="{FF2B5EF4-FFF2-40B4-BE49-F238E27FC236}">
                <a16:creationId xmlns:a16="http://schemas.microsoft.com/office/drawing/2014/main" id="{76200320-C041-BE7D-8563-F1AE4FC91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120" y="2792180"/>
            <a:ext cx="2897804" cy="289780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7782" y="2264989"/>
            <a:ext cx="7824217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C15AF-4EA7-1741-6A77-639821DEF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4426" y="2587625"/>
            <a:ext cx="6223961" cy="3317875"/>
          </a:xfrm>
        </p:spPr>
        <p:txBody>
          <a:bodyPr anchor="ctr">
            <a:normAutofit/>
          </a:bodyPr>
          <a:lstStyle/>
          <a:p>
            <a:pPr>
              <a:lnSpc>
                <a:spcPct val="91000"/>
              </a:lnSpc>
              <a:spcAft>
                <a:spcPts val="12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 client, a leading retail company, wants to enhance its sales performance by understanding:” </a:t>
            </a:r>
          </a:p>
          <a:p>
            <a:pPr marL="342900" indent="-342900">
              <a:lnSpc>
                <a:spcPct val="91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purchasing patterns </a:t>
            </a:r>
          </a:p>
          <a:p>
            <a:pPr marL="342900" indent="-342900">
              <a:lnSpc>
                <a:spcPct val="91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inventory management </a:t>
            </a:r>
          </a:p>
          <a:p>
            <a:pPr marL="342900" indent="-342900">
              <a:lnSpc>
                <a:spcPct val="91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behaviour</a:t>
            </a:r>
          </a:p>
          <a:p>
            <a:pPr marL="342900" indent="-342900">
              <a:lnSpc>
                <a:spcPct val="91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trends &amp; seasonality etc..</a:t>
            </a:r>
          </a:p>
          <a:p>
            <a:pPr>
              <a:lnSpc>
                <a:spcPct val="91000"/>
              </a:lnSpc>
              <a:spcAft>
                <a:spcPts val="120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will help the client make data-driven decisions to enhance sales and business performance.</a:t>
            </a:r>
          </a:p>
        </p:txBody>
      </p:sp>
    </p:spTree>
    <p:extLst>
      <p:ext uri="{BB962C8B-B14F-4D97-AF65-F5344CB8AC3E}">
        <p14:creationId xmlns:p14="http://schemas.microsoft.com/office/powerpoint/2010/main" val="3520448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9C712-F678-C170-0D9D-E7F00EF96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237" y="317814"/>
            <a:ext cx="10268712" cy="1700784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OVERVIEW of data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E7A1F-5D5A-4337-4420-84BE93ACB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Available From “Mar 2020” to “Dec 2023” for randomly selected 37 stores out of 535 stores.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Customer – 99,441 records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– 1,12,650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US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1,03,886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OrderReview_Ratings</a:t>
            </a:r>
            <a:r>
              <a:rPr lang="en-US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1,00,000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ProductsInfo</a:t>
            </a:r>
            <a:r>
              <a:rPr lang="en-US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32,951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Info – 535 records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451987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C3046-38F4-B44E-F3A5-5F9201173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188" y="-72705"/>
            <a:ext cx="10268712" cy="1700784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 DICTIONARY(1/3)</a:t>
            </a:r>
            <a:endParaRPr lang="en-IN" sz="4000" dirty="0"/>
          </a:p>
        </p:txBody>
      </p:sp>
      <p:pic>
        <p:nvPicPr>
          <p:cNvPr id="3" name="Graphic 2" descr="Database">
            <a:extLst>
              <a:ext uri="{FF2B5EF4-FFF2-40B4-BE49-F238E27FC236}">
                <a16:creationId xmlns:a16="http://schemas.microsoft.com/office/drawing/2014/main" id="{8A96CAD5-DF72-ADF4-6F17-9593986D6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3000" y="75278"/>
            <a:ext cx="1076088" cy="1076088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36C603-D3E9-0325-7594-0EA098D52A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222445"/>
              </p:ext>
            </p:extLst>
          </p:nvPr>
        </p:nvGraphicFramePr>
        <p:xfrm>
          <a:off x="-4" y="1153174"/>
          <a:ext cx="12192004" cy="57048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9298">
                  <a:extLst>
                    <a:ext uri="{9D8B030D-6E8A-4147-A177-3AD203B41FA5}">
                      <a16:colId xmlns:a16="http://schemas.microsoft.com/office/drawing/2014/main" val="944331112"/>
                    </a:ext>
                  </a:extLst>
                </a:gridCol>
                <a:gridCol w="1293541">
                  <a:extLst>
                    <a:ext uri="{9D8B030D-6E8A-4147-A177-3AD203B41FA5}">
                      <a16:colId xmlns:a16="http://schemas.microsoft.com/office/drawing/2014/main" val="830535589"/>
                    </a:ext>
                  </a:extLst>
                </a:gridCol>
                <a:gridCol w="2397512">
                  <a:extLst>
                    <a:ext uri="{9D8B030D-6E8A-4147-A177-3AD203B41FA5}">
                      <a16:colId xmlns:a16="http://schemas.microsoft.com/office/drawing/2014/main" val="539274582"/>
                    </a:ext>
                  </a:extLst>
                </a:gridCol>
                <a:gridCol w="1874698">
                  <a:extLst>
                    <a:ext uri="{9D8B030D-6E8A-4147-A177-3AD203B41FA5}">
                      <a16:colId xmlns:a16="http://schemas.microsoft.com/office/drawing/2014/main" val="1916356632"/>
                    </a:ext>
                  </a:extLst>
                </a:gridCol>
                <a:gridCol w="5276955">
                  <a:extLst>
                    <a:ext uri="{9D8B030D-6E8A-4147-A177-3AD203B41FA5}">
                      <a16:colId xmlns:a16="http://schemas.microsoft.com/office/drawing/2014/main" val="4103947520"/>
                    </a:ext>
                  </a:extLst>
                </a:gridCol>
              </a:tblGrid>
              <a:tr h="62255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No:of</a:t>
                      </a: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Record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Key Variables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DataTypes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2175749"/>
                  </a:ext>
                </a:extLst>
              </a:tr>
              <a:tr h="1378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Customer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Rows: 99,441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Columns: 4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PK – </a:t>
                      </a:r>
                      <a:r>
                        <a:rPr lang="en-IN" sz="1400" b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Custid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FK</a:t>
                      </a:r>
                      <a:r>
                        <a:rPr lang="en-IN" sz="1400" b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kumimoji="0" lang="en-IN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Not Present</a:t>
                      </a:r>
                      <a:endParaRPr lang="en-IN" sz="14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IN" sz="1400" b="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Custid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Customer ID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customer_city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(city) of the customer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customer_state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(State) of the customer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Gender - </a:t>
                      </a: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 of the customer (M, F)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2691907"/>
                  </a:ext>
                </a:extLst>
              </a:tr>
              <a:tr h="37042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Orders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Rows: </a:t>
                      </a:r>
                      <a:r>
                        <a:rPr lang="en-US" sz="1400" kern="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1,12,650</a:t>
                      </a:r>
                      <a:endParaRPr kumimoji="0" lang="en-US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Columns: 11</a:t>
                      </a:r>
                      <a:endParaRPr kumimoji="0" lang="en-I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PK – </a:t>
                      </a: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Not Present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FK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 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Customer_id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order_id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product_id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803275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Delivered_StoreID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I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Integer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TimeStamp</a:t>
                      </a:r>
                      <a:endParaRPr lang="en-US" sz="1400" b="0" kern="100" noProof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Integer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Integer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00" noProof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400" b="0" kern="100" noProof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400" b="0" kern="100" noProof="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803275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kumimoji="0" lang="en-IN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Customer_id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unique identifier assigned to each customer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order_id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unique identifier for each order placed by a customer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product_id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unique identifier for the purchased product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Channel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mode of purchase, such as online, in-store, or phone delivery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Delivered_StoreID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unique identifier of the store where the order was delivered or picked up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Bill_date_timestamp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date and time when the order was billed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Quantity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number of units of the product purchased in the order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Cost Per Unit </a:t>
                      </a:r>
                      <a:r>
                        <a:rPr lang="en-IN" sz="1400" b="1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cost of one unit of the product before discounts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MRP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Maximum Retail Price (MRP) of the product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Discount –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discount amount applied to the order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 Amount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final amount that should be paid by the customer after applying discounts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5871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724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281A3-C146-C7FC-DCB4-DE55FFB19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7CE18-718C-60D0-B61E-60079A31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188" y="-72705"/>
            <a:ext cx="10268712" cy="1700784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 DICTIONARY(2/3)</a:t>
            </a:r>
            <a:endParaRPr lang="en-IN" sz="4000" dirty="0"/>
          </a:p>
        </p:txBody>
      </p:sp>
      <p:pic>
        <p:nvPicPr>
          <p:cNvPr id="3" name="Graphic 2" descr="Database">
            <a:extLst>
              <a:ext uri="{FF2B5EF4-FFF2-40B4-BE49-F238E27FC236}">
                <a16:creationId xmlns:a16="http://schemas.microsoft.com/office/drawing/2014/main" id="{CBD890F2-4C65-8212-CC4B-0E3C67DED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0268" y="551991"/>
            <a:ext cx="1076088" cy="1076088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ADB8BC-85F3-8D0D-C039-B34F0D732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947662"/>
              </p:ext>
            </p:extLst>
          </p:nvPr>
        </p:nvGraphicFramePr>
        <p:xfrm>
          <a:off x="-4" y="1776062"/>
          <a:ext cx="12192004" cy="53424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65506">
                  <a:extLst>
                    <a:ext uri="{9D8B030D-6E8A-4147-A177-3AD203B41FA5}">
                      <a16:colId xmlns:a16="http://schemas.microsoft.com/office/drawing/2014/main" val="944331112"/>
                    </a:ext>
                  </a:extLst>
                </a:gridCol>
                <a:gridCol w="1438508">
                  <a:extLst>
                    <a:ext uri="{9D8B030D-6E8A-4147-A177-3AD203B41FA5}">
                      <a16:colId xmlns:a16="http://schemas.microsoft.com/office/drawing/2014/main" val="830535589"/>
                    </a:ext>
                  </a:extLst>
                </a:gridCol>
                <a:gridCol w="1851102">
                  <a:extLst>
                    <a:ext uri="{9D8B030D-6E8A-4147-A177-3AD203B41FA5}">
                      <a16:colId xmlns:a16="http://schemas.microsoft.com/office/drawing/2014/main" val="539274582"/>
                    </a:ext>
                  </a:extLst>
                </a:gridCol>
                <a:gridCol w="1338147">
                  <a:extLst>
                    <a:ext uri="{9D8B030D-6E8A-4147-A177-3AD203B41FA5}">
                      <a16:colId xmlns:a16="http://schemas.microsoft.com/office/drawing/2014/main" val="3816890822"/>
                    </a:ext>
                  </a:extLst>
                </a:gridCol>
                <a:gridCol w="4798741">
                  <a:extLst>
                    <a:ext uri="{9D8B030D-6E8A-4147-A177-3AD203B41FA5}">
                      <a16:colId xmlns:a16="http://schemas.microsoft.com/office/drawing/2014/main" val="4103947520"/>
                    </a:ext>
                  </a:extLst>
                </a:gridCol>
              </a:tblGrid>
              <a:tr h="3992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No:of</a:t>
                      </a: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Record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Key Variables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DataTypes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2175749"/>
                  </a:ext>
                </a:extLst>
              </a:tr>
              <a:tr h="1507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00" dirty="0" err="1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OrderPayments</a:t>
                      </a:r>
                      <a:endParaRPr lang="en-IN" sz="2000" b="1" kern="100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Rows: </a:t>
                      </a:r>
                      <a:r>
                        <a:rPr lang="en-US" sz="1400" kern="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1,03,886</a:t>
                      </a:r>
                      <a:endParaRPr kumimoji="0" lang="en-US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Columns: 3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PK – </a:t>
                      </a: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Not Present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FK</a:t>
                      </a: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order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_id</a:t>
                      </a:r>
                      <a:endParaRPr lang="en-I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Float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0" kern="1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IN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order_id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unique identifier for each order placed by a customer</a:t>
                      </a:r>
                    </a:p>
                    <a:p>
                      <a:pPr marL="285750" indent="-28575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payment_type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mode of payment used by the customer (e.g., credit card, debit card, UPI/cash, and </a:t>
                      </a:r>
                      <a:r>
                        <a:rPr lang="en-IN" sz="1400" kern="1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voture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payment_value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total amount paid by the customer for the order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2691907"/>
                  </a:ext>
                </a:extLst>
              </a:tr>
              <a:tr h="31752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00" dirty="0" err="1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OrderReview_Ratings</a:t>
                      </a:r>
                      <a:endParaRPr lang="en-IN" sz="2000" b="1" kern="100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Rows: </a:t>
                      </a:r>
                      <a:r>
                        <a:rPr lang="en-US" sz="1400" kern="1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1,00,000</a:t>
                      </a:r>
                      <a:endParaRPr lang="en-US" sz="1400" kern="100" noProof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Columns: 2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PK – </a:t>
                      </a: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Not Present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FK</a:t>
                      </a: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order_id</a:t>
                      </a:r>
                      <a:endParaRPr lang="en-IN" sz="1400" b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Tinyint</a:t>
                      </a:r>
                      <a:endParaRPr lang="en-IN" sz="1400" b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order_id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unique identifier for each order placed by a customer</a:t>
                      </a:r>
                    </a:p>
                    <a:p>
                      <a:pPr marL="171450" indent="-1714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Customer_Satisfaction_Score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rating given by the customer to express their satisfaction with the order, typically on a scale (1 to 5)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5871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773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192EF-409E-4456-0B2F-8731B5A30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0BC43-E017-7250-B8CB-AA885616D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188" y="-72705"/>
            <a:ext cx="10268712" cy="1700784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 DICTIONARY(3/3)</a:t>
            </a:r>
            <a:endParaRPr lang="en-IN" sz="4000" dirty="0"/>
          </a:p>
        </p:txBody>
      </p:sp>
      <p:pic>
        <p:nvPicPr>
          <p:cNvPr id="3" name="Graphic 2" descr="Database">
            <a:extLst>
              <a:ext uri="{FF2B5EF4-FFF2-40B4-BE49-F238E27FC236}">
                <a16:creationId xmlns:a16="http://schemas.microsoft.com/office/drawing/2014/main" id="{BD646569-6884-E63D-788B-C900897A7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3000" y="75278"/>
            <a:ext cx="1076088" cy="1076088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7B96FF-B26E-9D64-039A-CA005A765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815741"/>
              </p:ext>
            </p:extLst>
          </p:nvPr>
        </p:nvGraphicFramePr>
        <p:xfrm>
          <a:off x="0" y="1299350"/>
          <a:ext cx="12192004" cy="55586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0741">
                  <a:extLst>
                    <a:ext uri="{9D8B030D-6E8A-4147-A177-3AD203B41FA5}">
                      <a16:colId xmlns:a16="http://schemas.microsoft.com/office/drawing/2014/main" val="944331112"/>
                    </a:ext>
                  </a:extLst>
                </a:gridCol>
                <a:gridCol w="1237786">
                  <a:extLst>
                    <a:ext uri="{9D8B030D-6E8A-4147-A177-3AD203B41FA5}">
                      <a16:colId xmlns:a16="http://schemas.microsoft.com/office/drawing/2014/main" val="830535589"/>
                    </a:ext>
                  </a:extLst>
                </a:gridCol>
                <a:gridCol w="1694985">
                  <a:extLst>
                    <a:ext uri="{9D8B030D-6E8A-4147-A177-3AD203B41FA5}">
                      <a16:colId xmlns:a16="http://schemas.microsoft.com/office/drawing/2014/main" val="539274582"/>
                    </a:ext>
                  </a:extLst>
                </a:gridCol>
                <a:gridCol w="1512053">
                  <a:extLst>
                    <a:ext uri="{9D8B030D-6E8A-4147-A177-3AD203B41FA5}">
                      <a16:colId xmlns:a16="http://schemas.microsoft.com/office/drawing/2014/main" val="1170736349"/>
                    </a:ext>
                  </a:extLst>
                </a:gridCol>
                <a:gridCol w="5996439">
                  <a:extLst>
                    <a:ext uri="{9D8B030D-6E8A-4147-A177-3AD203B41FA5}">
                      <a16:colId xmlns:a16="http://schemas.microsoft.com/office/drawing/2014/main" val="4103947520"/>
                    </a:ext>
                  </a:extLst>
                </a:gridCol>
              </a:tblGrid>
              <a:tr h="70389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name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No:of</a:t>
                      </a: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Record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Key Variables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DataTypes</a:t>
                      </a:r>
                      <a:endParaRPr lang="en-US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20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22175749"/>
                  </a:ext>
                </a:extLst>
              </a:tr>
              <a:tr h="30619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kern="100" dirty="0" err="1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ProductsInfo</a:t>
                      </a:r>
                      <a:endParaRPr lang="en-IN" sz="2200" b="1" kern="100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880" marR="748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Rows: </a:t>
                      </a:r>
                      <a:r>
                        <a:rPr kumimoji="0" lang="en-US" sz="1400" b="0" i="0" u="none" strike="noStrike" kern="1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32,951</a:t>
                      </a:r>
                      <a:endParaRPr kumimoji="0" lang="en-US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Columns: 9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80" marR="74880" marT="0" marB="0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PK – </a:t>
                      </a:r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product_id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FK</a:t>
                      </a: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Not Present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80" marR="74880" marT="0" marB="0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Integer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Integer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Integer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Integer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Integer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Integer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4880" marR="74880" marT="0" marB="0"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product_id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Unique product ID</a:t>
                      </a:r>
                      <a:endParaRPr lang="en-IN" sz="1400" b="0" kern="1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Category </a:t>
                      </a:r>
                      <a:r>
                        <a:rPr lang="en-IN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The category or type of product (Electronics, Clothing, Furniture, etc.)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product_name_length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length (number of characters) of the product name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product_description_length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length (number of characters) of the product description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product_photos_qty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</a:t>
                      </a:r>
                      <a:r>
                        <a:rPr lang="en-IN" sz="1400" b="0" kern="1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No:of</a:t>
                      </a:r>
                      <a:r>
                        <a:rPr lang="en-IN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photos for a product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product_weight_g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weight of the product in grams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product_length_cm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IN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length of the product in </a:t>
                      </a:r>
                      <a:r>
                        <a:rPr lang="en-IN" sz="1400" b="0" kern="1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centimeters</a:t>
                      </a:r>
                      <a:endParaRPr lang="en-IN" sz="1400" b="0" kern="1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product_height_cm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height of the product in centimeters</a:t>
                      </a:r>
                      <a:endParaRPr lang="en-IN" sz="1400" b="0" kern="1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product_width_cm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400" b="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width of the product in centimeters</a:t>
                      </a:r>
                      <a:endParaRPr lang="en-IN" sz="1400" b="0" kern="1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880" marR="74880" marT="0" marB="0"/>
                </a:tc>
                <a:extLst>
                  <a:ext uri="{0D108BD9-81ED-4DB2-BD59-A6C34878D82A}">
                    <a16:rowId xmlns:a16="http://schemas.microsoft.com/office/drawing/2014/main" val="1262691907"/>
                  </a:ext>
                </a:extLst>
              </a:tr>
              <a:tr h="17928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Stores Info</a:t>
                      </a:r>
                      <a:endParaRPr lang="en-IN" sz="2000" b="1" kern="100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Rows: </a:t>
                      </a:r>
                      <a:r>
                        <a:rPr lang="en-US" sz="1400" kern="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535</a:t>
                      </a:r>
                      <a:endParaRPr kumimoji="0" lang="en-US" sz="14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Columns: 4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PK – </a:t>
                      </a:r>
                      <a:r>
                        <a:rPr lang="en-IN" sz="140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StoreID</a:t>
                      </a: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I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FK</a:t>
                      </a:r>
                      <a:r>
                        <a:rPr kumimoji="0" lang="en-I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Not Present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Varchar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StoreID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Unique store ID</a:t>
                      </a:r>
                      <a:endParaRPr lang="en-IN" sz="1400" kern="1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seller_city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Location (city) of the store</a:t>
                      </a:r>
                      <a:endParaRPr lang="en-IN" sz="1400" kern="1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seller_state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Location (state) of the store</a:t>
                      </a:r>
                      <a:endParaRPr lang="en-IN" sz="1400" kern="1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Region - </a:t>
                      </a: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Region (North, Sount, East, West)</a:t>
                      </a:r>
                      <a:endParaRPr lang="en-IN" sz="1400" kern="1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5871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644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2C956-DB3A-D7FF-8163-93BB7E7CB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087474"/>
          </a:xfrm>
        </p:spPr>
        <p:txBody>
          <a:bodyPr>
            <a:noAutofit/>
          </a:bodyPr>
          <a:lstStyle/>
          <a:p>
            <a:pPr algn="ctr"/>
            <a:r>
              <a:rPr lang="en-IN" sz="4000" dirty="0"/>
              <a:t>ENTITY</a:t>
            </a:r>
            <a:r>
              <a:rPr lang="en-IN" sz="4000" b="1" i="0" u="none" strike="noStrike" baseline="0" dirty="0">
                <a:latin typeface="Raleway" panose="020F0502020204030204" pitchFamily="2" charset="0"/>
              </a:rPr>
              <a:t> </a:t>
            </a:r>
            <a:r>
              <a:rPr lang="en-IN" sz="4000" dirty="0"/>
              <a:t>RELATIONSHIP</a:t>
            </a:r>
            <a:r>
              <a:rPr lang="en-IN" sz="4000" b="1" i="0" u="none" strike="noStrike" baseline="0" dirty="0">
                <a:latin typeface="Raleway" panose="020F0502020204030204" pitchFamily="2" charset="0"/>
              </a:rPr>
              <a:t> </a:t>
            </a:r>
            <a:r>
              <a:rPr lang="en-IN" sz="4000" dirty="0"/>
              <a:t>DIAGRAM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863717-8907-B094-F647-C0667B93C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649" y="2857418"/>
            <a:ext cx="152408" cy="1841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6E2BC7-D8E0-F166-A884-982A0E7179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021" y="3673006"/>
            <a:ext cx="158758" cy="158758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2AEF52-30D5-189F-B2B0-C2D195186E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9" y="1847926"/>
            <a:ext cx="12023153" cy="4943166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6FAA7D8-1F3A-CC28-C94E-E29145EA640A}"/>
              </a:ext>
            </a:extLst>
          </p:cNvPr>
          <p:cNvSpPr/>
          <p:nvPr/>
        </p:nvSpPr>
        <p:spPr>
          <a:xfrm>
            <a:off x="10861288" y="6724185"/>
            <a:ext cx="367544" cy="13381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045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AFC5D-BF0A-7412-73A4-DDB9A50FA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17C4E-74FD-0B08-A61C-722C9C30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347357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</a:t>
            </a: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4000" dirty="0"/>
              <a:t>Discrepancies (1/10)</a:t>
            </a: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A2F390-9BCF-F394-1172-5EFAE5547B99}"/>
              </a:ext>
            </a:extLst>
          </p:cNvPr>
          <p:cNvSpPr txBox="1"/>
          <p:nvPr/>
        </p:nvSpPr>
        <p:spPr>
          <a:xfrm>
            <a:off x="122663" y="1665171"/>
            <a:ext cx="65987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 Table: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047D42-B14C-1425-84CA-32F41105456D}"/>
              </a:ext>
            </a:extLst>
          </p:cNvPr>
          <p:cNvSpPr/>
          <p:nvPr/>
        </p:nvSpPr>
        <p:spPr>
          <a:xfrm>
            <a:off x="132290" y="2387576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>
              <a:lnSpc>
                <a:spcPct val="1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1. Miss Match of Total Amount in orders table and Payment Value in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E8654B-8109-4A77-998C-DD9327FC47B8}"/>
              </a:ext>
            </a:extLst>
          </p:cNvPr>
          <p:cNvSpPr/>
          <p:nvPr/>
        </p:nvSpPr>
        <p:spPr>
          <a:xfrm>
            <a:off x="267628" y="6188927"/>
            <a:ext cx="11251333" cy="458517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89156A9-08C9-1286-5FD0-56A28F2AFB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52" y="3399193"/>
            <a:ext cx="8590151" cy="3693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18C99AA-7B09-24FA-EF8C-BBDCC4F7A378}"/>
              </a:ext>
            </a:extLst>
          </p:cNvPr>
          <p:cNvSpPr txBox="1"/>
          <p:nvPr/>
        </p:nvSpPr>
        <p:spPr>
          <a:xfrm>
            <a:off x="602165" y="2872491"/>
            <a:ext cx="609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Table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7D29F2-A319-3342-81CF-69E8BB27948B}"/>
              </a:ext>
            </a:extLst>
          </p:cNvPr>
          <p:cNvSpPr txBox="1"/>
          <p:nvPr/>
        </p:nvSpPr>
        <p:spPr>
          <a:xfrm>
            <a:off x="602165" y="4121743"/>
            <a:ext cx="609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F84295-39E4-F0D5-BD06-272340093D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52" y="4786408"/>
            <a:ext cx="4261069" cy="406421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D28AF77-774F-3EC0-E2AB-7C3ED89B4F5D}"/>
                  </a:ext>
                </a:extLst>
              </p14:cNvPr>
              <p14:cNvContentPartPr/>
              <p14:nvPr/>
            </p14:nvContentPartPr>
            <p14:xfrm>
              <a:off x="8882992" y="3504494"/>
              <a:ext cx="585387" cy="264031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D28AF77-774F-3EC0-E2AB-7C3ED89B4F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76875" y="3498370"/>
                <a:ext cx="597620" cy="2762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DFCA5F0-A0D8-87C7-B060-DDE964A9E3B9}"/>
                  </a:ext>
                </a:extLst>
              </p14:cNvPr>
              <p14:cNvContentPartPr/>
              <p14:nvPr/>
            </p14:nvContentPartPr>
            <p14:xfrm>
              <a:off x="4347447" y="5006063"/>
              <a:ext cx="762480" cy="201106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DFCA5F0-A0D8-87C7-B060-DDE964A9E3B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41330" y="4999947"/>
                <a:ext cx="774714" cy="213338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350F6240-E2A4-2E68-C884-ABA678546430}"/>
              </a:ext>
            </a:extLst>
          </p:cNvPr>
          <p:cNvSpPr txBox="1"/>
          <p:nvPr/>
        </p:nvSpPr>
        <p:spPr>
          <a:xfrm>
            <a:off x="603280" y="5412484"/>
            <a:ext cx="10525637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Aft>
                <a:spcPts val="1200"/>
              </a:spcAf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off the value to the nearest ten’s place and match with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Total_Amount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Orders Table to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Payment_value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ROUND(141.9,-1)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140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           ROUND(142.88,-1)  140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863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369AD-5978-B905-5CF6-BC1B4AF2D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92C4E50D-2815-DD6D-6CEB-7661AC842D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03" y="3116237"/>
            <a:ext cx="10008114" cy="8318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062E4E-F49D-86FB-4F19-4910E624A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347357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</a:t>
            </a: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4000" dirty="0"/>
              <a:t>Discrepancies (2/10)</a:t>
            </a: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F41FD7-6EDF-6A12-F847-0429390379FC}"/>
              </a:ext>
            </a:extLst>
          </p:cNvPr>
          <p:cNvSpPr txBox="1"/>
          <p:nvPr/>
        </p:nvSpPr>
        <p:spPr>
          <a:xfrm>
            <a:off x="122663" y="1665171"/>
            <a:ext cx="65987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 Table: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AD09FE7-D157-4A9D-2E9D-A202B8B55EBE}"/>
              </a:ext>
            </a:extLst>
          </p:cNvPr>
          <p:cNvSpPr/>
          <p:nvPr/>
        </p:nvSpPr>
        <p:spPr>
          <a:xfrm>
            <a:off x="132290" y="2387576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same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associated Quantity was different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7D604E-7437-C56E-40E7-CF1A6070EC76}"/>
              </a:ext>
            </a:extLst>
          </p:cNvPr>
          <p:cNvSpPr/>
          <p:nvPr/>
        </p:nvSpPr>
        <p:spPr>
          <a:xfrm>
            <a:off x="267628" y="6188927"/>
            <a:ext cx="11251333" cy="458517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6BC1BC-0009-353A-6AD0-8ABC53D2CAF7}"/>
              </a:ext>
            </a:extLst>
          </p:cNvPr>
          <p:cNvCxnSpPr>
            <a:cxnSpLocks/>
          </p:cNvCxnSpPr>
          <p:nvPr/>
        </p:nvCxnSpPr>
        <p:spPr>
          <a:xfrm flipV="1">
            <a:off x="819917" y="3297693"/>
            <a:ext cx="2430966" cy="753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A7CF254-ED6E-E7F7-B302-A66A951E49E8}"/>
              </a:ext>
            </a:extLst>
          </p:cNvPr>
          <p:cNvCxnSpPr>
            <a:cxnSpLocks/>
          </p:cNvCxnSpPr>
          <p:nvPr/>
        </p:nvCxnSpPr>
        <p:spPr>
          <a:xfrm>
            <a:off x="7489957" y="3288930"/>
            <a:ext cx="0" cy="63612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108535-740B-69F0-9BAB-D3BBA9A4EAEA}"/>
              </a:ext>
            </a:extLst>
          </p:cNvPr>
          <p:cNvCxnSpPr>
            <a:cxnSpLocks/>
          </p:cNvCxnSpPr>
          <p:nvPr/>
        </p:nvCxnSpPr>
        <p:spPr>
          <a:xfrm>
            <a:off x="7974416" y="3288930"/>
            <a:ext cx="0" cy="63612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8138BB-3C15-8B7E-3DD7-C9AF7524C4BA}"/>
              </a:ext>
            </a:extLst>
          </p:cNvPr>
          <p:cNvCxnSpPr>
            <a:cxnSpLocks/>
          </p:cNvCxnSpPr>
          <p:nvPr/>
        </p:nvCxnSpPr>
        <p:spPr>
          <a:xfrm>
            <a:off x="7489956" y="3925051"/>
            <a:ext cx="48446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2B3F0A1-A36C-20E9-58EC-45ABDDE78A48}"/>
              </a:ext>
            </a:extLst>
          </p:cNvPr>
          <p:cNvCxnSpPr>
            <a:cxnSpLocks/>
          </p:cNvCxnSpPr>
          <p:nvPr/>
        </p:nvCxnSpPr>
        <p:spPr>
          <a:xfrm>
            <a:off x="7489957" y="3288930"/>
            <a:ext cx="48445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B70AF4-7ADE-DFF5-BED9-E5C62C3C9EAD}"/>
              </a:ext>
            </a:extLst>
          </p:cNvPr>
          <p:cNvCxnSpPr>
            <a:cxnSpLocks/>
          </p:cNvCxnSpPr>
          <p:nvPr/>
        </p:nvCxnSpPr>
        <p:spPr>
          <a:xfrm flipV="1">
            <a:off x="819917" y="3429000"/>
            <a:ext cx="2430966" cy="30313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1FFE373-ED01-38B6-89E6-B319389DFC66}"/>
              </a:ext>
            </a:extLst>
          </p:cNvPr>
          <p:cNvCxnSpPr>
            <a:cxnSpLocks/>
          </p:cNvCxnSpPr>
          <p:nvPr/>
        </p:nvCxnSpPr>
        <p:spPr>
          <a:xfrm>
            <a:off x="808560" y="3297693"/>
            <a:ext cx="0" cy="169990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E7946C3-1AA0-C907-BCAB-8DEC6E32358F}"/>
              </a:ext>
            </a:extLst>
          </p:cNvPr>
          <p:cNvCxnSpPr>
            <a:cxnSpLocks/>
          </p:cNvCxnSpPr>
          <p:nvPr/>
        </p:nvCxnSpPr>
        <p:spPr>
          <a:xfrm>
            <a:off x="3251599" y="3274166"/>
            <a:ext cx="0" cy="169990"/>
          </a:xfrm>
          <a:prstGeom prst="line">
            <a:avLst/>
          </a:prstGeom>
          <a:ln w="254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Picture 16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F607D453-022B-537C-B9B2-2F99881B4C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03" y="4565988"/>
            <a:ext cx="3848298" cy="66679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C4A55FB-8802-9138-9044-3F336DBEB1D8}"/>
              </a:ext>
            </a:extLst>
          </p:cNvPr>
          <p:cNvSpPr txBox="1"/>
          <p:nvPr/>
        </p:nvSpPr>
        <p:spPr>
          <a:xfrm>
            <a:off x="487103" y="411760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BD9748C-C60D-010C-7A56-B38E10CE7971}"/>
                  </a:ext>
                </a:extLst>
              </p14:cNvPr>
              <p14:cNvContentPartPr/>
              <p14:nvPr/>
            </p14:nvContentPartPr>
            <p14:xfrm>
              <a:off x="3250883" y="4687380"/>
              <a:ext cx="1084518" cy="286044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BD9748C-C60D-010C-7A56-B38E10CE79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44766" y="4681263"/>
                <a:ext cx="1096752" cy="2982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BFC8409-80FA-F6D2-47E6-6AE05FFA4A53}"/>
                  </a:ext>
                </a:extLst>
              </p14:cNvPr>
              <p14:cNvContentPartPr/>
              <p14:nvPr/>
            </p14:nvContentPartPr>
            <p14:xfrm>
              <a:off x="9299520" y="3755760"/>
              <a:ext cx="1374120" cy="192369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BFC8409-80FA-F6D2-47E6-6AE05FFA4A5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93400" y="3749647"/>
                <a:ext cx="1386360" cy="204594"/>
              </a:xfrm>
              <a:prstGeom prst="rect">
                <a:avLst/>
              </a:prstGeom>
            </p:spPr>
          </p:pic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ED45FA61-9E4C-2898-0093-338C874A9174}"/>
              </a:ext>
            </a:extLst>
          </p:cNvPr>
          <p:cNvSpPr txBox="1"/>
          <p:nvPr/>
        </p:nvSpPr>
        <p:spPr>
          <a:xfrm>
            <a:off x="370388" y="5354172"/>
            <a:ext cx="107417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1200"/>
              </a:spcAf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off the value and map with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Total_Amount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Orders Table to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Payment_value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Table.</a:t>
            </a:r>
          </a:p>
        </p:txBody>
      </p:sp>
    </p:spTree>
    <p:extLst>
      <p:ext uri="{BB962C8B-B14F-4D97-AF65-F5344CB8AC3E}">
        <p14:creationId xmlns:p14="http://schemas.microsoft.com/office/powerpoint/2010/main" val="2200014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63BA5-242F-CAAF-DA1F-0CC6ACAD9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78925BE2-C799-4259-0BA0-BCA4176F3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22" y="3113738"/>
            <a:ext cx="10217675" cy="5524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D27399-8BA7-F85A-9DA4-2C36DFFC0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347357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</a:t>
            </a: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4000" dirty="0"/>
              <a:t>Discrepancies (3/10)</a:t>
            </a: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1953F5-4321-0371-CAD1-A8D2998F736B}"/>
              </a:ext>
            </a:extLst>
          </p:cNvPr>
          <p:cNvSpPr txBox="1"/>
          <p:nvPr/>
        </p:nvSpPr>
        <p:spPr>
          <a:xfrm>
            <a:off x="122663" y="1665171"/>
            <a:ext cx="65987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 Table: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D6AC61-B942-7D0F-E047-597582DC52E6}"/>
              </a:ext>
            </a:extLst>
          </p:cNvPr>
          <p:cNvSpPr/>
          <p:nvPr/>
        </p:nvSpPr>
        <p:spPr>
          <a:xfrm>
            <a:off x="132290" y="2387576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>
              <a:lnSpc>
                <a:spcPct val="1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For channel – ‘instore’ at the same timestamp,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delivered_StoreID’s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different – 1007 records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49C381-D4FA-FE20-7323-7A772D153381}"/>
              </a:ext>
            </a:extLst>
          </p:cNvPr>
          <p:cNvSpPr/>
          <p:nvPr/>
        </p:nvSpPr>
        <p:spPr>
          <a:xfrm>
            <a:off x="267628" y="6188927"/>
            <a:ext cx="11251333" cy="458517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F6AD09-00CC-33AA-A7EE-FD6DD12DB386}"/>
              </a:ext>
            </a:extLst>
          </p:cNvPr>
          <p:cNvSpPr txBox="1"/>
          <p:nvPr/>
        </p:nvSpPr>
        <p:spPr>
          <a:xfrm>
            <a:off x="370388" y="5354172"/>
            <a:ext cx="107417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up the MRP in Orders Table to match with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Payment_value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Table.</a:t>
            </a:r>
          </a:p>
          <a:p>
            <a:pPr lvl="0">
              <a:spcAft>
                <a:spcPts val="1200"/>
              </a:spcAf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there is no enough data to pick the correct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which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pick and why?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AAF6276-49EB-A0A3-270B-87226D2E2681}"/>
                  </a:ext>
                </a:extLst>
              </p14:cNvPr>
              <p14:cNvContentPartPr/>
              <p14:nvPr/>
            </p14:nvContentPartPr>
            <p14:xfrm>
              <a:off x="746760" y="3276249"/>
              <a:ext cx="2556933" cy="308461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AAF6276-49EB-A0A3-270B-87226D2E26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7761" y="3267261"/>
                <a:ext cx="2574572" cy="3260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A0D38C2-82BB-6662-32AD-3CCCEC4CA3FB}"/>
                  </a:ext>
                </a:extLst>
              </p14:cNvPr>
              <p14:cNvContentPartPr/>
              <p14:nvPr/>
            </p14:nvContentPartPr>
            <p14:xfrm>
              <a:off x="5067482" y="3246634"/>
              <a:ext cx="765037" cy="419582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A0D38C2-82BB-6662-32AD-3CCCEC4CA3F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58482" y="3237630"/>
                <a:ext cx="782678" cy="4372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D1A3DD2-B58F-22C3-BB67-18FFBB2EFABC}"/>
                  </a:ext>
                </a:extLst>
              </p14:cNvPr>
              <p14:cNvContentPartPr/>
              <p14:nvPr/>
            </p14:nvContentPartPr>
            <p14:xfrm>
              <a:off x="10026227" y="3269847"/>
              <a:ext cx="653965" cy="314863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D1A3DD2-B58F-22C3-BB67-18FFBB2EFAB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17229" y="3260851"/>
                <a:ext cx="671601" cy="332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FA7751E-5B4F-E865-5315-E67DFEF927DC}"/>
                  </a:ext>
                </a:extLst>
              </p14:cNvPr>
              <p14:cNvContentPartPr/>
              <p14:nvPr/>
            </p14:nvContentPartPr>
            <p14:xfrm>
              <a:off x="6597558" y="3269847"/>
              <a:ext cx="1498270" cy="314863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FA7751E-5B4F-E865-5315-E67DFEF927D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88560" y="3260851"/>
                <a:ext cx="1515905" cy="332495"/>
              </a:xfrm>
              <a:prstGeom prst="rect">
                <a:avLst/>
              </a:prstGeom>
            </p:spPr>
          </p:pic>
        </mc:Fallback>
      </mc:AlternateContent>
      <p:pic>
        <p:nvPicPr>
          <p:cNvPr id="25" name="Picture 24" descr="A blue rectangular object with black numbers&#10;&#10;AI-generated content may be incorrect.">
            <a:extLst>
              <a:ext uri="{FF2B5EF4-FFF2-40B4-BE49-F238E27FC236}">
                <a16:creationId xmlns:a16="http://schemas.microsoft.com/office/drawing/2014/main" id="{C0351CCF-AA59-6964-FD6A-A83303E0BB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162" y="4365727"/>
            <a:ext cx="5958864" cy="5524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F5EBDB7-458D-FF4F-26A2-89E67BAC0169}"/>
                  </a:ext>
                </a:extLst>
              </p14:cNvPr>
              <p14:cNvContentPartPr/>
              <p14:nvPr/>
            </p14:nvContentPartPr>
            <p14:xfrm>
              <a:off x="5418667" y="4643288"/>
              <a:ext cx="1527359" cy="215547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F5EBDB7-458D-FF4F-26A2-89E67BAC016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09668" y="4634307"/>
                <a:ext cx="1544998" cy="23315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6CD77075-EA0E-261C-CA2C-DD8D6EC823A9}"/>
              </a:ext>
            </a:extLst>
          </p:cNvPr>
          <p:cNvSpPr txBox="1"/>
          <p:nvPr/>
        </p:nvSpPr>
        <p:spPr>
          <a:xfrm>
            <a:off x="960120" y="3805811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  <a:endParaRPr lang="en-IN" dirty="0"/>
          </a:p>
        </p:txBody>
      </p:sp>
      <p:pic>
        <p:nvPicPr>
          <p:cNvPr id="34" name="Picture 33" descr="A close-up of numbers&#10;&#10;AI-generated content may be incorrect.">
            <a:extLst>
              <a:ext uri="{FF2B5EF4-FFF2-40B4-BE49-F238E27FC236}">
                <a16:creationId xmlns:a16="http://schemas.microsoft.com/office/drawing/2014/main" id="{F6AD3920-9566-6A1D-BD7B-C82BA96F2B3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192" y="3118165"/>
            <a:ext cx="958899" cy="46992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2185B12-76A8-BD4E-9EFC-66E96AB5CD31}"/>
                  </a:ext>
                </a:extLst>
              </p14:cNvPr>
              <p14:cNvContentPartPr/>
              <p14:nvPr/>
            </p14:nvContentPartPr>
            <p14:xfrm>
              <a:off x="10680192" y="3232515"/>
              <a:ext cx="958899" cy="433701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2185B12-76A8-BD4E-9EFC-66E96AB5CD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71190" y="3223510"/>
                <a:ext cx="976543" cy="4513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E22DC98-91A5-60C9-EF0F-37BD8B005E94}"/>
                  </a:ext>
                </a:extLst>
              </p14:cNvPr>
              <p14:cNvContentPartPr/>
              <p14:nvPr/>
            </p14:nvContentPartPr>
            <p14:xfrm>
              <a:off x="-1011069" y="557905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E22DC98-91A5-60C9-EF0F-37BD8B005E9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1028709" y="5399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9A1A7AD-7C07-D1D3-8955-7D4D46EA4736}"/>
                  </a:ext>
                </a:extLst>
              </p14:cNvPr>
              <p14:cNvContentPartPr/>
              <p14:nvPr/>
            </p14:nvContentPartPr>
            <p14:xfrm>
              <a:off x="-1011069" y="557905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9A1A7AD-7C07-D1D3-8955-7D4D46EA473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-1028709" y="539905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3556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0FDA6-D48A-16FA-8A38-3CAC4A503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A6AD42-6828-197A-7DAB-54ED96DEF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24" y="3174987"/>
            <a:ext cx="11690951" cy="5080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76699B5-5D44-9F8A-E304-DB0E79F7EBF1}"/>
                  </a:ext>
                </a:extLst>
              </p14:cNvPr>
              <p14:cNvContentPartPr/>
              <p14:nvPr/>
            </p14:nvContentPartPr>
            <p14:xfrm>
              <a:off x="6375400" y="3282902"/>
              <a:ext cx="1515533" cy="453538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76699B5-5D44-9F8A-E304-DB0E79F7EB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69279" y="3276788"/>
                <a:ext cx="1527775" cy="465767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0406B7B-9453-99F9-5F8C-F4CEC1894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347357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</a:t>
            </a: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4000" dirty="0"/>
              <a:t>Discrepancies (4/10)</a:t>
            </a: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BA740A-3862-C346-10B5-FD32DDC9A268}"/>
              </a:ext>
            </a:extLst>
          </p:cNvPr>
          <p:cNvSpPr txBox="1"/>
          <p:nvPr/>
        </p:nvSpPr>
        <p:spPr>
          <a:xfrm>
            <a:off x="122663" y="1665171"/>
            <a:ext cx="65987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 Table: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85CB6C-9470-DA6A-DB5A-6D9908B953A9}"/>
              </a:ext>
            </a:extLst>
          </p:cNvPr>
          <p:cNvSpPr/>
          <p:nvPr/>
        </p:nvSpPr>
        <p:spPr>
          <a:xfrm>
            <a:off x="132290" y="2387576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For the same </a:t>
            </a:r>
            <a:r>
              <a:rPr lang="en-IN" sz="18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8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are different time stamps – 334 records were found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0AB096-5C33-2D04-D7D7-1CCD8B5A3FD0}"/>
              </a:ext>
            </a:extLst>
          </p:cNvPr>
          <p:cNvSpPr/>
          <p:nvPr/>
        </p:nvSpPr>
        <p:spPr>
          <a:xfrm>
            <a:off x="267628" y="6188927"/>
            <a:ext cx="11251333" cy="458517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D877F5-2DEA-3450-BAA4-A215A3C29B00}"/>
              </a:ext>
            </a:extLst>
          </p:cNvPr>
          <p:cNvSpPr txBox="1"/>
          <p:nvPr/>
        </p:nvSpPr>
        <p:spPr>
          <a:xfrm>
            <a:off x="370388" y="5354172"/>
            <a:ext cx="11251333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up the MRP in Orders Table to match with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Payment_value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Table.</a:t>
            </a:r>
          </a:p>
          <a:p>
            <a:pPr lvl="0">
              <a:spcAft>
                <a:spcPts val="1200"/>
              </a:spcAf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there is no enough data to pick the correct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which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pick and why?</a:t>
            </a:r>
          </a:p>
          <a:p>
            <a:pPr algn="just"/>
            <a:endParaRPr lang="en-IN" sz="1600" dirty="0"/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F3BBAD8-4518-277C-566B-ED3BE3BD07AB}"/>
                  </a:ext>
                </a:extLst>
              </p14:cNvPr>
              <p14:cNvContentPartPr/>
              <p14:nvPr/>
            </p14:nvContentPartPr>
            <p14:xfrm>
              <a:off x="-1011069" y="557905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F3BBAD8-4518-277C-566B-ED3BE3BD07A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029069" y="5399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E9E32D8-5ADD-F641-B76A-47FE8C7D3725}"/>
                  </a:ext>
                </a:extLst>
              </p14:cNvPr>
              <p14:cNvContentPartPr/>
              <p14:nvPr/>
            </p14:nvContentPartPr>
            <p14:xfrm>
              <a:off x="-1011069" y="557905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E9E32D8-5ADD-F641-B76A-47FE8C7D372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1029069" y="539905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 descr="A close-up of a stamp&#10;&#10;AI-generated content may be incorrect.">
            <a:extLst>
              <a:ext uri="{FF2B5EF4-FFF2-40B4-BE49-F238E27FC236}">
                <a16:creationId xmlns:a16="http://schemas.microsoft.com/office/drawing/2014/main" id="{B55FE167-5810-1CFB-0D9E-1845B5F21F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865" y="4320187"/>
            <a:ext cx="4468411" cy="4380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2328DBB-7A50-71BC-E1E9-1F19803B7F26}"/>
              </a:ext>
            </a:extLst>
          </p:cNvPr>
          <p:cNvSpPr txBox="1"/>
          <p:nvPr/>
        </p:nvSpPr>
        <p:spPr>
          <a:xfrm>
            <a:off x="543985" y="3881163"/>
            <a:ext cx="6633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DF1B02A-5509-9120-473D-B30BEAE2125A}"/>
                  </a:ext>
                </a:extLst>
              </p14:cNvPr>
              <p14:cNvContentPartPr/>
              <p14:nvPr/>
            </p14:nvContentPartPr>
            <p14:xfrm>
              <a:off x="3860801" y="4463421"/>
              <a:ext cx="1527359" cy="215547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DF1B02A-5509-9120-473D-B30BEAE2125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51802" y="4454440"/>
                <a:ext cx="1544998" cy="2331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B4FF674-6778-2C56-C21B-A8C89A131F5F}"/>
                  </a:ext>
                </a:extLst>
              </p14:cNvPr>
              <p14:cNvContentPartPr/>
              <p14:nvPr/>
            </p14:nvContentPartPr>
            <p14:xfrm>
              <a:off x="9432695" y="3344917"/>
              <a:ext cx="993696" cy="338096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B4FF674-6778-2C56-C21B-A8C89A131F5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423697" y="3335925"/>
                <a:ext cx="1011331" cy="35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2962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BA591-6696-652E-4E6D-D6D8C2D26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536FCA8-74C1-0305-D3D4-557983A0C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52" y="3171812"/>
            <a:ext cx="11595696" cy="5143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BCEAE64-FEA1-B3FE-8B75-4E2CABEEA805}"/>
                  </a:ext>
                </a:extLst>
              </p14:cNvPr>
              <p14:cNvContentPartPr/>
              <p14:nvPr/>
            </p14:nvContentPartPr>
            <p14:xfrm>
              <a:off x="544587" y="3292628"/>
              <a:ext cx="782179" cy="393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BCEAE64-FEA1-B3FE-8B75-4E2CABEEA8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8468" y="3286512"/>
                <a:ext cx="794417" cy="405791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CC23C90-9AE7-9EF2-1AA2-20E153DA5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347357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</a:t>
            </a: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4000" dirty="0"/>
              <a:t>Discrepancies (5/10)</a:t>
            </a: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12F253-C8CD-BB14-B0FB-A2B2989A2C61}"/>
              </a:ext>
            </a:extLst>
          </p:cNvPr>
          <p:cNvSpPr txBox="1"/>
          <p:nvPr/>
        </p:nvSpPr>
        <p:spPr>
          <a:xfrm>
            <a:off x="122663" y="1665171"/>
            <a:ext cx="65987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 Table: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439EC0-B5BF-8D41-2B73-B3C85E85B6E4}"/>
              </a:ext>
            </a:extLst>
          </p:cNvPr>
          <p:cNvSpPr/>
          <p:nvPr/>
        </p:nvSpPr>
        <p:spPr>
          <a:xfrm>
            <a:off x="132290" y="2387576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There are multiple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 associated with the same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93ADFD-721D-271C-4558-E1436F58ED7B}"/>
              </a:ext>
            </a:extLst>
          </p:cNvPr>
          <p:cNvSpPr/>
          <p:nvPr/>
        </p:nvSpPr>
        <p:spPr>
          <a:xfrm>
            <a:off x="267628" y="6188927"/>
            <a:ext cx="11251333" cy="458517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B6CDD4-9E86-2D8E-9D5E-232247BBAC1B}"/>
              </a:ext>
            </a:extLst>
          </p:cNvPr>
          <p:cNvSpPr txBox="1"/>
          <p:nvPr/>
        </p:nvSpPr>
        <p:spPr>
          <a:xfrm>
            <a:off x="370388" y="5354172"/>
            <a:ext cx="107417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600" dirty="0"/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1600" dirty="0"/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Total_Amount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Orders table with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payment_value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and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endParaRPr lang="en-IN" sz="1600" dirty="0"/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ACDF064-51F0-A0BB-9198-DA7CBE812A8C}"/>
                  </a:ext>
                </a:extLst>
              </p14:cNvPr>
              <p14:cNvContentPartPr/>
              <p14:nvPr/>
            </p14:nvContentPartPr>
            <p14:xfrm>
              <a:off x="-1011069" y="557905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ACDF064-51F0-A0BB-9198-DA7CBE812A8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029069" y="5399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4BC8E19-ED9F-9124-EF8C-C5C4C4D32B47}"/>
                  </a:ext>
                </a:extLst>
              </p14:cNvPr>
              <p14:cNvContentPartPr/>
              <p14:nvPr/>
            </p14:nvContentPartPr>
            <p14:xfrm>
              <a:off x="-1011069" y="557905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4BC8E19-ED9F-9124-EF8C-C5C4C4D32B4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1029069" y="539905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E008E499-BC48-0073-77A5-B8835722F1E7}"/>
              </a:ext>
            </a:extLst>
          </p:cNvPr>
          <p:cNvSpPr/>
          <p:nvPr/>
        </p:nvSpPr>
        <p:spPr>
          <a:xfrm>
            <a:off x="1255567" y="3346415"/>
            <a:ext cx="1828800" cy="283057"/>
          </a:xfrm>
          <a:prstGeom prst="rect">
            <a:avLst/>
          </a:prstGeom>
          <a:solidFill>
            <a:srgbClr val="000000">
              <a:alpha val="5000"/>
            </a:srgbClr>
          </a:solidFill>
          <a:ln w="180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316042-6198-C31E-E458-9020CB5645C6}"/>
              </a:ext>
            </a:extLst>
          </p:cNvPr>
          <p:cNvSpPr txBox="1"/>
          <p:nvPr/>
        </p:nvSpPr>
        <p:spPr>
          <a:xfrm>
            <a:off x="544587" y="3893264"/>
            <a:ext cx="6636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  <a:endParaRPr lang="en-IN" dirty="0"/>
          </a:p>
        </p:txBody>
      </p:sp>
      <p:pic>
        <p:nvPicPr>
          <p:cNvPr id="21" name="Picture 20" descr="A close-up of a label&#10;&#10;AI-generated content may be incorrect.">
            <a:extLst>
              <a:ext uri="{FF2B5EF4-FFF2-40B4-BE49-F238E27FC236}">
                <a16:creationId xmlns:a16="http://schemas.microsoft.com/office/drawing/2014/main" id="{B9B4BEE0-0890-2E55-A90C-0670FCBCEB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87" y="4545066"/>
            <a:ext cx="4219918" cy="4022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40AA148-0296-EDD2-8187-3FF8BF624B9C}"/>
                  </a:ext>
                </a:extLst>
              </p14:cNvPr>
              <p14:cNvContentPartPr/>
              <p14:nvPr/>
            </p14:nvContentPartPr>
            <p14:xfrm>
              <a:off x="3594191" y="4647644"/>
              <a:ext cx="1170314" cy="2602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40AA148-0296-EDD2-8187-3FF8BF624B9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88071" y="4641533"/>
                <a:ext cx="1182554" cy="2724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BEE7A72-CAE0-958D-E870-DFC2A245ABC8}"/>
                  </a:ext>
                </a:extLst>
              </p14:cNvPr>
              <p14:cNvContentPartPr/>
              <p14:nvPr/>
            </p14:nvContentPartPr>
            <p14:xfrm>
              <a:off x="10837742" y="3428999"/>
              <a:ext cx="1056106" cy="283057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BEE7A72-CAE0-958D-E870-DFC2A245ABC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831623" y="3422885"/>
                <a:ext cx="1068344" cy="29528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1803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7B213-C83E-4820-1B05-8AC88EE3C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5425D-756E-CFA4-0D8C-D678873C2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347357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</a:t>
            </a: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4000" dirty="0"/>
              <a:t>Discrepancies (6/10)</a:t>
            </a: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FFBD57-B1E2-7D80-68B2-6848F317CA5E}"/>
              </a:ext>
            </a:extLst>
          </p:cNvPr>
          <p:cNvSpPr txBox="1"/>
          <p:nvPr/>
        </p:nvSpPr>
        <p:spPr>
          <a:xfrm>
            <a:off x="122663" y="1665171"/>
            <a:ext cx="65987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 Table: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5495A6-BA87-2CF6-DDEF-3A866D626D11}"/>
              </a:ext>
            </a:extLst>
          </p:cNvPr>
          <p:cNvSpPr/>
          <p:nvPr/>
        </p:nvSpPr>
        <p:spPr>
          <a:xfrm>
            <a:off x="132290" y="2387576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'bfbd0f9bdef84302105ad712db648a6c' is present in orders table but not present in 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4682B31-15B4-6979-881D-012C58D79E1C}"/>
                  </a:ext>
                </a:extLst>
              </p14:cNvPr>
              <p14:cNvContentPartPr/>
              <p14:nvPr/>
            </p14:nvContentPartPr>
            <p14:xfrm>
              <a:off x="-1011069" y="557905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4682B31-15B4-6979-881D-012C58D79E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029069" y="5399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54D1741-14E1-DF71-A942-9291BD78E780}"/>
                  </a:ext>
                </a:extLst>
              </p14:cNvPr>
              <p14:cNvContentPartPr/>
              <p14:nvPr/>
            </p14:nvContentPartPr>
            <p14:xfrm>
              <a:off x="-1011069" y="557905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54D1741-14E1-DF71-A942-9291BD78E78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029069" y="539905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3F3BE3-A03F-67CD-8FFF-907E359F9580}"/>
              </a:ext>
            </a:extLst>
          </p:cNvPr>
          <p:cNvSpPr/>
          <p:nvPr/>
        </p:nvSpPr>
        <p:spPr>
          <a:xfrm>
            <a:off x="122663" y="3022727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in the mentioned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[‘Sep 2021’ to ‘Oct 2023’]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0B257A-8937-DEA0-0DBE-0AAFD59AD5C4}"/>
              </a:ext>
            </a:extLst>
          </p:cNvPr>
          <p:cNvSpPr/>
          <p:nvPr/>
        </p:nvSpPr>
        <p:spPr>
          <a:xfrm>
            <a:off x="132290" y="3657878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Bill_date_timestamp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Wrong Data Type [Text &amp; Date format]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068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E0F51-B204-AFF9-1887-CBB51CB6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7743F7F-5D3F-4E44-C7F7-18E556A21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32FE2-100F-98CC-21C7-3B57C549E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</a:t>
            </a: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4000" dirty="0"/>
              <a:t>Discrepancies (7/10)</a:t>
            </a:r>
            <a:endParaRPr lang="en-IN" sz="4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623B04-38D4-A675-C430-5719DA053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05B96B-D48E-5C37-A2A1-3C4291E33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00" y="3225764"/>
            <a:ext cx="11138472" cy="648410"/>
          </a:xfrm>
          <a:prstGeom prst="rect">
            <a:avLst/>
          </a:prstGeom>
          <a:ln>
            <a:solidFill>
              <a:schemeClr val="accent1"/>
            </a:solidFill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AA9592-017E-CC5B-AF09-4A6E52D750EB}"/>
              </a:ext>
            </a:extLst>
          </p:cNvPr>
          <p:cNvSpPr txBox="1"/>
          <p:nvPr/>
        </p:nvSpPr>
        <p:spPr>
          <a:xfrm>
            <a:off x="281437" y="1829482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kern="1200" dirty="0" err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ProductsInfo</a:t>
            </a:r>
            <a:r>
              <a:rPr lang="en-US" sz="2000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[</a:t>
            </a:r>
            <a:r>
              <a:rPr lang="en-US" sz="2000" b="1" kern="1200" dirty="0" err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Product_ID</a:t>
            </a:r>
            <a:r>
              <a:rPr lang="en-US" sz="2000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is PK]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C057B2-F10F-4F52-E1FD-790EBA8E7908}"/>
              </a:ext>
            </a:extLst>
          </p:cNvPr>
          <p:cNvSpPr/>
          <p:nvPr/>
        </p:nvSpPr>
        <p:spPr>
          <a:xfrm>
            <a:off x="281437" y="2448136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kern="1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There are #N/A and Blanks in certain columns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7574CC-0314-6F4B-9A6B-1F37F2DF59A5}"/>
              </a:ext>
            </a:extLst>
          </p:cNvPr>
          <p:cNvSpPr txBox="1"/>
          <p:nvPr/>
        </p:nvSpPr>
        <p:spPr>
          <a:xfrm>
            <a:off x="404100" y="4204447"/>
            <a:ext cx="101269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the #N/A with others and leave the blanks because the information is not used</a:t>
            </a:r>
            <a:endParaRPr lang="en-IN" sz="1800" dirty="0"/>
          </a:p>
          <a:p>
            <a:pPr lvl="0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622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701702-2643-98D0-7AE1-115A25654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6AD29BD-3EE4-0ADB-A2CA-D61A7D3BD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BF625E-9699-3D93-A9FA-C90168DAB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</a:t>
            </a: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4000" dirty="0"/>
              <a:t>Discrepancies (8/1)</a:t>
            </a:r>
            <a:endParaRPr lang="en-IN" sz="4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9F6A65-D553-D029-0E80-A64B02DF1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449028-1666-5A09-D37C-E8FA72921FEB}"/>
              </a:ext>
            </a:extLst>
          </p:cNvPr>
          <p:cNvSpPr txBox="1"/>
          <p:nvPr/>
        </p:nvSpPr>
        <p:spPr>
          <a:xfrm>
            <a:off x="325120" y="1690827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Store Info [</a:t>
            </a:r>
            <a:r>
              <a:rPr lang="en-US" sz="2000" b="1" kern="1200" dirty="0" err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Store_ID</a:t>
            </a:r>
            <a:r>
              <a:rPr lang="en-US" sz="2000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is PK]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C33E92-CB4F-4498-D957-AACD5FF35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420" y="3623749"/>
            <a:ext cx="6187186" cy="1238184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3BCB44D-4C18-18F0-A55D-B0350CC24580}"/>
                  </a:ext>
                </a:extLst>
              </p14:cNvPr>
              <p14:cNvContentPartPr/>
              <p14:nvPr/>
            </p14:nvContentPartPr>
            <p14:xfrm>
              <a:off x="2832411" y="3992137"/>
              <a:ext cx="5819196" cy="869796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3BCB44D-4C18-18F0-A55D-B0350CC245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26290" y="3986017"/>
                <a:ext cx="5831438" cy="882037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60732D8-9E97-CE8F-0009-411C50676C82}"/>
              </a:ext>
            </a:extLst>
          </p:cNvPr>
          <p:cNvSpPr/>
          <p:nvPr/>
        </p:nvSpPr>
        <p:spPr>
          <a:xfrm>
            <a:off x="266105" y="2386986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kern="1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Duplicate row is present of </a:t>
            </a:r>
            <a:r>
              <a:rPr lang="en-US" sz="1800" kern="1200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StoreID</a:t>
            </a:r>
            <a:r>
              <a:rPr lang="en-US" sz="1800" kern="1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– ‘ST410’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B692B4-C9FE-C478-98E5-747B77D27585}"/>
              </a:ext>
            </a:extLst>
          </p:cNvPr>
          <p:cNvSpPr txBox="1"/>
          <p:nvPr/>
        </p:nvSpPr>
        <p:spPr>
          <a:xfrm>
            <a:off x="325120" y="5132005"/>
            <a:ext cx="10795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the record which is duplicated</a:t>
            </a:r>
            <a:endParaRPr lang="en-IN" sz="1800" dirty="0"/>
          </a:p>
          <a:p>
            <a:pPr lvl="0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888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24CD4-C17E-C38A-C62A-C764BDB67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3"/>
            <a:ext cx="10268712" cy="1855111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</a:t>
            </a: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4000" dirty="0"/>
              <a:t>Discrepancies (9/10)</a:t>
            </a:r>
            <a:endParaRPr lang="en-IN" sz="4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13C897-902D-1965-A977-894855C47221}"/>
              </a:ext>
            </a:extLst>
          </p:cNvPr>
          <p:cNvSpPr txBox="1"/>
          <p:nvPr/>
        </p:nvSpPr>
        <p:spPr>
          <a:xfrm>
            <a:off x="311064" y="1719239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OrderReview_Ratings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4C695D-DF5B-83C1-CF80-D7E059205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231" y="3172090"/>
            <a:ext cx="4799493" cy="12573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9628433-17EB-717C-FCA8-C313BB5EE6EE}"/>
              </a:ext>
            </a:extLst>
          </p:cNvPr>
          <p:cNvSpPr/>
          <p:nvPr/>
        </p:nvSpPr>
        <p:spPr>
          <a:xfrm>
            <a:off x="0" y="6217178"/>
            <a:ext cx="12192000" cy="6408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0BBC6B3-2A65-AE95-2BC0-1C1967D5DC79}"/>
              </a:ext>
            </a:extLst>
          </p:cNvPr>
          <p:cNvSpPr/>
          <p:nvPr/>
        </p:nvSpPr>
        <p:spPr>
          <a:xfrm>
            <a:off x="286214" y="2489673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are present in 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OrderReview_Ratings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are not present in Orders Table – 778 records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DDF5F8E-98D4-6BB0-DDF7-2280D2A10BAB}"/>
              </a:ext>
            </a:extLst>
          </p:cNvPr>
          <p:cNvSpPr/>
          <p:nvPr/>
        </p:nvSpPr>
        <p:spPr>
          <a:xfrm>
            <a:off x="311064" y="4498186"/>
            <a:ext cx="11924371" cy="721160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/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Same 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multiple </a:t>
            </a:r>
            <a:r>
              <a:rPr lang="en-I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Customer_Satisfaction_Score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This can be solved by taking the aggregate of orders and average of </a:t>
            </a:r>
            <a:r>
              <a:rPr lang="en-I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Customer_Satisfaction_Score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555 records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A close-up of numbers&#10;&#10;AI-generated content may be incorrect.">
            <a:extLst>
              <a:ext uri="{FF2B5EF4-FFF2-40B4-BE49-F238E27FC236}">
                <a16:creationId xmlns:a16="http://schemas.microsoft.com/office/drawing/2014/main" id="{81C4AD62-70D3-9DB8-3E52-9F7ECF4F64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38" y="5510518"/>
            <a:ext cx="5083737" cy="721160"/>
          </a:xfrm>
          <a:prstGeom prst="rect">
            <a:avLst/>
          </a:prstGeom>
        </p:spPr>
      </p:pic>
      <p:pic>
        <p:nvPicPr>
          <p:cNvPr id="17" name="Picture 16" descr="A close-up of a number&#10;&#10;AI-generated content may be incorrect.">
            <a:extLst>
              <a:ext uri="{FF2B5EF4-FFF2-40B4-BE49-F238E27FC236}">
                <a16:creationId xmlns:a16="http://schemas.microsoft.com/office/drawing/2014/main" id="{E47E3B3E-18CB-6361-2810-FA4B5FB611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755" y="5510517"/>
            <a:ext cx="4531175" cy="537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484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AA8EB-0803-EED9-BD5C-5BA3DE5E1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284EEB9-722E-5372-7E32-35DF64DED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079F3-6AD4-1D62-D525-0821D5DC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82537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</a:t>
            </a:r>
            <a:r>
              <a:rPr lang="en-US" sz="40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en-US" sz="4000" dirty="0"/>
              <a:t>Discrepancies (10/10)</a:t>
            </a:r>
            <a:endParaRPr lang="en-IN" sz="4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ADB335-E217-2A4D-720E-9C72F7B46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C60E32-13AD-DDF5-24EB-BEABCEB1E4B8}"/>
              </a:ext>
            </a:extLst>
          </p:cNvPr>
          <p:cNvSpPr txBox="1"/>
          <p:nvPr/>
        </p:nvSpPr>
        <p:spPr>
          <a:xfrm>
            <a:off x="127093" y="1735027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225992-6159-4477-F1FD-0DB629436C68}"/>
              </a:ext>
            </a:extLst>
          </p:cNvPr>
          <p:cNvSpPr/>
          <p:nvPr/>
        </p:nvSpPr>
        <p:spPr>
          <a:xfrm>
            <a:off x="0" y="6217178"/>
            <a:ext cx="12192000" cy="6408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C2213D-EDFD-7C32-B26C-8F0D84B73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446" y="3181451"/>
            <a:ext cx="6094140" cy="1593932"/>
          </a:xfrm>
          <a:prstGeom prst="rect">
            <a:avLst/>
          </a:prstGeom>
          <a:ln>
            <a:solidFill>
              <a:schemeClr val="accent1"/>
            </a:solidFill>
          </a:ln>
          <a:effectLst/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C77CC8-8783-61F8-9BE8-AD7EFB690ED5}"/>
              </a:ext>
            </a:extLst>
          </p:cNvPr>
          <p:cNvSpPr/>
          <p:nvPr/>
        </p:nvSpPr>
        <p:spPr>
          <a:xfrm>
            <a:off x="286214" y="2489673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certain orders the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Payment_Value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0 – 9 records were found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41E1B3-D077-0BBB-CBDB-4B52BD168435}"/>
              </a:ext>
            </a:extLst>
          </p:cNvPr>
          <p:cNvSpPr/>
          <p:nvPr/>
        </p:nvSpPr>
        <p:spPr>
          <a:xfrm>
            <a:off x="286214" y="4944362"/>
            <a:ext cx="11924371" cy="389911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/>
            <a:r>
              <a:rPr lang="en-IN" sz="18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are present in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orderPayments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are not present in orders table – 775 records were found</a:t>
            </a:r>
          </a:p>
          <a:p>
            <a:pPr lvl="0">
              <a:lnSpc>
                <a:spcPct val="10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8F9C7A7-CC84-A535-5263-F0BBBA0688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446" y="5488826"/>
            <a:ext cx="3119554" cy="87551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66296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12708"/>
            <a:ext cx="12192000" cy="2645291"/>
          </a:xfrm>
          <a:prstGeom prst="rect">
            <a:avLst/>
          </a:prstGeom>
          <a:solidFill>
            <a:schemeClr val="tx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0B2C0-4F20-21E1-5B9F-85203090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644" y="4572003"/>
            <a:ext cx="10268712" cy="11691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/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989BE362-26D0-1F29-F977-F38238BF6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54668" y="639575"/>
            <a:ext cx="3082664" cy="308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150998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1682</TotalTime>
  <Words>1355</Words>
  <Application>Microsoft Office PowerPoint</Application>
  <PresentationFormat>Widescreen</PresentationFormat>
  <Paragraphs>196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Arial</vt:lpstr>
      <vt:lpstr>Franklin Gothic Demi Cond</vt:lpstr>
      <vt:lpstr>Franklin Gothic Medium</vt:lpstr>
      <vt:lpstr>Raleway</vt:lpstr>
      <vt:lpstr>Times New Roman</vt:lpstr>
      <vt:lpstr>Wingdings</vt:lpstr>
      <vt:lpstr>JuxtaposeVTI</vt:lpstr>
      <vt:lpstr>RETAIL Store DATA ANALYSIS</vt:lpstr>
      <vt:lpstr>PROBLEM STATEMENT</vt:lpstr>
      <vt:lpstr>OVERVIEW of data</vt:lpstr>
      <vt:lpstr>Data DICTIONARY(1/3)</vt:lpstr>
      <vt:lpstr>Data DICTIONARY(2/3)</vt:lpstr>
      <vt:lpstr>Data DICTIONARY(3/3)</vt:lpstr>
      <vt:lpstr>ENTITY RELATIONSHIP DIAGRAM</vt:lpstr>
      <vt:lpstr>Data Discrepancies (1/10)</vt:lpstr>
      <vt:lpstr>Data Discrepancies (2/10)</vt:lpstr>
      <vt:lpstr>Data Discrepancies (3/10)</vt:lpstr>
      <vt:lpstr>Data Discrepancies (4/10)</vt:lpstr>
      <vt:lpstr>Data Discrepancies (5/10)</vt:lpstr>
      <vt:lpstr>Data Discrepancies (6/10)</vt:lpstr>
      <vt:lpstr>Data Discrepancies (7/10)</vt:lpstr>
      <vt:lpstr>Data Discrepancies (8/1)</vt:lpstr>
      <vt:lpstr>Data Discrepancies (9/10)</vt:lpstr>
      <vt:lpstr>Data Discrepancies (10/10)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76</cp:revision>
  <dcterms:created xsi:type="dcterms:W3CDTF">2025-04-01T11:11:29Z</dcterms:created>
  <dcterms:modified xsi:type="dcterms:W3CDTF">2025-05-10T12:58:03Z</dcterms:modified>
</cp:coreProperties>
</file>